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9144000" cy="5143500" type="screen16x9"/>
  <p:notesSz cx="6858000" cy="9144000"/>
  <p:embeddedFontLst>
    <p:embeddedFont>
      <p:font typeface="EB Garamond" panose="00000500000000000000" pitchFamily="2" charset="0"/>
      <p:regular r:id="rId71"/>
      <p:bold r:id="rId72"/>
      <p:italic r:id="rId73"/>
      <p:boldItalic r:id="rId74"/>
    </p:embeddedFont>
    <p:embeddedFont>
      <p:font typeface="Proxima Nova" panose="020B0604020202020204" charset="0"/>
      <p:regular r:id="rId75"/>
      <p:bold r:id="rId76"/>
      <p:italic r:id="rId77"/>
      <p:boldItalic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2" roundtripDataSignature="AMtx7mg4OPOSpBHmHJKmu2dTI2aOCU0M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customschemas.google.com/relationships/presentationmetadata" Target="meta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c134e9b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f8c134e9b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8c134e9bc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g3f8c134e9bc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0" name="Google Shape;470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7" name="Google Shape;497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7" name="Google Shape;51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a37cb03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0" name="Google Shape;540;g3fa37cb035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2" name="Google Shape;56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9" name="Google Shape;609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4" name="Google Shape;624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fa37cb035d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5" name="Google Shape;635;g3fa37cb035d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3" name="Google Shape;663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8" name="Google Shape;678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fa37cb035d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3" name="Google Shape;683;g3fa37cb035d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fa37cb035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8" name="Google Shape;698;g3fa37cb035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fa37cb035d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0" name="Google Shape;710;g3fa37cb035d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4" name="Google Shape;724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a37cb035d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0" name="Google Shape;730;g3fa37cb035d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7" name="Google Shape;737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fa37cb035d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3" name="Google Shape;743;g3fa37cb035d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0" name="Google Shape;750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9" name="Google Shape;779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5" name="Google Shape;785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0" name="Google Shape;790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fa37cb035d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8" name="Google Shape;798;g3fa37cb035d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fa37cb035d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7" name="Google Shape;807;g3fa37cb035d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8" name="Google Shape;818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4" name="Google Shape;834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4" name="Google Shape;844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1" name="Google Shape;851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8" name="Google Shape;858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8" name="Google Shape;868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9" name="Google Shape;879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60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60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60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" name="Google Shape;14;p60" title="FundoS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71" y="1"/>
            <a:ext cx="913912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2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22;p6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62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" name="Google Shape;24;p62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" name="Google Shape;25;p62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3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9" name="Google Shape;29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oogle Shape;31;p6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64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6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6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8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8" name="Google Shape;48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9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2" name="Google Shape;52;p69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github.com/sysbiolab" TargetMode="External"/><Relationship Id="rId4" Type="http://schemas.openxmlformats.org/officeDocument/2006/relationships/hyperlink" Target="https://github.com/flaviogckessler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tacamp.com/pt/tutorial/r-studio-tutorial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5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doi.org/10.1038/s41588-025-02193-3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10xgenomics.com/support/software/space-ranger/latest/algorithms-overview/gene-expression" TargetMode="External"/><Relationship Id="rId4" Type="http://schemas.openxmlformats.org/officeDocument/2006/relationships/image" Target="../media/image6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hyperlink" Target="https://github.com/flaviogckessler/Curso_ST" TargetMode="External"/><Relationship Id="rId4" Type="http://schemas.openxmlformats.org/officeDocument/2006/relationships/image" Target="../media/image4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flaviogckessler.github.io/Curso_ST/vinhetas/DOC1_Configuracao_do_ambiente_RStudio.html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1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8c134e9bc_0_47"/>
          <p:cNvSpPr txBox="1">
            <a:spLocks noGrp="1"/>
          </p:cNvSpPr>
          <p:nvPr>
            <p:ph type="ctrTitle"/>
          </p:nvPr>
        </p:nvSpPr>
        <p:spPr>
          <a:xfrm>
            <a:off x="519975" y="643075"/>
            <a:ext cx="43200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500" dirty="0"/>
              <a:t>Análise de Dados de </a:t>
            </a:r>
            <a:endParaRPr sz="35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500" dirty="0"/>
              <a:t>Transcriptômica Espacial</a:t>
            </a:r>
            <a:endParaRPr sz="2000" i="1" dirty="0">
              <a:solidFill>
                <a:schemeClr val="lt2"/>
              </a:solidFill>
            </a:endParaRPr>
          </a:p>
        </p:txBody>
      </p:sp>
      <p:sp>
        <p:nvSpPr>
          <p:cNvPr id="61" name="Google Shape;61;g3f8c134e9bc_0_47"/>
          <p:cNvSpPr txBox="1">
            <a:spLocks noGrp="1"/>
          </p:cNvSpPr>
          <p:nvPr>
            <p:ph type="subTitle" idx="1"/>
          </p:nvPr>
        </p:nvSpPr>
        <p:spPr>
          <a:xfrm>
            <a:off x="601618" y="3989475"/>
            <a:ext cx="35379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900"/>
              <a:t>Flávio Gabriel Carazza-Kessler</a:t>
            </a:r>
            <a:endParaRPr sz="190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200"/>
              <a:t>Mestre  em Bioquímica, UFRGS</a:t>
            </a:r>
            <a:endParaRPr sz="120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200"/>
              <a:t>Doutorando em Bioinformática, UFPR</a:t>
            </a:r>
            <a:endParaRPr sz="1200"/>
          </a:p>
        </p:txBody>
      </p:sp>
      <p:pic>
        <p:nvPicPr>
          <p:cNvPr id="62" name="Google Shape;62;g3f8c134e9bc_0_47" title="UFPR_branco_transparen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875" y="4094375"/>
            <a:ext cx="1396599" cy="6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" title="cur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b="1"/>
              <a:t>Análise de Dados de Transcriptômica Espacial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/>
          </a:p>
        </p:txBody>
      </p:sp>
      <p:sp>
        <p:nvSpPr>
          <p:cNvPr id="73" name="Google Shape;73;p2"/>
          <p:cNvSpPr txBox="1">
            <a:spLocks noGrp="1"/>
          </p:cNvSpPr>
          <p:nvPr>
            <p:ph type="body" idx="1"/>
          </p:nvPr>
        </p:nvSpPr>
        <p:spPr>
          <a:xfrm>
            <a:off x="1714500" y="771475"/>
            <a:ext cx="7117800" cy="16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pt-BR" sz="1350">
                <a:solidFill>
                  <a:schemeClr val="dk1"/>
                </a:solidFill>
              </a:rPr>
              <a:t>Apresentar os fundamentos teóricos relacionadas à transcriptômica de alta resolução, com foco em </a:t>
            </a:r>
            <a:r>
              <a:rPr lang="pt-BR" sz="1350" b="1">
                <a:solidFill>
                  <a:schemeClr val="dk1"/>
                </a:solidFill>
              </a:rPr>
              <a:t>transcriptômica espacial</a:t>
            </a:r>
            <a:r>
              <a:rPr lang="pt-BR" sz="1350">
                <a:solidFill>
                  <a:schemeClr val="dk1"/>
                </a:solidFill>
              </a:rPr>
              <a:t> </a:t>
            </a:r>
            <a:endParaRPr sz="1350">
              <a:solidFill>
                <a:schemeClr val="dk1"/>
              </a:solidFill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pt-BR" sz="1350" b="1">
                <a:solidFill>
                  <a:schemeClr val="dk1"/>
                </a:solidFill>
              </a:rPr>
              <a:t>Treinamento prático</a:t>
            </a:r>
            <a:r>
              <a:rPr lang="pt-BR" sz="1350">
                <a:solidFill>
                  <a:schemeClr val="dk1"/>
                </a:solidFill>
              </a:rPr>
              <a:t> com os passos fundamentais para a análise desse tipo de dado.</a:t>
            </a:r>
            <a:endParaRPr sz="1350">
              <a:solidFill>
                <a:schemeClr val="dk1"/>
              </a:solidFill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pt-BR" sz="1350" b="1">
                <a:solidFill>
                  <a:schemeClr val="dk1"/>
                </a:solidFill>
              </a:rPr>
              <a:t>Capacitação para aplicação</a:t>
            </a:r>
            <a:r>
              <a:rPr lang="pt-BR" sz="1350">
                <a:solidFill>
                  <a:schemeClr val="dk1"/>
                </a:solidFill>
              </a:rPr>
              <a:t> desses fundamentos nas áreas da Ciência da Saúde e Biológicas</a:t>
            </a:r>
            <a:endParaRPr sz="13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3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350">
              <a:solidFill>
                <a:schemeClr val="dk1"/>
              </a:solidFill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311700" y="872025"/>
            <a:ext cx="1185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700" b="1" i="0" u="none" strike="noStrike" cap="none">
                <a:solidFill>
                  <a:schemeClr val="dk1"/>
                </a:solidFill>
                <a:highlight>
                  <a:srgbClr val="D9D9D9"/>
                </a:highlight>
                <a:latin typeface="Proxima Nova"/>
                <a:ea typeface="Proxima Nova"/>
                <a:cs typeface="Proxima Nova"/>
                <a:sym typeface="Proxima Nova"/>
              </a:rPr>
              <a:t>Objetivo</a:t>
            </a:r>
            <a:endParaRPr sz="1700" b="1" i="0" u="none" strike="noStrike" cap="none">
              <a:solidFill>
                <a:schemeClr val="dk1"/>
              </a:solidFill>
              <a:highlight>
                <a:srgbClr val="D9D9D9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700" b="1" i="0" u="none" strike="noStrike" cap="none">
              <a:solidFill>
                <a:schemeClr val="dk1"/>
              </a:solidFill>
              <a:highlight>
                <a:srgbClr val="D9D9D9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75" name="Google Shape;75;p2"/>
          <p:cNvGrpSpPr/>
          <p:nvPr/>
        </p:nvGrpSpPr>
        <p:grpSpPr>
          <a:xfrm>
            <a:off x="3874581" y="2069827"/>
            <a:ext cx="2220928" cy="2693120"/>
            <a:chOff x="3071457" y="2013875"/>
            <a:chExt cx="1944600" cy="1569600"/>
          </a:xfrm>
        </p:grpSpPr>
        <p:sp>
          <p:nvSpPr>
            <p:cNvPr id="76" name="Google Shape;76;p2"/>
            <p:cNvSpPr/>
            <p:nvPr/>
          </p:nvSpPr>
          <p:spPr>
            <a:xfrm rot="10800000" flipH="1">
              <a:off x="3071457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rgbClr val="0D5CDF"/>
            </a:solidFill>
            <a:ln>
              <a:noFill/>
            </a:ln>
          </p:spPr>
          <p:txBody>
            <a:bodyPr spcFirstLastPara="1" wrap="square" lIns="104425" tIns="104425" rIns="104425" bIns="104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endParaRPr sz="1599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7" name="Google Shape;77;p2"/>
            <p:cNvSpPr txBox="1"/>
            <p:nvPr/>
          </p:nvSpPr>
          <p:spPr>
            <a:xfrm>
              <a:off x="3316102" y="2094121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4425" tIns="104425" rIns="104425" bIns="104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rPr lang="pt-BR" sz="1256" b="1" i="0" u="none" strike="noStrike" cap="non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Aula 2</a:t>
              </a:r>
              <a:endParaRPr sz="1256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rPr lang="pt-BR" sz="1256" b="1" i="0" u="none" strike="noStrike" cap="non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Pré-processamento + An</a:t>
              </a:r>
              <a:r>
                <a:rPr lang="pt-BR" sz="1256" b="1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álises iniciais</a:t>
              </a:r>
              <a:endParaRPr sz="1256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8" name="Google Shape;78;p2"/>
            <p:cNvSpPr txBox="1"/>
            <p:nvPr/>
          </p:nvSpPr>
          <p:spPr>
            <a:xfrm>
              <a:off x="3314926" y="2554021"/>
              <a:ext cx="14517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4425" tIns="104425" rIns="104425" bIns="104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42"/>
                <a:buFont typeface="Arial"/>
                <a:buNone/>
              </a:pPr>
              <a:r>
                <a:rPr lang="pt-BR" sz="1142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Upload de dados</a:t>
              </a:r>
              <a:endParaRPr sz="114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42"/>
                <a:buFont typeface="Arial"/>
                <a:buNone/>
              </a:pPr>
              <a:endParaRPr sz="114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42"/>
                <a:buFont typeface="Arial"/>
                <a:buNone/>
              </a:pPr>
              <a:r>
                <a:rPr lang="pt-BR" sz="1142" b="0" i="0" u="none" strike="noStrike" cap="non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Etapas de pré-processamento</a:t>
              </a:r>
              <a:r>
                <a:rPr lang="pt-BR" sz="1142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,</a:t>
              </a:r>
              <a:r>
                <a:rPr lang="pt-BR" sz="1142" b="0" i="0" u="none" strike="noStrike" cap="non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clusterização</a:t>
              </a:r>
              <a:endParaRPr sz="114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42"/>
                <a:buFont typeface="Arial"/>
                <a:buNone/>
              </a:pPr>
              <a:endParaRPr sz="114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42"/>
                <a:buFont typeface="Arial"/>
                <a:buNone/>
              </a:pPr>
              <a:r>
                <a:rPr lang="pt-BR" sz="1142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Seurat</a:t>
              </a:r>
              <a:endParaRPr sz="114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79" name="Google Shape;79;p2"/>
          <p:cNvGrpSpPr/>
          <p:nvPr/>
        </p:nvGrpSpPr>
        <p:grpSpPr>
          <a:xfrm>
            <a:off x="1656337" y="2069583"/>
            <a:ext cx="2220928" cy="2693120"/>
            <a:chOff x="1126863" y="2013875"/>
            <a:chExt cx="1944600" cy="1569600"/>
          </a:xfrm>
        </p:grpSpPr>
        <p:sp>
          <p:nvSpPr>
            <p:cNvPr id="80" name="Google Shape;80;p2"/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rgbClr val="307AF3"/>
            </a:solidFill>
            <a:ln>
              <a:noFill/>
            </a:ln>
          </p:spPr>
          <p:txBody>
            <a:bodyPr spcFirstLastPara="1" wrap="square" lIns="104425" tIns="104425" rIns="104425" bIns="104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endParaRPr sz="1599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1" name="Google Shape;81;p2"/>
            <p:cNvSpPr txBox="1"/>
            <p:nvPr/>
          </p:nvSpPr>
          <p:spPr>
            <a:xfrm>
              <a:off x="1351627" y="2094121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4425" tIns="104425" rIns="104425" bIns="104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rPr lang="pt-BR" sz="1256" b="1" i="0" u="none" strike="noStrike" cap="non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Aula 1</a:t>
              </a:r>
              <a:endParaRPr sz="1256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rPr lang="pt-BR" sz="1256" b="1" i="0" u="none" strike="noStrike" cap="non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Introdução à transcriptômica</a:t>
              </a:r>
              <a:r>
                <a:rPr lang="pt-BR" sz="1256" b="1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espacial</a:t>
              </a:r>
              <a:endParaRPr sz="1256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2" name="Google Shape;82;p2"/>
            <p:cNvSpPr txBox="1"/>
            <p:nvPr/>
          </p:nvSpPr>
          <p:spPr>
            <a:xfrm>
              <a:off x="1351638" y="2665625"/>
              <a:ext cx="1451700" cy="8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4425" tIns="104425" rIns="104425" bIns="104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42"/>
                <a:buFont typeface="Arial"/>
                <a:buNone/>
              </a:pPr>
              <a:r>
                <a:rPr lang="pt-BR" sz="1142" b="0" i="0" u="none" strike="noStrike" cap="non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Fundamentos teóricos: metodologias e análise.</a:t>
              </a:r>
              <a:endParaRPr sz="1142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685"/>
                </a:spcBef>
                <a:spcAft>
                  <a:spcPts val="685"/>
                </a:spcAft>
                <a:buClr>
                  <a:srgbClr val="000000"/>
                </a:buClr>
                <a:buSzPts val="1142"/>
                <a:buFont typeface="Arial"/>
                <a:buNone/>
              </a:pPr>
              <a:r>
                <a:rPr lang="pt-BR" sz="1142" b="0" i="0" u="none" strike="noStrike" cap="non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Apresentação ao ambiente das aulas práticas.</a:t>
              </a:r>
              <a:endParaRPr sz="1142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83" name="Google Shape;83;p2"/>
          <p:cNvGrpSpPr/>
          <p:nvPr/>
        </p:nvGrpSpPr>
        <p:grpSpPr>
          <a:xfrm>
            <a:off x="3721044" y="3157631"/>
            <a:ext cx="298753" cy="297392"/>
            <a:chOff x="4858109" y="2631368"/>
            <a:chExt cx="316442" cy="315000"/>
          </a:xfrm>
        </p:grpSpPr>
        <p:sp>
          <p:nvSpPr>
            <p:cNvPr id="84" name="Google Shape;84;p2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04425" tIns="104425" rIns="104425" bIns="104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endParaRPr sz="1599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0D5CDF"/>
            </a:solidFill>
            <a:ln>
              <a:noFill/>
            </a:ln>
          </p:spPr>
          <p:txBody>
            <a:bodyPr spcFirstLastPara="1" wrap="square" lIns="104425" tIns="104425" rIns="104425" bIns="104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br>
                <a:rPr lang="pt-BR" sz="1599" b="0" i="0" u="none" strike="noStrike" cap="non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</a:br>
              <a:endParaRPr sz="1599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86" name="Google Shape;86;p2"/>
          <p:cNvGrpSpPr/>
          <p:nvPr/>
        </p:nvGrpSpPr>
        <p:grpSpPr>
          <a:xfrm>
            <a:off x="6095692" y="2069579"/>
            <a:ext cx="2220888" cy="2693267"/>
            <a:chOff x="5015948" y="2013876"/>
            <a:chExt cx="3001200" cy="1725900"/>
          </a:xfrm>
        </p:grpSpPr>
        <p:sp>
          <p:nvSpPr>
            <p:cNvPr id="87" name="Google Shape;87;p2"/>
            <p:cNvSpPr/>
            <p:nvPr/>
          </p:nvSpPr>
          <p:spPr>
            <a:xfrm>
              <a:off x="5015948" y="2013876"/>
              <a:ext cx="3001200" cy="17259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rgbClr val="0942A1"/>
            </a:solidFill>
            <a:ln>
              <a:noFill/>
            </a:ln>
          </p:spPr>
          <p:txBody>
            <a:bodyPr spcFirstLastPara="1" wrap="square" lIns="104425" tIns="104425" rIns="104425" bIns="104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endParaRPr sz="1599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endParaRPr sz="1599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endParaRPr sz="1599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endParaRPr sz="1599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8" name="Google Shape;88;p2"/>
            <p:cNvSpPr txBox="1"/>
            <p:nvPr/>
          </p:nvSpPr>
          <p:spPr>
            <a:xfrm>
              <a:off x="5360225" y="2105842"/>
              <a:ext cx="23493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4425" tIns="104425" rIns="104425" bIns="104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rPr lang="pt-BR" sz="1256" b="1" i="0" u="none" strike="noStrike" cap="non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Aula 3</a:t>
              </a:r>
              <a:endParaRPr sz="1256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rPr lang="pt-BR" sz="1256" b="1" i="0" u="none" strike="noStrike" cap="non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Análise Downstream</a:t>
              </a:r>
              <a:endParaRPr sz="1256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endParaRPr sz="1256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9" name="Google Shape;89;p2"/>
            <p:cNvSpPr txBox="1"/>
            <p:nvPr/>
          </p:nvSpPr>
          <p:spPr>
            <a:xfrm>
              <a:off x="5360216" y="2565748"/>
              <a:ext cx="2349300" cy="9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4425" tIns="104425" rIns="104425" bIns="104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343"/>
                </a:spcBef>
                <a:spcAft>
                  <a:spcPts val="0"/>
                </a:spcAft>
                <a:buClr>
                  <a:srgbClr val="000000"/>
                </a:buClr>
                <a:buSzPts val="1142"/>
                <a:buFont typeface="Arial"/>
                <a:buNone/>
              </a:pPr>
              <a:r>
                <a:rPr lang="pt-BR" sz="1142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Deconvolução</a:t>
              </a:r>
              <a:endParaRPr sz="114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343"/>
                </a:spcBef>
                <a:spcAft>
                  <a:spcPts val="0"/>
                </a:spcAft>
                <a:buClr>
                  <a:srgbClr val="000000"/>
                </a:buClr>
                <a:buSzPts val="1142"/>
                <a:buFont typeface="Arial"/>
                <a:buNone/>
              </a:pPr>
              <a:endParaRPr sz="114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343"/>
                </a:spcBef>
                <a:spcAft>
                  <a:spcPts val="0"/>
                </a:spcAft>
                <a:buClr>
                  <a:srgbClr val="000000"/>
                </a:buClr>
                <a:buSzPts val="1142"/>
                <a:buFont typeface="Arial"/>
                <a:buNone/>
              </a:pPr>
              <a:r>
                <a:rPr lang="pt-BR" sz="1142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Comunicação celular</a:t>
              </a:r>
              <a:endParaRPr sz="114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343"/>
                </a:spcBef>
                <a:spcAft>
                  <a:spcPts val="0"/>
                </a:spcAft>
                <a:buClr>
                  <a:srgbClr val="000000"/>
                </a:buClr>
                <a:buSzPts val="1142"/>
                <a:buFont typeface="Arial"/>
                <a:buNone/>
              </a:pPr>
              <a:endParaRPr sz="114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343"/>
                </a:spcBef>
                <a:spcAft>
                  <a:spcPts val="0"/>
                </a:spcAft>
                <a:buClr>
                  <a:srgbClr val="000000"/>
                </a:buClr>
                <a:buSzPts val="1142"/>
                <a:buFont typeface="Arial"/>
                <a:buNone/>
              </a:pPr>
              <a:r>
                <a:rPr lang="pt-BR" sz="1142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Visualização dos dados</a:t>
              </a:r>
              <a:endParaRPr sz="114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343"/>
                </a:spcBef>
                <a:spcAft>
                  <a:spcPts val="0"/>
                </a:spcAft>
                <a:buClr>
                  <a:srgbClr val="000000"/>
                </a:buClr>
                <a:buSzPts val="1142"/>
                <a:buFont typeface="Arial"/>
                <a:buNone/>
              </a:pPr>
              <a:endParaRPr sz="114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marR="0" lvl="0" indent="-301124" algn="l" rtl="0">
                <a:lnSpc>
                  <a:spcPct val="115000"/>
                </a:lnSpc>
                <a:spcBef>
                  <a:spcPts val="343"/>
                </a:spcBef>
                <a:spcAft>
                  <a:spcPts val="0"/>
                </a:spcAft>
                <a:buClr>
                  <a:srgbClr val="FFFFFF"/>
                </a:buClr>
                <a:buSzPts val="1142"/>
                <a:buFont typeface="Proxima Nova"/>
                <a:buChar char="+"/>
              </a:pPr>
              <a:r>
                <a:rPr lang="pt-BR" sz="1142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Spin-off</a:t>
              </a:r>
              <a:endParaRPr sz="114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90" name="Google Shape;90;p2"/>
          <p:cNvGrpSpPr/>
          <p:nvPr/>
        </p:nvGrpSpPr>
        <p:grpSpPr>
          <a:xfrm>
            <a:off x="5961127" y="3157631"/>
            <a:ext cx="298753" cy="297392"/>
            <a:chOff x="4858109" y="2631368"/>
            <a:chExt cx="316442" cy="315000"/>
          </a:xfrm>
        </p:grpSpPr>
        <p:sp>
          <p:nvSpPr>
            <p:cNvPr id="91" name="Google Shape;91;p2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04425" tIns="104425" rIns="104425" bIns="104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endParaRPr sz="1599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0D5CDF"/>
            </a:solidFill>
            <a:ln>
              <a:noFill/>
            </a:ln>
          </p:spPr>
          <p:txBody>
            <a:bodyPr spcFirstLastPara="1" wrap="square" lIns="104425" tIns="104425" rIns="104425" bIns="104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br>
                <a:rPr lang="pt-BR" sz="1599" b="0" i="0" u="none" strike="noStrike" cap="non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</a:br>
              <a:endParaRPr sz="1599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265500" y="2425025"/>
            <a:ext cx="39381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pt-BR" sz="3900"/>
              <a:t>Introdução às transcriptômicas de alta resolução</a:t>
            </a:r>
            <a:endParaRPr sz="3900"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2"/>
          </p:nvPr>
        </p:nvSpPr>
        <p:spPr>
          <a:xfrm>
            <a:off x="4838400" y="724200"/>
            <a:ext cx="39381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Apresentações</a:t>
            </a:r>
            <a:endParaRPr/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Fundamentos teóricos</a:t>
            </a:r>
            <a:endParaRPr/>
          </a:p>
          <a:p>
            <a:pPr marL="914400" lvl="1" indent="-31432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pt-BR" sz="1350"/>
              <a:t>Objetivo de transcriptômicas de alta resolução</a:t>
            </a:r>
            <a:endParaRPr sz="1350"/>
          </a:p>
          <a:p>
            <a:pPr marL="914400" lvl="1" indent="-31432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pt-BR" sz="1350"/>
              <a:t>Métodos de transcriptômica de alta resolução</a:t>
            </a:r>
            <a:endParaRPr sz="1350"/>
          </a:p>
          <a:p>
            <a:pPr marL="914400" lvl="1" indent="-31432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pt-BR" sz="1350"/>
              <a:t>Métodos de transcriptômica espacial</a:t>
            </a:r>
            <a:endParaRPr sz="1350"/>
          </a:p>
          <a:p>
            <a:pPr marL="914400" lvl="1" indent="-31432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pt-BR" sz="1350"/>
              <a:t>Estrutura dos dados</a:t>
            </a:r>
            <a:endParaRPr sz="1350"/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Preparação do ambiente para análise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ctrTitle"/>
          </p:nvPr>
        </p:nvSpPr>
        <p:spPr>
          <a:xfrm>
            <a:off x="510450" y="381000"/>
            <a:ext cx="81231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000"/>
              <a:t>Apresentação</a:t>
            </a:r>
            <a:endParaRPr sz="5000" i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3000" b="1"/>
              <a:t>Instrutor</a:t>
            </a:r>
            <a:endParaRPr sz="3000" b="1"/>
          </a:p>
        </p:txBody>
      </p:sp>
      <p:pic>
        <p:nvPicPr>
          <p:cNvPr id="109" name="Google Shape;10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2450" y="860476"/>
            <a:ext cx="1114500" cy="125489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 txBox="1"/>
          <p:nvPr/>
        </p:nvSpPr>
        <p:spPr>
          <a:xfrm>
            <a:off x="3741975" y="860475"/>
            <a:ext cx="4558500" cy="12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Doutorando em Bioinformática na UFPR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Mestre em Bioquímica </a:t>
            </a:r>
            <a:r>
              <a:rPr lang="pt-BR" sz="1300">
                <a:solidFill>
                  <a:schemeClr val="dk1"/>
                </a:solidFill>
              </a:rPr>
              <a:t>pela </a:t>
            </a:r>
            <a:r>
              <a:rPr lang="pt-BR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UFRGS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Bacharel em Biotecnologia pela UFRGS (Bioinformática)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2512450" y="2571750"/>
            <a:ext cx="57879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b="1">
                <a:solidFill>
                  <a:schemeClr val="dk1"/>
                </a:solidFill>
              </a:rPr>
              <a:t>Recentemente, tenho atuado</a:t>
            </a:r>
            <a:r>
              <a:rPr lang="pt-BR" b="1" i="0" u="none" strike="noStrike" cap="none">
                <a:solidFill>
                  <a:schemeClr val="dk1"/>
                </a:solidFill>
              </a:rPr>
              <a:t> no desenvolvimento de ferramentas de análise de dados de transcriptômica espacial. Associado ao grupo SysbioLab, PPG Bioinfo UFPR.</a:t>
            </a:r>
            <a:endParaRPr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1133097" y="4331177"/>
            <a:ext cx="687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github.com/flaviogckessler</a:t>
            </a:r>
            <a:r>
              <a:rPr lang="pt-BR"/>
              <a:t>	</a:t>
            </a:r>
            <a:r>
              <a:rPr lang="pt-BR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github.com/sysbiolab</a:t>
            </a:r>
            <a:r>
              <a:rPr lang="pt-BR">
                <a:solidFill>
                  <a:schemeClr val="dk1"/>
                </a:solidFill>
              </a:rPr>
              <a:t>	flaviogckessler@gmail.com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6">
            <a:alphaModFix/>
          </a:blip>
          <a:srcRect r="73206" b="14698"/>
          <a:stretch/>
        </p:blipFill>
        <p:spPr>
          <a:xfrm>
            <a:off x="311700" y="860475"/>
            <a:ext cx="1883450" cy="28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 title="github_icon_128p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725" y="4191099"/>
            <a:ext cx="680375" cy="68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3000" b="1"/>
              <a:t>Participantes</a:t>
            </a:r>
            <a:endParaRPr sz="3000" b="1"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 l="475" t="10294" r="603" b="1195"/>
          <a:stretch/>
        </p:blipFill>
        <p:spPr>
          <a:xfrm>
            <a:off x="1098725" y="1009200"/>
            <a:ext cx="6946550" cy="363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 txBox="1"/>
          <p:nvPr/>
        </p:nvSpPr>
        <p:spPr>
          <a:xfrm>
            <a:off x="2292750" y="4520800"/>
            <a:ext cx="455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300">
                <a:solidFill>
                  <a:schemeClr val="dk1"/>
                </a:solidFill>
              </a:rPr>
              <a:t>curso semelhante anterior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3000" b="1"/>
              <a:t>Participantes</a:t>
            </a:r>
            <a:endParaRPr sz="3000" b="1"/>
          </a:p>
        </p:txBody>
      </p:sp>
      <p:pic>
        <p:nvPicPr>
          <p:cNvPr id="127" name="Google Shape;12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125" y="1687288"/>
            <a:ext cx="4805576" cy="176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6875" y="1226684"/>
            <a:ext cx="2690125" cy="269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3000" b="1"/>
              <a:t>Ambiente do curso</a:t>
            </a:r>
            <a:endParaRPr sz="3000" b="1"/>
          </a:p>
        </p:txBody>
      </p:sp>
      <p:sp>
        <p:nvSpPr>
          <p:cNvPr id="134" name="Google Shape;134;p8"/>
          <p:cNvSpPr txBox="1">
            <a:spLocks noGrp="1"/>
          </p:cNvSpPr>
          <p:nvPr>
            <p:ph type="body" idx="1"/>
          </p:nvPr>
        </p:nvSpPr>
        <p:spPr>
          <a:xfrm>
            <a:off x="767388" y="787725"/>
            <a:ext cx="37509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Atividades práticas: </a:t>
            </a:r>
            <a:r>
              <a:rPr lang="pt-BR" sz="1400" b="1">
                <a:solidFill>
                  <a:schemeClr val="dk1"/>
                </a:solidFill>
              </a:rPr>
              <a:t>Google Classroom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200" y="1207791"/>
            <a:ext cx="800050" cy="638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2525" y="1207800"/>
            <a:ext cx="1820637" cy="6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2675" y="2539754"/>
            <a:ext cx="6003950" cy="18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5150950" y="2124350"/>
            <a:ext cx="30366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sng" strike="noStrike" cap="none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Tutorial do RStudio para iniciantes: Um guia completo | DataCamp</a:t>
            </a:r>
            <a:endParaRPr sz="14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ctrTitle"/>
          </p:nvPr>
        </p:nvSpPr>
        <p:spPr>
          <a:xfrm>
            <a:off x="510450" y="576957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000"/>
              <a:t>Fundamentos </a:t>
            </a:r>
            <a:endParaRPr sz="5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000"/>
              <a:t>teóricos</a:t>
            </a:r>
            <a:endParaRPr sz="5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71802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4200"/>
              <a:t>Objetivo de transcriptômicas de alta resolução</a:t>
            </a:r>
            <a:endParaRPr sz="4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2699988">
            <a:off x="508735" y="936610"/>
            <a:ext cx="1229580" cy="175830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68880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900" b="1"/>
              <a:t>Amostras biológicas têm diferentes níveis de complexidade</a:t>
            </a:r>
            <a:endParaRPr sz="2700" b="1"/>
          </a:p>
        </p:txBody>
      </p:sp>
      <p:pic>
        <p:nvPicPr>
          <p:cNvPr id="155" name="Google Shape;155;p11"/>
          <p:cNvPicPr preferRelativeResize="0"/>
          <p:nvPr/>
        </p:nvPicPr>
        <p:blipFill rotWithShape="1">
          <a:blip r:embed="rId4">
            <a:alphaModFix/>
          </a:blip>
          <a:srcRect l="2931"/>
          <a:stretch/>
        </p:blipFill>
        <p:spPr>
          <a:xfrm>
            <a:off x="863900" y="2726800"/>
            <a:ext cx="2897775" cy="203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28075" y="1015306"/>
            <a:ext cx="3235050" cy="1600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1"/>
          <p:cNvPicPr preferRelativeResize="0"/>
          <p:nvPr/>
        </p:nvPicPr>
        <p:blipFill rotWithShape="1">
          <a:blip r:embed="rId6">
            <a:alphaModFix/>
          </a:blip>
          <a:srcRect b="21328"/>
          <a:stretch/>
        </p:blipFill>
        <p:spPr>
          <a:xfrm>
            <a:off x="5108800" y="3073563"/>
            <a:ext cx="2034975" cy="1600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11"/>
          <p:cNvCxnSpPr/>
          <p:nvPr/>
        </p:nvCxnSpPr>
        <p:spPr>
          <a:xfrm rot="10800000" flipH="1">
            <a:off x="3625025" y="4669550"/>
            <a:ext cx="360000" cy="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159" name="Google Shape;159;p11"/>
          <p:cNvCxnSpPr/>
          <p:nvPr/>
        </p:nvCxnSpPr>
        <p:spPr>
          <a:xfrm>
            <a:off x="6789885" y="1075875"/>
            <a:ext cx="219900" cy="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160" name="Google Shape;160;p11"/>
          <p:cNvCxnSpPr/>
          <p:nvPr/>
        </p:nvCxnSpPr>
        <p:spPr>
          <a:xfrm>
            <a:off x="7252685" y="4650063"/>
            <a:ext cx="723600" cy="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diamond" w="med" len="med"/>
            <a:tailEnd type="diamond" w="med" len="med"/>
          </a:ln>
        </p:spPr>
      </p:cxnSp>
      <p:pic>
        <p:nvPicPr>
          <p:cNvPr id="161" name="Google Shape;161;p11"/>
          <p:cNvPicPr preferRelativeResize="0"/>
          <p:nvPr/>
        </p:nvPicPr>
        <p:blipFill rotWithShape="1">
          <a:blip r:embed="rId7">
            <a:alphaModFix/>
          </a:blip>
          <a:srcRect l="46324" t="3175" r="32243" b="46581"/>
          <a:stretch/>
        </p:blipFill>
        <p:spPr>
          <a:xfrm>
            <a:off x="7067575" y="1261002"/>
            <a:ext cx="1770600" cy="17706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162" name="Google Shape;162;p11"/>
          <p:cNvCxnSpPr/>
          <p:nvPr/>
        </p:nvCxnSpPr>
        <p:spPr>
          <a:xfrm>
            <a:off x="8458060" y="1309900"/>
            <a:ext cx="327600" cy="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163" name="Google Shape;163;p11"/>
          <p:cNvCxnSpPr/>
          <p:nvPr/>
        </p:nvCxnSpPr>
        <p:spPr>
          <a:xfrm rot="10800000" flipH="1">
            <a:off x="1599200" y="2491950"/>
            <a:ext cx="270000" cy="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164" name="Google Shape;164;p11"/>
          <p:cNvSpPr txBox="1"/>
          <p:nvPr/>
        </p:nvSpPr>
        <p:spPr>
          <a:xfrm>
            <a:off x="6429125" y="647475"/>
            <a:ext cx="9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100µm</a:t>
            </a:r>
            <a:endParaRPr sz="16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7143775" y="4243400"/>
            <a:ext cx="9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100µm</a:t>
            </a:r>
            <a:endParaRPr sz="16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8126400" y="862900"/>
            <a:ext cx="9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10µm</a:t>
            </a:r>
            <a:endParaRPr sz="16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3310475" y="4242050"/>
            <a:ext cx="9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1mm</a:t>
            </a:r>
            <a:endParaRPr sz="16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1179950" y="2064450"/>
            <a:ext cx="1108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2mm</a:t>
            </a:r>
            <a:endParaRPr sz="16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9" name="Google Shape;169;p11"/>
          <p:cNvSpPr/>
          <p:nvPr/>
        </p:nvSpPr>
        <p:spPr>
          <a:xfrm rot="-435347">
            <a:off x="1869197" y="1791234"/>
            <a:ext cx="674780" cy="935582"/>
          </a:xfrm>
          <a:custGeom>
            <a:avLst/>
            <a:gdLst/>
            <a:ahLst/>
            <a:cxnLst/>
            <a:rect l="l" t="t" r="r" b="b"/>
            <a:pathLst>
              <a:path w="26991" h="37423" extrusionOk="0">
                <a:moveTo>
                  <a:pt x="0" y="211"/>
                </a:moveTo>
                <a:cubicBezTo>
                  <a:pt x="8811" y="211"/>
                  <a:pt x="22117" y="-1639"/>
                  <a:pt x="25695" y="6413"/>
                </a:cubicBezTo>
                <a:cubicBezTo>
                  <a:pt x="29921" y="15921"/>
                  <a:pt x="22151" y="27020"/>
                  <a:pt x="22151" y="37424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4625991" y="2750300"/>
            <a:ext cx="324775" cy="1118625"/>
          </a:xfrm>
          <a:custGeom>
            <a:avLst/>
            <a:gdLst/>
            <a:ahLst/>
            <a:cxnLst/>
            <a:rect l="l" t="t" r="r" b="b"/>
            <a:pathLst>
              <a:path w="12991" h="44745" extrusionOk="0">
                <a:moveTo>
                  <a:pt x="5903" y="0"/>
                </a:moveTo>
                <a:cubicBezTo>
                  <a:pt x="8751" y="9970"/>
                  <a:pt x="1083" y="20242"/>
                  <a:pt x="144" y="30568"/>
                </a:cubicBezTo>
                <a:cubicBezTo>
                  <a:pt x="-433" y="36919"/>
                  <a:pt x="6614" y="44745"/>
                  <a:pt x="12991" y="44745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3810000" y="2739225"/>
            <a:ext cx="487800" cy="603850"/>
          </a:xfrm>
          <a:custGeom>
            <a:avLst/>
            <a:gdLst/>
            <a:ahLst/>
            <a:cxnLst/>
            <a:rect l="l" t="t" r="r" b="b"/>
            <a:pathLst>
              <a:path w="19512" h="24154" extrusionOk="0">
                <a:moveTo>
                  <a:pt x="0" y="23923"/>
                </a:moveTo>
                <a:cubicBezTo>
                  <a:pt x="5783" y="24749"/>
                  <a:pt x="13296" y="22675"/>
                  <a:pt x="16392" y="17720"/>
                </a:cubicBezTo>
                <a:cubicBezTo>
                  <a:pt x="19569" y="12635"/>
                  <a:pt x="19493" y="5996"/>
                  <a:pt x="19493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"/>
          <p:cNvSpPr/>
          <p:nvPr/>
        </p:nvSpPr>
        <p:spPr>
          <a:xfrm rot="214644">
            <a:off x="7323016" y="3153882"/>
            <a:ext cx="573903" cy="697809"/>
          </a:xfrm>
          <a:custGeom>
            <a:avLst/>
            <a:gdLst/>
            <a:ahLst/>
            <a:cxnLst/>
            <a:rect l="l" t="t" r="r" b="b"/>
            <a:pathLst>
              <a:path w="22955" h="27911" extrusionOk="0">
                <a:moveTo>
                  <a:pt x="21708" y="0"/>
                </a:moveTo>
                <a:cubicBezTo>
                  <a:pt x="21708" y="6800"/>
                  <a:pt x="24900" y="14939"/>
                  <a:pt x="20822" y="20380"/>
                </a:cubicBezTo>
                <a:cubicBezTo>
                  <a:pt x="16395" y="26286"/>
                  <a:pt x="7381" y="27911"/>
                  <a:pt x="0" y="27911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900" b="1"/>
              <a:t>Lisados celulares mascaram essa complexidade</a:t>
            </a:r>
            <a:endParaRPr sz="2700" b="1"/>
          </a:p>
        </p:txBody>
      </p:sp>
      <p:pic>
        <p:nvPicPr>
          <p:cNvPr id="178" name="Google Shape;17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9700" y="1901725"/>
            <a:ext cx="3991775" cy="160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6524025" y="1874862"/>
            <a:ext cx="1601075" cy="165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70000" y="442648"/>
            <a:ext cx="1525250" cy="143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83975" y="3448350"/>
            <a:ext cx="1377925" cy="143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2"/>
          <p:cNvSpPr txBox="1"/>
          <p:nvPr/>
        </p:nvSpPr>
        <p:spPr>
          <a:xfrm>
            <a:off x="437825" y="1112325"/>
            <a:ext cx="1377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Amostra complexa</a:t>
            </a:r>
            <a:endParaRPr sz="16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2927175" y="1358325"/>
            <a:ext cx="1815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Heterogeneidade</a:t>
            </a:r>
            <a:endParaRPr sz="16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2161075" y="2433878"/>
            <a:ext cx="874975" cy="360700"/>
          </a:xfrm>
          <a:custGeom>
            <a:avLst/>
            <a:gdLst/>
            <a:ahLst/>
            <a:cxnLst/>
            <a:rect l="l" t="t" r="r" b="b"/>
            <a:pathLst>
              <a:path w="34999" h="14428" extrusionOk="0">
                <a:moveTo>
                  <a:pt x="0" y="6011"/>
                </a:moveTo>
                <a:cubicBezTo>
                  <a:pt x="3251" y="1677"/>
                  <a:pt x="10997" y="-1866"/>
                  <a:pt x="15506" y="1138"/>
                </a:cubicBezTo>
                <a:cubicBezTo>
                  <a:pt x="22051" y="5498"/>
                  <a:pt x="27135" y="14429"/>
                  <a:pt x="34999" y="14429"/>
                </a:cubicBez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4810800" y="2493199"/>
            <a:ext cx="1528425" cy="322225"/>
          </a:xfrm>
          <a:custGeom>
            <a:avLst/>
            <a:gdLst/>
            <a:ahLst/>
            <a:cxnLst/>
            <a:rect l="l" t="t" r="r" b="b"/>
            <a:pathLst>
              <a:path w="61137" h="12889" extrusionOk="0">
                <a:moveTo>
                  <a:pt x="0" y="12889"/>
                </a:moveTo>
                <a:cubicBezTo>
                  <a:pt x="10065" y="12889"/>
                  <a:pt x="18146" y="3811"/>
                  <a:pt x="27910" y="1370"/>
                </a:cubicBezTo>
                <a:cubicBezTo>
                  <a:pt x="38656" y="-1316"/>
                  <a:pt x="50060" y="927"/>
                  <a:pt x="61137" y="927"/>
                </a:cubicBez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4810800" y="1618225"/>
            <a:ext cx="859225" cy="874975"/>
          </a:xfrm>
          <a:custGeom>
            <a:avLst/>
            <a:gdLst/>
            <a:ahLst/>
            <a:cxnLst/>
            <a:rect l="l" t="t" r="r" b="b"/>
            <a:pathLst>
              <a:path w="31897" h="34999" extrusionOk="0">
                <a:moveTo>
                  <a:pt x="31897" y="0"/>
                </a:moveTo>
                <a:cubicBezTo>
                  <a:pt x="23294" y="0"/>
                  <a:pt x="20667" y="13053"/>
                  <a:pt x="15505" y="19936"/>
                </a:cubicBezTo>
                <a:cubicBezTo>
                  <a:pt x="11182" y="25701"/>
                  <a:pt x="6445" y="31777"/>
                  <a:pt x="0" y="34999"/>
                </a:cubicBez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4820525" y="3158750"/>
            <a:ext cx="731000" cy="1063250"/>
          </a:xfrm>
          <a:custGeom>
            <a:avLst/>
            <a:gdLst/>
            <a:ahLst/>
            <a:cxnLst/>
            <a:rect l="l" t="t" r="r" b="b"/>
            <a:pathLst>
              <a:path w="29240" h="42530" extrusionOk="0">
                <a:moveTo>
                  <a:pt x="0" y="0"/>
                </a:moveTo>
                <a:cubicBezTo>
                  <a:pt x="7219" y="7215"/>
                  <a:pt x="12365" y="16582"/>
                  <a:pt x="15949" y="26139"/>
                </a:cubicBezTo>
                <a:cubicBezTo>
                  <a:pt x="18419" y="32725"/>
                  <a:pt x="22206" y="42530"/>
                  <a:pt x="29240" y="42530"/>
                </a:cubicBez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2"/>
          <p:cNvSpPr txBox="1"/>
          <p:nvPr/>
        </p:nvSpPr>
        <p:spPr>
          <a:xfrm>
            <a:off x="5361175" y="2569388"/>
            <a:ext cx="133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Lisado</a:t>
            </a:r>
            <a:endParaRPr sz="16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7006525" y="184625"/>
            <a:ext cx="1815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Manutenção de informações célula-específicas</a:t>
            </a:r>
            <a:endParaRPr sz="16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6985700" y="3883625"/>
            <a:ext cx="1815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Manutenção de informações local-específicas</a:t>
            </a:r>
            <a:endParaRPr sz="16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900" b="1"/>
              <a:t>Essa complexidade tem relevância clínica</a:t>
            </a:r>
            <a:endParaRPr sz="2700"/>
          </a:p>
        </p:txBody>
      </p:sp>
      <p:pic>
        <p:nvPicPr>
          <p:cNvPr id="196" name="Google Shape;196;p13"/>
          <p:cNvPicPr preferRelativeResize="0"/>
          <p:nvPr/>
        </p:nvPicPr>
        <p:blipFill rotWithShape="1">
          <a:blip r:embed="rId3">
            <a:alphaModFix/>
          </a:blip>
          <a:srcRect b="52676"/>
          <a:stretch/>
        </p:blipFill>
        <p:spPr>
          <a:xfrm>
            <a:off x="311702" y="900350"/>
            <a:ext cx="4348899" cy="122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700" y="2296546"/>
            <a:ext cx="4348898" cy="2368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3"/>
          <p:cNvPicPr preferRelativeResize="0"/>
          <p:nvPr/>
        </p:nvPicPr>
        <p:blipFill rotWithShape="1">
          <a:blip r:embed="rId5">
            <a:alphaModFix/>
          </a:blip>
          <a:srcRect l="14557" r="14050"/>
          <a:stretch/>
        </p:blipFill>
        <p:spPr>
          <a:xfrm>
            <a:off x="4815250" y="840572"/>
            <a:ext cx="3271925" cy="3765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3"/>
          <p:cNvPicPr preferRelativeResize="0"/>
          <p:nvPr/>
        </p:nvPicPr>
        <p:blipFill rotWithShape="1">
          <a:blip r:embed="rId6">
            <a:alphaModFix/>
          </a:blip>
          <a:srcRect l="61614" r="2744" b="68654"/>
          <a:stretch/>
        </p:blipFill>
        <p:spPr>
          <a:xfrm>
            <a:off x="5466200" y="2770075"/>
            <a:ext cx="2962811" cy="195769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9700" y="1901725"/>
            <a:ext cx="3991775" cy="160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6524025" y="1874862"/>
            <a:ext cx="1601075" cy="165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70000" y="442648"/>
            <a:ext cx="1525250" cy="143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83975" y="3448350"/>
            <a:ext cx="1377925" cy="143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4"/>
          <p:cNvSpPr txBox="1"/>
          <p:nvPr/>
        </p:nvSpPr>
        <p:spPr>
          <a:xfrm>
            <a:off x="437825" y="1112325"/>
            <a:ext cx="1377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Amostra complexa</a:t>
            </a:r>
            <a:endParaRPr sz="16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9" name="Google Shape;209;p14"/>
          <p:cNvSpPr txBox="1"/>
          <p:nvPr/>
        </p:nvSpPr>
        <p:spPr>
          <a:xfrm>
            <a:off x="2927175" y="1358325"/>
            <a:ext cx="1815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Heterogeneidade</a:t>
            </a:r>
            <a:endParaRPr sz="16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2161075" y="2433878"/>
            <a:ext cx="874975" cy="360700"/>
          </a:xfrm>
          <a:custGeom>
            <a:avLst/>
            <a:gdLst/>
            <a:ahLst/>
            <a:cxnLst/>
            <a:rect l="l" t="t" r="r" b="b"/>
            <a:pathLst>
              <a:path w="34999" h="14428" extrusionOk="0">
                <a:moveTo>
                  <a:pt x="0" y="6011"/>
                </a:moveTo>
                <a:cubicBezTo>
                  <a:pt x="3251" y="1677"/>
                  <a:pt x="10997" y="-1866"/>
                  <a:pt x="15506" y="1138"/>
                </a:cubicBezTo>
                <a:cubicBezTo>
                  <a:pt x="22051" y="5498"/>
                  <a:pt x="27135" y="14429"/>
                  <a:pt x="34999" y="14429"/>
                </a:cubicBez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4"/>
          <p:cNvSpPr/>
          <p:nvPr/>
        </p:nvSpPr>
        <p:spPr>
          <a:xfrm>
            <a:off x="4810800" y="2493199"/>
            <a:ext cx="1528425" cy="322225"/>
          </a:xfrm>
          <a:custGeom>
            <a:avLst/>
            <a:gdLst/>
            <a:ahLst/>
            <a:cxnLst/>
            <a:rect l="l" t="t" r="r" b="b"/>
            <a:pathLst>
              <a:path w="61137" h="12889" extrusionOk="0">
                <a:moveTo>
                  <a:pt x="0" y="12889"/>
                </a:moveTo>
                <a:cubicBezTo>
                  <a:pt x="10065" y="12889"/>
                  <a:pt x="18146" y="3811"/>
                  <a:pt x="27910" y="1370"/>
                </a:cubicBezTo>
                <a:cubicBezTo>
                  <a:pt x="38656" y="-1316"/>
                  <a:pt x="50060" y="927"/>
                  <a:pt x="61137" y="927"/>
                </a:cubicBez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4810800" y="1618225"/>
            <a:ext cx="859225" cy="874975"/>
          </a:xfrm>
          <a:custGeom>
            <a:avLst/>
            <a:gdLst/>
            <a:ahLst/>
            <a:cxnLst/>
            <a:rect l="l" t="t" r="r" b="b"/>
            <a:pathLst>
              <a:path w="31897" h="34999" extrusionOk="0">
                <a:moveTo>
                  <a:pt x="31897" y="0"/>
                </a:moveTo>
                <a:cubicBezTo>
                  <a:pt x="23294" y="0"/>
                  <a:pt x="20667" y="13053"/>
                  <a:pt x="15505" y="19936"/>
                </a:cubicBezTo>
                <a:cubicBezTo>
                  <a:pt x="11182" y="25701"/>
                  <a:pt x="6445" y="31777"/>
                  <a:pt x="0" y="34999"/>
                </a:cubicBez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4820525" y="3158750"/>
            <a:ext cx="731000" cy="1063250"/>
          </a:xfrm>
          <a:custGeom>
            <a:avLst/>
            <a:gdLst/>
            <a:ahLst/>
            <a:cxnLst/>
            <a:rect l="l" t="t" r="r" b="b"/>
            <a:pathLst>
              <a:path w="29240" h="42530" extrusionOk="0">
                <a:moveTo>
                  <a:pt x="0" y="0"/>
                </a:moveTo>
                <a:cubicBezTo>
                  <a:pt x="7219" y="7215"/>
                  <a:pt x="12365" y="16582"/>
                  <a:pt x="15949" y="26139"/>
                </a:cubicBezTo>
                <a:cubicBezTo>
                  <a:pt x="18419" y="32725"/>
                  <a:pt x="22206" y="42530"/>
                  <a:pt x="29240" y="42530"/>
                </a:cubicBez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5361175" y="2569388"/>
            <a:ext cx="133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Lisado</a:t>
            </a:r>
            <a:endParaRPr sz="16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7006525" y="184625"/>
            <a:ext cx="1815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Manutenção de informações célula-específicas</a:t>
            </a:r>
            <a:endParaRPr sz="16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6985700" y="3883625"/>
            <a:ext cx="1815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Manutenção de informações local-específicas</a:t>
            </a:r>
            <a:endParaRPr sz="16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315175" y="2794575"/>
            <a:ext cx="16554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Bulk RNA-seq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4667050" y="4235975"/>
            <a:ext cx="1815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Transcriptômica espacial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4820525" y="442650"/>
            <a:ext cx="19743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RNA-seq de células individuais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0" name="Google Shape;220;p14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900" b="1"/>
              <a:t>Transcriptômicas de alta resolução</a:t>
            </a:r>
            <a:endParaRPr sz="19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600"/>
              <a:t>vs. RNA-seq clássico (</a:t>
            </a:r>
            <a:r>
              <a:rPr lang="pt-BR" sz="1600" i="1"/>
              <a:t>bulk</a:t>
            </a:r>
            <a:r>
              <a:rPr lang="pt-BR" sz="1600"/>
              <a:t>)</a:t>
            </a: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" name="Google Shape;225;p15"/>
          <p:cNvCxnSpPr/>
          <p:nvPr/>
        </p:nvCxnSpPr>
        <p:spPr>
          <a:xfrm rot="10800000" flipH="1">
            <a:off x="2157025" y="3893375"/>
            <a:ext cx="6041100" cy="108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26" name="Google Shape;226;p15"/>
          <p:cNvCxnSpPr>
            <a:stCxn id="227" idx="1"/>
          </p:cNvCxnSpPr>
          <p:nvPr/>
        </p:nvCxnSpPr>
        <p:spPr>
          <a:xfrm rot="10800000" flipH="1">
            <a:off x="2157025" y="1956300"/>
            <a:ext cx="6041100" cy="108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28" name="Google Shape;228;p1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Transcriptômica com Sequenciamento de Nova Geração (NGS)</a:t>
            </a:r>
            <a:endParaRPr/>
          </a:p>
        </p:txBody>
      </p:sp>
      <p:grpSp>
        <p:nvGrpSpPr>
          <p:cNvPr id="229" name="Google Shape;229;p15"/>
          <p:cNvGrpSpPr/>
          <p:nvPr/>
        </p:nvGrpSpPr>
        <p:grpSpPr>
          <a:xfrm>
            <a:off x="-46701" y="1595125"/>
            <a:ext cx="6240226" cy="731700"/>
            <a:chOff x="710674" y="1323175"/>
            <a:chExt cx="6240226" cy="731700"/>
          </a:xfrm>
        </p:grpSpPr>
        <p:sp>
          <p:nvSpPr>
            <p:cNvPr id="230" name="Google Shape;230;p15"/>
            <p:cNvSpPr txBox="1"/>
            <p:nvPr/>
          </p:nvSpPr>
          <p:spPr>
            <a:xfrm>
              <a:off x="710674" y="1373350"/>
              <a:ext cx="2004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Preparo de biblioteca</a:t>
              </a:r>
              <a:endPara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789777" y="1323175"/>
              <a:ext cx="4161000" cy="731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27" name="Google Shape;227;p15"/>
            <p:cNvSpPr txBox="1"/>
            <p:nvPr/>
          </p:nvSpPr>
          <p:spPr>
            <a:xfrm>
              <a:off x="2914400" y="1407450"/>
              <a:ext cx="4036500" cy="5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Síntese de cDNA, fragmentação, adição de adaptadores</a:t>
              </a:r>
              <a:endParaRPr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32" name="Google Shape;232;p15"/>
          <p:cNvGrpSpPr/>
          <p:nvPr/>
        </p:nvGrpSpPr>
        <p:grpSpPr>
          <a:xfrm>
            <a:off x="-757368" y="2479475"/>
            <a:ext cx="6667670" cy="731700"/>
            <a:chOff x="7" y="2207525"/>
            <a:chExt cx="6667670" cy="731700"/>
          </a:xfrm>
        </p:grpSpPr>
        <p:sp>
          <p:nvSpPr>
            <p:cNvPr id="233" name="Google Shape;233;p15"/>
            <p:cNvSpPr txBox="1"/>
            <p:nvPr/>
          </p:nvSpPr>
          <p:spPr>
            <a:xfrm>
              <a:off x="7" y="2257725"/>
              <a:ext cx="2715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Sequenciamento</a:t>
              </a:r>
              <a:endPara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2789777" y="2207525"/>
              <a:ext cx="3877800" cy="731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35" name="Google Shape;235;p15"/>
            <p:cNvSpPr txBox="1"/>
            <p:nvPr/>
          </p:nvSpPr>
          <p:spPr>
            <a:xfrm>
              <a:off x="2914377" y="2414100"/>
              <a:ext cx="37533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Amplificação e sequenciamento em si</a:t>
              </a:r>
              <a:endParaRPr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36" name="Google Shape;236;p15"/>
          <p:cNvGrpSpPr/>
          <p:nvPr/>
        </p:nvGrpSpPr>
        <p:grpSpPr>
          <a:xfrm>
            <a:off x="-2270" y="3360575"/>
            <a:ext cx="5603594" cy="1016400"/>
            <a:chOff x="755105" y="3088625"/>
            <a:chExt cx="5603594" cy="1016400"/>
          </a:xfrm>
        </p:grpSpPr>
        <p:sp>
          <p:nvSpPr>
            <p:cNvPr id="237" name="Google Shape;237;p15"/>
            <p:cNvSpPr txBox="1"/>
            <p:nvPr/>
          </p:nvSpPr>
          <p:spPr>
            <a:xfrm>
              <a:off x="755105" y="3291225"/>
              <a:ext cx="19599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Análise</a:t>
              </a:r>
              <a:endPara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2789775" y="3088625"/>
              <a:ext cx="3568800" cy="1016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39" name="Google Shape;239;p15"/>
            <p:cNvSpPr txBox="1"/>
            <p:nvPr/>
          </p:nvSpPr>
          <p:spPr>
            <a:xfrm>
              <a:off x="2914399" y="3447575"/>
              <a:ext cx="34443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Controle de qualidade, alinhamento, quantificação, normalização e expressão diferencial</a:t>
              </a:r>
              <a:endParaRPr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40" name="Google Shape;240;p15"/>
          <p:cNvSpPr txBox="1">
            <a:spLocks noGrp="1"/>
          </p:cNvSpPr>
          <p:nvPr>
            <p:ph type="body" idx="1"/>
          </p:nvPr>
        </p:nvSpPr>
        <p:spPr>
          <a:xfrm>
            <a:off x="4626900" y="815375"/>
            <a:ext cx="41760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  <a:highlight>
                  <a:schemeClr val="lt2"/>
                </a:highlight>
              </a:rPr>
              <a:t>Transcriptômica de alta resolução:</a:t>
            </a:r>
            <a:endParaRPr sz="1700">
              <a:solidFill>
                <a:schemeClr val="dk1"/>
              </a:solidFill>
              <a:highlight>
                <a:schemeClr val="lt2"/>
              </a:highlight>
            </a:endParaRPr>
          </a:p>
          <a:p>
            <a:pPr marL="0" lvl="0" indent="457200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700">
              <a:solidFill>
                <a:schemeClr val="dk1"/>
              </a:solidFill>
            </a:endParaRPr>
          </a:p>
        </p:txBody>
      </p:sp>
      <p:sp>
        <p:nvSpPr>
          <p:cNvPr id="241" name="Google Shape;241;p15"/>
          <p:cNvSpPr txBox="1">
            <a:spLocks noGrp="1"/>
          </p:cNvSpPr>
          <p:nvPr>
            <p:ph type="body" idx="1"/>
          </p:nvPr>
        </p:nvSpPr>
        <p:spPr>
          <a:xfrm>
            <a:off x="6351000" y="1393825"/>
            <a:ext cx="24519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chemeClr val="lt2"/>
                </a:highlight>
              </a:rPr>
              <a:t>Manutenção da informação célula-específica ou espaço-específica </a:t>
            </a:r>
            <a:endParaRPr sz="1600">
              <a:solidFill>
                <a:schemeClr val="dk1"/>
              </a:solidFill>
              <a:highlight>
                <a:schemeClr val="lt2"/>
              </a:highlight>
            </a:endParaRPr>
          </a:p>
          <a:p>
            <a:pPr marL="0" lvl="0" indent="457200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242" name="Google Shape;242;p15"/>
          <p:cNvSpPr txBox="1">
            <a:spLocks noGrp="1"/>
          </p:cNvSpPr>
          <p:nvPr>
            <p:ph type="body" idx="1"/>
          </p:nvPr>
        </p:nvSpPr>
        <p:spPr>
          <a:xfrm>
            <a:off x="6351000" y="3284375"/>
            <a:ext cx="24519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chemeClr val="lt2"/>
                </a:highlight>
              </a:rPr>
              <a:t>Análise de um conjunto de dados de alta heterogeneidade e dimensionalidade </a:t>
            </a:r>
            <a:endParaRPr sz="1600">
              <a:solidFill>
                <a:schemeClr val="dk1"/>
              </a:solidFill>
              <a:highlight>
                <a:schemeClr val="lt2"/>
              </a:highlight>
            </a:endParaRPr>
          </a:p>
          <a:p>
            <a:pPr marL="0" lvl="0" indent="457200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>
            <a:spLocks noGrp="1"/>
          </p:cNvSpPr>
          <p:nvPr>
            <p:ph type="title"/>
          </p:nvPr>
        </p:nvSpPr>
        <p:spPr>
          <a:xfrm>
            <a:off x="415525" y="526350"/>
            <a:ext cx="82995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4200"/>
              <a:t>Métodos de transcriptômica de células individuais</a:t>
            </a:r>
            <a:endParaRPr sz="5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Single-cell RNA-seq (scRNA-seq)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Evolução de tecnologias</a:t>
            </a:r>
            <a:endParaRPr sz="1800"/>
          </a:p>
        </p:txBody>
      </p:sp>
      <p:grpSp>
        <p:nvGrpSpPr>
          <p:cNvPr id="253" name="Google Shape;253;p17"/>
          <p:cNvGrpSpPr/>
          <p:nvPr/>
        </p:nvGrpSpPr>
        <p:grpSpPr>
          <a:xfrm>
            <a:off x="3814720" y="928664"/>
            <a:ext cx="4933741" cy="2252683"/>
            <a:chOff x="152400" y="1304825"/>
            <a:chExt cx="8242133" cy="3686275"/>
          </a:xfrm>
        </p:grpSpPr>
        <p:pic>
          <p:nvPicPr>
            <p:cNvPr id="254" name="Google Shape;254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2400" y="1304825"/>
              <a:ext cx="8242133" cy="3686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1735033" y="1200950"/>
              <a:ext cx="444667" cy="345543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56" name="Google Shape;256;p17"/>
          <p:cNvCxnSpPr/>
          <p:nvPr/>
        </p:nvCxnSpPr>
        <p:spPr>
          <a:xfrm>
            <a:off x="596025" y="2774750"/>
            <a:ext cx="1920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257" name="Google Shape;257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14925" y="3339488"/>
            <a:ext cx="2262300" cy="112403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7"/>
          <p:cNvSpPr txBox="1"/>
          <p:nvPr/>
        </p:nvSpPr>
        <p:spPr>
          <a:xfrm>
            <a:off x="425175" y="1572388"/>
            <a:ext cx="22623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Métodos baseados em poços (</a:t>
            </a:r>
            <a:r>
              <a:rPr lang="pt-BR" sz="1500" b="1" i="1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plate-based</a:t>
            </a:r>
            <a:r>
              <a:rPr lang="pt-BR" sz="15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500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9" name="Google Shape;259;p17"/>
          <p:cNvSpPr txBox="1"/>
          <p:nvPr/>
        </p:nvSpPr>
        <p:spPr>
          <a:xfrm>
            <a:off x="217200" y="234425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2009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2021025" y="234425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2012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1814025" y="3154150"/>
            <a:ext cx="1239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SMART-Seq 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62" name="Google Shape;262;p17"/>
          <p:cNvCxnSpPr/>
          <p:nvPr/>
        </p:nvCxnSpPr>
        <p:spPr>
          <a:xfrm>
            <a:off x="2432175" y="2874350"/>
            <a:ext cx="3600" cy="324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7" name="Google Shape;267;p18"/>
          <p:cNvCxnSpPr/>
          <p:nvPr/>
        </p:nvCxnSpPr>
        <p:spPr>
          <a:xfrm>
            <a:off x="596025" y="2774750"/>
            <a:ext cx="1920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68" name="Google Shape;268;p18"/>
          <p:cNvCxnSpPr/>
          <p:nvPr/>
        </p:nvCxnSpPr>
        <p:spPr>
          <a:xfrm>
            <a:off x="2516625" y="2774750"/>
            <a:ext cx="1335600" cy="3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269" name="Google Shape;269;p18"/>
          <p:cNvSpPr txBox="1"/>
          <p:nvPr/>
        </p:nvSpPr>
        <p:spPr>
          <a:xfrm>
            <a:off x="2021025" y="234425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2012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0" name="Google Shape;270;p18"/>
          <p:cNvSpPr txBox="1"/>
          <p:nvPr/>
        </p:nvSpPr>
        <p:spPr>
          <a:xfrm>
            <a:off x="1814025" y="3154150"/>
            <a:ext cx="1239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SMART-Seq 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1" name="Google Shape;271;p18"/>
          <p:cNvSpPr txBox="1"/>
          <p:nvPr/>
        </p:nvSpPr>
        <p:spPr>
          <a:xfrm>
            <a:off x="2385900" y="1504150"/>
            <a:ext cx="2262300" cy="7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Métodos baseados em gotículas (</a:t>
            </a:r>
            <a:r>
              <a:rPr lang="pt-BR" sz="1500" b="1" i="1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droplet-based</a:t>
            </a:r>
            <a:r>
              <a:rPr lang="pt-BR" sz="15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500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2" name="Google Shape;272;p18"/>
          <p:cNvSpPr txBox="1"/>
          <p:nvPr/>
        </p:nvSpPr>
        <p:spPr>
          <a:xfrm>
            <a:off x="217200" y="234425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2009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73" name="Google Shape;27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4175" y="188675"/>
            <a:ext cx="4379826" cy="276271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8"/>
          <p:cNvSpPr txBox="1"/>
          <p:nvPr/>
        </p:nvSpPr>
        <p:spPr>
          <a:xfrm>
            <a:off x="4159050" y="234425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2016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75" name="Google Shape;27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38225" y="3162350"/>
            <a:ext cx="1819468" cy="1169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18"/>
          <p:cNvCxnSpPr/>
          <p:nvPr/>
        </p:nvCxnSpPr>
        <p:spPr>
          <a:xfrm rot="10800000" flipH="1">
            <a:off x="3855600" y="2774750"/>
            <a:ext cx="792600" cy="3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277" name="Google Shape;277;p18"/>
          <p:cNvSpPr txBox="1"/>
          <p:nvPr/>
        </p:nvSpPr>
        <p:spPr>
          <a:xfrm>
            <a:off x="3392588" y="234425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2015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8" name="Google Shape;278;p18"/>
          <p:cNvSpPr txBox="1"/>
          <p:nvPr/>
        </p:nvSpPr>
        <p:spPr>
          <a:xfrm>
            <a:off x="3185600" y="3863750"/>
            <a:ext cx="1239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Drop-seq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79" name="Google Shape;279;p18"/>
          <p:cNvCxnSpPr/>
          <p:nvPr/>
        </p:nvCxnSpPr>
        <p:spPr>
          <a:xfrm>
            <a:off x="2432175" y="2874350"/>
            <a:ext cx="3600" cy="324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80" name="Google Shape;280;p18"/>
          <p:cNvCxnSpPr/>
          <p:nvPr/>
        </p:nvCxnSpPr>
        <p:spPr>
          <a:xfrm>
            <a:off x="3796950" y="2910350"/>
            <a:ext cx="3600" cy="972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81" name="Google Shape;281;p18"/>
          <p:cNvCxnSpPr/>
          <p:nvPr/>
        </p:nvCxnSpPr>
        <p:spPr>
          <a:xfrm>
            <a:off x="4570200" y="2910350"/>
            <a:ext cx="3600" cy="252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82" name="Google Shape;282;p18"/>
          <p:cNvSpPr txBox="1"/>
          <p:nvPr/>
        </p:nvSpPr>
        <p:spPr>
          <a:xfrm>
            <a:off x="3952050" y="3129300"/>
            <a:ext cx="1239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Chromium (GemCode)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3" name="Google Shape;28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Single-cell RNA-seq (scRNA-seq)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Evolução de tecnologias</a:t>
            </a:r>
            <a:endParaRPr sz="1800"/>
          </a:p>
        </p:txBody>
      </p:sp>
      <p:pic>
        <p:nvPicPr>
          <p:cNvPr id="284" name="Google Shape;284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3975" y="3198350"/>
            <a:ext cx="1622225" cy="129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9" name="Google Shape;289;p19"/>
          <p:cNvCxnSpPr/>
          <p:nvPr/>
        </p:nvCxnSpPr>
        <p:spPr>
          <a:xfrm rot="10800000" flipH="1">
            <a:off x="4437225" y="2771150"/>
            <a:ext cx="4139100" cy="3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290" name="Google Shape;290;p19"/>
          <p:cNvSpPr txBox="1"/>
          <p:nvPr/>
        </p:nvSpPr>
        <p:spPr>
          <a:xfrm>
            <a:off x="8108900" y="234425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2026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91" name="Google Shape;291;p19"/>
          <p:cNvCxnSpPr/>
          <p:nvPr/>
        </p:nvCxnSpPr>
        <p:spPr>
          <a:xfrm>
            <a:off x="596025" y="2774750"/>
            <a:ext cx="1920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92" name="Google Shape;292;p19"/>
          <p:cNvCxnSpPr/>
          <p:nvPr/>
        </p:nvCxnSpPr>
        <p:spPr>
          <a:xfrm>
            <a:off x="2516625" y="2774750"/>
            <a:ext cx="1335600" cy="3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293" name="Google Shape;293;p19"/>
          <p:cNvSpPr txBox="1"/>
          <p:nvPr/>
        </p:nvSpPr>
        <p:spPr>
          <a:xfrm>
            <a:off x="217200" y="234425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2009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4159050" y="234425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2016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3952050" y="3129300"/>
            <a:ext cx="1239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Chromium (GemCode)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96" name="Google Shape;296;p19"/>
          <p:cNvCxnSpPr/>
          <p:nvPr/>
        </p:nvCxnSpPr>
        <p:spPr>
          <a:xfrm rot="10800000" flipH="1">
            <a:off x="3855600" y="2774750"/>
            <a:ext cx="792600" cy="3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297" name="Google Shape;297;p19"/>
          <p:cNvSpPr txBox="1"/>
          <p:nvPr/>
        </p:nvSpPr>
        <p:spPr>
          <a:xfrm>
            <a:off x="3392588" y="234425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2015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98" name="Google Shape;298;p19"/>
          <p:cNvCxnSpPr/>
          <p:nvPr/>
        </p:nvCxnSpPr>
        <p:spPr>
          <a:xfrm>
            <a:off x="4570200" y="2910350"/>
            <a:ext cx="3600" cy="252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99" name="Google Shape;299;p19"/>
          <p:cNvSpPr txBox="1"/>
          <p:nvPr/>
        </p:nvSpPr>
        <p:spPr>
          <a:xfrm>
            <a:off x="5013300" y="4181950"/>
            <a:ext cx="13356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Microwell-seq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6284775" y="3104900"/>
            <a:ext cx="1239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Sci-seq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5670725" y="3458350"/>
            <a:ext cx="1239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Rhapsody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02" name="Google Shape;302;p19"/>
          <p:cNvCxnSpPr/>
          <p:nvPr/>
        </p:nvCxnSpPr>
        <p:spPr>
          <a:xfrm>
            <a:off x="5679300" y="2849950"/>
            <a:ext cx="3600" cy="1332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3" name="Google Shape;303;p19"/>
          <p:cNvCxnSpPr/>
          <p:nvPr/>
        </p:nvCxnSpPr>
        <p:spPr>
          <a:xfrm>
            <a:off x="6282075" y="2885950"/>
            <a:ext cx="3600" cy="612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4" name="Google Shape;304;p19"/>
          <p:cNvCxnSpPr/>
          <p:nvPr/>
        </p:nvCxnSpPr>
        <p:spPr>
          <a:xfrm>
            <a:off x="6902925" y="2885950"/>
            <a:ext cx="3600" cy="252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05" name="Google Shape;305;p19"/>
          <p:cNvSpPr txBox="1"/>
          <p:nvPr/>
        </p:nvSpPr>
        <p:spPr>
          <a:xfrm>
            <a:off x="3185600" y="3863750"/>
            <a:ext cx="1239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Drop-seq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06" name="Google Shape;306;p19"/>
          <p:cNvCxnSpPr/>
          <p:nvPr/>
        </p:nvCxnSpPr>
        <p:spPr>
          <a:xfrm>
            <a:off x="3796950" y="2910350"/>
            <a:ext cx="3600" cy="972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07" name="Google Shape;307;p19"/>
          <p:cNvSpPr txBox="1"/>
          <p:nvPr/>
        </p:nvSpPr>
        <p:spPr>
          <a:xfrm>
            <a:off x="4572000" y="3777050"/>
            <a:ext cx="1239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Seq-well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08" name="Google Shape;308;p19"/>
          <p:cNvCxnSpPr/>
          <p:nvPr/>
        </p:nvCxnSpPr>
        <p:spPr>
          <a:xfrm>
            <a:off x="5183350" y="2823650"/>
            <a:ext cx="3600" cy="972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09" name="Google Shape;309;p19"/>
          <p:cNvSpPr txBox="1"/>
          <p:nvPr/>
        </p:nvSpPr>
        <p:spPr>
          <a:xfrm>
            <a:off x="6784300" y="3440350"/>
            <a:ext cx="1239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Split-seq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10" name="Google Shape;310;p19"/>
          <p:cNvCxnSpPr/>
          <p:nvPr/>
        </p:nvCxnSpPr>
        <p:spPr>
          <a:xfrm>
            <a:off x="7395650" y="2867950"/>
            <a:ext cx="3600" cy="612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11" name="Google Shape;311;p19"/>
          <p:cNvSpPr txBox="1"/>
          <p:nvPr/>
        </p:nvSpPr>
        <p:spPr>
          <a:xfrm>
            <a:off x="4620525" y="1737463"/>
            <a:ext cx="22623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Outros métodos…</a:t>
            </a:r>
            <a:endParaRPr sz="1500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2021025" y="234425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2012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1814025" y="3154150"/>
            <a:ext cx="1239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SMART-Seq 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14" name="Google Shape;314;p19"/>
          <p:cNvCxnSpPr/>
          <p:nvPr/>
        </p:nvCxnSpPr>
        <p:spPr>
          <a:xfrm>
            <a:off x="2432175" y="2874350"/>
            <a:ext cx="3600" cy="324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15" name="Google Shape;31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Single-cell RNA-seq (scRNA-seq)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Evolução de tecnologias</a:t>
            </a:r>
            <a:endParaRPr sz="1800"/>
          </a:p>
        </p:txBody>
      </p:sp>
      <p:pic>
        <p:nvPicPr>
          <p:cNvPr id="316" name="Google Shape;31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0700" y="185363"/>
            <a:ext cx="232410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1150" y="1152425"/>
            <a:ext cx="4695500" cy="308462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0"/>
          <p:cNvSpPr txBox="1">
            <a:spLocks noGrp="1"/>
          </p:cNvSpPr>
          <p:nvPr>
            <p:ph type="body" idx="1"/>
          </p:nvPr>
        </p:nvSpPr>
        <p:spPr>
          <a:xfrm>
            <a:off x="733200" y="1324600"/>
            <a:ext cx="3431100" cy="3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500">
                <a:solidFill>
                  <a:schemeClr val="dk1"/>
                </a:solidFill>
              </a:rPr>
              <a:t>As técnicas de transcriptômica de células individuais envolvem alguns desafios: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Obtenção de células únicas.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Amplificação de cDNA de forma célula-específica.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Marcação das bibliotecas de cDNA de forma célula-específica.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23" name="Google Shape;32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Single-cell RNA-seq (scRNA-seq)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Princípios</a:t>
            </a:r>
            <a:endParaRPr sz="1800"/>
          </a:p>
        </p:txBody>
      </p:sp>
      <p:sp>
        <p:nvSpPr>
          <p:cNvPr id="324" name="Google Shape;324;p20"/>
          <p:cNvSpPr/>
          <p:nvPr/>
        </p:nvSpPr>
        <p:spPr>
          <a:xfrm>
            <a:off x="4700875" y="1060750"/>
            <a:ext cx="4314900" cy="13977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5" name="Google Shape;325;p20"/>
          <p:cNvSpPr txBox="1">
            <a:spLocks noGrp="1"/>
          </p:cNvSpPr>
          <p:nvPr>
            <p:ph type="title"/>
          </p:nvPr>
        </p:nvSpPr>
        <p:spPr>
          <a:xfrm>
            <a:off x="733200" y="4797550"/>
            <a:ext cx="84108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600">
                <a:solidFill>
                  <a:schemeClr val="accent3"/>
                </a:solidFill>
              </a:rPr>
              <a:t>Probst, V., Simonyan, A., Pacheco, F. et al. Benchmarking full-length transcript single cell mRNA sequencing protocols. BMC Genomics 23, 860 (2022). https://doi.org/10.1186/s12864-022-09014-5</a:t>
            </a:r>
            <a:endParaRPr sz="600">
              <a:solidFill>
                <a:schemeClr val="accent3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600">
              <a:solidFill>
                <a:schemeClr val="accent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600">
              <a:solidFill>
                <a:schemeClr val="accent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Single-cell RNA-seq (scRNA-seq)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Princípios</a:t>
            </a:r>
            <a:endParaRPr sz="1800"/>
          </a:p>
        </p:txBody>
      </p:sp>
      <p:sp>
        <p:nvSpPr>
          <p:cNvPr id="331" name="Google Shape;331;p21"/>
          <p:cNvSpPr txBox="1">
            <a:spLocks noGrp="1"/>
          </p:cNvSpPr>
          <p:nvPr>
            <p:ph type="body" idx="1"/>
          </p:nvPr>
        </p:nvSpPr>
        <p:spPr>
          <a:xfrm>
            <a:off x="733200" y="1324600"/>
            <a:ext cx="3431100" cy="3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500">
                <a:solidFill>
                  <a:schemeClr val="dk1"/>
                </a:solidFill>
              </a:rPr>
              <a:t>Chromium 10X Genomics (</a:t>
            </a:r>
            <a:r>
              <a:rPr lang="pt-BR" sz="1500" i="1">
                <a:solidFill>
                  <a:schemeClr val="dk1"/>
                </a:solidFill>
              </a:rPr>
              <a:t>droplet-seq</a:t>
            </a:r>
            <a:r>
              <a:rPr lang="pt-BR" sz="1500">
                <a:solidFill>
                  <a:schemeClr val="dk1"/>
                </a:solidFill>
              </a:rPr>
              <a:t>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Obtenção de células únicas.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Amplificação de cDNA de forma célula-específica.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Marcação das bibliotecas de cDNA de forma célula-específica.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332" name="Google Shape;33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0250" y="1012875"/>
            <a:ext cx="4674899" cy="2130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5073" y="3496850"/>
            <a:ext cx="1543100" cy="9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86875" y="3164298"/>
            <a:ext cx="3829108" cy="167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1"/>
          <p:cNvSpPr/>
          <p:nvPr/>
        </p:nvSpPr>
        <p:spPr>
          <a:xfrm>
            <a:off x="5284400" y="160600"/>
            <a:ext cx="3699300" cy="1240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GEMs (Gel Bead-in-Emulsions)</a:t>
            </a:r>
            <a:endParaRPr sz="1200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Emulsão de óleo e gotículas de solução aquosa, as quais contém: </a:t>
            </a:r>
            <a:endParaRPr sz="12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 bead</a:t>
            </a:r>
            <a:r>
              <a:rPr lang="pt-BR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primers com </a:t>
            </a:r>
            <a:r>
              <a:rPr lang="pt-BR" sz="12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 barcode</a:t>
            </a:r>
            <a:r>
              <a:rPr lang="pt-BR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pt-BR" sz="12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 célula</a:t>
            </a:r>
            <a:r>
              <a:rPr lang="pt-BR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e demais reagentes para RT-PCR.</a:t>
            </a:r>
            <a:endParaRPr sz="12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2"/>
          <p:cNvPicPr preferRelativeResize="0"/>
          <p:nvPr/>
        </p:nvPicPr>
        <p:blipFill rotWithShape="1">
          <a:blip r:embed="rId3">
            <a:alphaModFix/>
          </a:blip>
          <a:srcRect l="47009"/>
          <a:stretch/>
        </p:blipFill>
        <p:spPr>
          <a:xfrm>
            <a:off x="6521525" y="542825"/>
            <a:ext cx="2477250" cy="24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Single-cell RNA-seq (scRNA-seq)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Princípios</a:t>
            </a:r>
            <a:endParaRPr sz="1800"/>
          </a:p>
        </p:txBody>
      </p:sp>
      <p:sp>
        <p:nvSpPr>
          <p:cNvPr id="342" name="Google Shape;342;p22"/>
          <p:cNvSpPr txBox="1">
            <a:spLocks noGrp="1"/>
          </p:cNvSpPr>
          <p:nvPr>
            <p:ph type="body" idx="1"/>
          </p:nvPr>
        </p:nvSpPr>
        <p:spPr>
          <a:xfrm>
            <a:off x="733200" y="1324600"/>
            <a:ext cx="3431100" cy="3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500">
                <a:solidFill>
                  <a:schemeClr val="dk1"/>
                </a:solidFill>
              </a:rPr>
              <a:t>Chromium 10X Genomics (</a:t>
            </a:r>
            <a:r>
              <a:rPr lang="pt-BR" sz="1500" i="1">
                <a:solidFill>
                  <a:schemeClr val="dk1"/>
                </a:solidFill>
              </a:rPr>
              <a:t>droplet-seq</a:t>
            </a:r>
            <a:r>
              <a:rPr lang="pt-BR" sz="1500">
                <a:solidFill>
                  <a:schemeClr val="dk1"/>
                </a:solidFill>
              </a:rPr>
              <a:t>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Obtenção de células únicas: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Amplificação de cDNA de forma célula-específica.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Marcação das bibliotecas de cDNA de forma célula-específica.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343" name="Google Shape;343;p22"/>
          <p:cNvPicPr preferRelativeResize="0"/>
          <p:nvPr/>
        </p:nvPicPr>
        <p:blipFill rotWithShape="1">
          <a:blip r:embed="rId3">
            <a:alphaModFix/>
          </a:blip>
          <a:srcRect r="56238"/>
          <a:stretch/>
        </p:blipFill>
        <p:spPr>
          <a:xfrm>
            <a:off x="4316700" y="542825"/>
            <a:ext cx="2045800" cy="24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2"/>
          <p:cNvPicPr preferRelativeResize="0"/>
          <p:nvPr/>
        </p:nvPicPr>
        <p:blipFill rotWithShape="1">
          <a:blip r:embed="rId4">
            <a:alphaModFix/>
          </a:blip>
          <a:srcRect b="11925"/>
          <a:stretch/>
        </p:blipFill>
        <p:spPr>
          <a:xfrm>
            <a:off x="6165725" y="3033463"/>
            <a:ext cx="2196050" cy="178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2"/>
          <p:cNvSpPr txBox="1"/>
          <p:nvPr/>
        </p:nvSpPr>
        <p:spPr>
          <a:xfrm>
            <a:off x="3766800" y="919375"/>
            <a:ext cx="16104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Chip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6" name="Google Shape;346;p22"/>
          <p:cNvSpPr txBox="1"/>
          <p:nvPr/>
        </p:nvSpPr>
        <p:spPr>
          <a:xfrm>
            <a:off x="6362500" y="234000"/>
            <a:ext cx="16104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Equipamento de microfluídica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4937475" y="3410050"/>
            <a:ext cx="16104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RT-PCR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6392075" y="2546050"/>
            <a:ext cx="16104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GEMs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9" name="Google Shape;349;p22"/>
          <p:cNvSpPr/>
          <p:nvPr/>
        </p:nvSpPr>
        <p:spPr>
          <a:xfrm rot="517948">
            <a:off x="5925949" y="2285115"/>
            <a:ext cx="910701" cy="1151883"/>
          </a:xfrm>
          <a:custGeom>
            <a:avLst/>
            <a:gdLst/>
            <a:ahLst/>
            <a:cxnLst/>
            <a:rect l="l" t="t" r="r" b="b"/>
            <a:pathLst>
              <a:path w="36427" h="46074" extrusionOk="0">
                <a:moveTo>
                  <a:pt x="36308" y="0"/>
                </a:moveTo>
                <a:cubicBezTo>
                  <a:pt x="36785" y="6206"/>
                  <a:pt x="34399" y="13823"/>
                  <a:pt x="29220" y="17277"/>
                </a:cubicBezTo>
                <a:cubicBezTo>
                  <a:pt x="21052" y="22724"/>
                  <a:pt x="9743" y="22205"/>
                  <a:pt x="1753" y="27910"/>
                </a:cubicBezTo>
                <a:cubicBezTo>
                  <a:pt x="-4282" y="32220"/>
                  <a:pt x="7184" y="46074"/>
                  <a:pt x="14600" y="46074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0" name="Google Shape;350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5073" y="3496850"/>
            <a:ext cx="1543100" cy="9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2"/>
          <p:cNvSpPr/>
          <p:nvPr/>
        </p:nvSpPr>
        <p:spPr>
          <a:xfrm>
            <a:off x="5440700" y="416714"/>
            <a:ext cx="1017325" cy="699225"/>
          </a:xfrm>
          <a:custGeom>
            <a:avLst/>
            <a:gdLst/>
            <a:ahLst/>
            <a:cxnLst/>
            <a:rect l="l" t="t" r="r" b="b"/>
            <a:pathLst>
              <a:path w="40693" h="27969" extrusionOk="0">
                <a:moveTo>
                  <a:pt x="958" y="15606"/>
                </a:moveTo>
                <a:cubicBezTo>
                  <a:pt x="-47" y="11585"/>
                  <a:pt x="-864" y="5941"/>
                  <a:pt x="2283" y="3244"/>
                </a:cubicBezTo>
                <a:cubicBezTo>
                  <a:pt x="7100" y="-884"/>
                  <a:pt x="15470" y="-656"/>
                  <a:pt x="21267" y="1920"/>
                </a:cubicBezTo>
                <a:cubicBezTo>
                  <a:pt x="31165" y="6319"/>
                  <a:pt x="31007" y="23121"/>
                  <a:pt x="40693" y="27969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Single-cell RNA-seq (scRNA-seq)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Princípios</a:t>
            </a:r>
            <a:endParaRPr sz="1800"/>
          </a:p>
        </p:txBody>
      </p:sp>
      <p:pic>
        <p:nvPicPr>
          <p:cNvPr id="357" name="Google Shape;35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1400" y="1076225"/>
            <a:ext cx="5321340" cy="132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3"/>
          <p:cNvSpPr txBox="1"/>
          <p:nvPr/>
        </p:nvSpPr>
        <p:spPr>
          <a:xfrm>
            <a:off x="1133475" y="2403775"/>
            <a:ext cx="16104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Preparo de amostra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9" name="Google Shape;359;p23"/>
          <p:cNvSpPr txBox="1"/>
          <p:nvPr/>
        </p:nvSpPr>
        <p:spPr>
          <a:xfrm>
            <a:off x="2828050" y="2403775"/>
            <a:ext cx="16104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Captura de células únicas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0" name="Google Shape;360;p23"/>
          <p:cNvSpPr txBox="1"/>
          <p:nvPr/>
        </p:nvSpPr>
        <p:spPr>
          <a:xfrm>
            <a:off x="4514650" y="2403775"/>
            <a:ext cx="16104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Biblioteca de cDNA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1" name="Google Shape;361;p23"/>
          <p:cNvSpPr txBox="1"/>
          <p:nvPr/>
        </p:nvSpPr>
        <p:spPr>
          <a:xfrm>
            <a:off x="6201250" y="2403775"/>
            <a:ext cx="1809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Sequenciamento (NGS)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2" name="Google Shape;362;p23"/>
          <p:cNvSpPr txBox="1">
            <a:spLocks noGrp="1"/>
          </p:cNvSpPr>
          <p:nvPr>
            <p:ph type="body" idx="1"/>
          </p:nvPr>
        </p:nvSpPr>
        <p:spPr>
          <a:xfrm>
            <a:off x="632225" y="3033775"/>
            <a:ext cx="2012700" cy="17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300" b="1">
                <a:solidFill>
                  <a:schemeClr val="dk1"/>
                </a:solidFill>
              </a:rPr>
              <a:t>Suspensão de células únicas</a:t>
            </a:r>
            <a:r>
              <a:rPr lang="pt-BR" sz="1300">
                <a:solidFill>
                  <a:schemeClr val="dk1"/>
                </a:solidFill>
              </a:rPr>
              <a:t>!</a:t>
            </a:r>
            <a:endParaRPr sz="13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300">
                <a:solidFill>
                  <a:schemeClr val="dk1"/>
                </a:solidFill>
              </a:rPr>
              <a:t>Preparo tecido-dependente.</a:t>
            </a:r>
            <a:endParaRPr sz="13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300">
                <a:solidFill>
                  <a:schemeClr val="dk1"/>
                </a:solidFill>
              </a:rPr>
              <a:t>Perda de células sensíveis.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3" name="Google Shape;363;p23"/>
          <p:cNvSpPr txBox="1">
            <a:spLocks noGrp="1"/>
          </p:cNvSpPr>
          <p:nvPr>
            <p:ph type="body" idx="1"/>
          </p:nvPr>
        </p:nvSpPr>
        <p:spPr>
          <a:xfrm>
            <a:off x="2645050" y="3122375"/>
            <a:ext cx="1869600" cy="11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pt-BR" sz="1300">
                <a:solidFill>
                  <a:schemeClr val="dk1"/>
                </a:solidFill>
              </a:rPr>
              <a:t>Baseado em gotículas (</a:t>
            </a:r>
            <a:r>
              <a:rPr lang="pt-BR" sz="1300" b="1" i="1">
                <a:solidFill>
                  <a:schemeClr val="dk1"/>
                </a:solidFill>
              </a:rPr>
              <a:t>droplet-based</a:t>
            </a:r>
            <a:r>
              <a:rPr lang="pt-BR" sz="1300">
                <a:solidFill>
                  <a:schemeClr val="dk1"/>
                </a:solidFill>
              </a:rPr>
              <a:t>), formadas por </a:t>
            </a:r>
            <a:r>
              <a:rPr lang="pt-BR" sz="1300" b="1">
                <a:solidFill>
                  <a:schemeClr val="dk1"/>
                </a:solidFill>
              </a:rPr>
              <a:t>microfluídica</a:t>
            </a:r>
            <a:r>
              <a:rPr lang="pt-BR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4" name="Google Shape;364;p23"/>
          <p:cNvSpPr txBox="1">
            <a:spLocks noGrp="1"/>
          </p:cNvSpPr>
          <p:nvPr>
            <p:ph type="body" idx="1"/>
          </p:nvPr>
        </p:nvSpPr>
        <p:spPr>
          <a:xfrm>
            <a:off x="4590850" y="3198575"/>
            <a:ext cx="1869600" cy="11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300" b="1">
                <a:solidFill>
                  <a:schemeClr val="dk1"/>
                </a:solidFill>
              </a:rPr>
              <a:t>Transcrito incompleto</a:t>
            </a:r>
            <a:r>
              <a:rPr lang="pt-BR" sz="1300">
                <a:solidFill>
                  <a:schemeClr val="dk1"/>
                </a:solidFill>
              </a:rPr>
              <a:t> (extremidade 5’ ou 3’).</a:t>
            </a:r>
            <a:endParaRPr sz="13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300">
                <a:solidFill>
                  <a:schemeClr val="dk1"/>
                </a:solidFill>
              </a:rPr>
              <a:t>Amplificação por PCR.</a:t>
            </a:r>
            <a:endParaRPr sz="13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endParaRPr sz="1300">
              <a:solidFill>
                <a:schemeClr val="dk1"/>
              </a:solidFill>
            </a:endParaRPr>
          </a:p>
        </p:txBody>
      </p:sp>
      <p:sp>
        <p:nvSpPr>
          <p:cNvPr id="365" name="Google Shape;365;p23"/>
          <p:cNvSpPr txBox="1">
            <a:spLocks noGrp="1"/>
          </p:cNvSpPr>
          <p:nvPr>
            <p:ph type="body" idx="1"/>
          </p:nvPr>
        </p:nvSpPr>
        <p:spPr>
          <a:xfrm>
            <a:off x="6516650" y="3197250"/>
            <a:ext cx="1869600" cy="11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300" b="1">
                <a:solidFill>
                  <a:schemeClr val="dk1"/>
                </a:solidFill>
              </a:rPr>
              <a:t>Baixa cobertura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300">
                <a:solidFill>
                  <a:schemeClr val="dk1"/>
                </a:solidFill>
              </a:rPr>
              <a:t>(muitos transcritos ficam de fora!)</a:t>
            </a:r>
            <a:endParaRPr sz="13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endParaRPr sz="1300">
              <a:solidFill>
                <a:schemeClr val="dk1"/>
              </a:solidFill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3978475" y="304675"/>
            <a:ext cx="48267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Não é  o melhor método para caracterizar </a:t>
            </a:r>
            <a:r>
              <a:rPr lang="pt-BR" sz="1400" b="1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profundamente </a:t>
            </a: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o perfil transcricional de populações celulares.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7" name="Google Shape;367;p23"/>
          <p:cNvSpPr txBox="1"/>
          <p:nvPr/>
        </p:nvSpPr>
        <p:spPr>
          <a:xfrm>
            <a:off x="3614850" y="4160075"/>
            <a:ext cx="46782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Poder suficiente para </a:t>
            </a:r>
            <a:r>
              <a:rPr lang="pt-BR" sz="1400" b="1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separar tipos e estados celulares</a:t>
            </a: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4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8" name="Google Shape;368;p23"/>
          <p:cNvSpPr txBox="1"/>
          <p:nvPr/>
        </p:nvSpPr>
        <p:spPr>
          <a:xfrm>
            <a:off x="4188450" y="4502875"/>
            <a:ext cx="3531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Excelente </a:t>
            </a:r>
            <a:r>
              <a:rPr lang="pt-BR" sz="1400" b="1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custo-benefício</a:t>
            </a: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r>
              <a:rPr lang="pt-BR" sz="1400" b="1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células/$$</a:t>
            </a: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4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"/>
          <p:cNvSpPr txBox="1">
            <a:spLocks noGrp="1"/>
          </p:cNvSpPr>
          <p:nvPr>
            <p:ph type="title"/>
          </p:nvPr>
        </p:nvSpPr>
        <p:spPr>
          <a:xfrm>
            <a:off x="6165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600"/>
              <a:t>Outros métodos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BD Rhapsody</a:t>
            </a:r>
            <a:endParaRPr sz="2000" b="1"/>
          </a:p>
        </p:txBody>
      </p:sp>
      <p:pic>
        <p:nvPicPr>
          <p:cNvPr id="374" name="Google Shape;37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8500" y="1221863"/>
            <a:ext cx="8006991" cy="201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4"/>
          <p:cNvPicPr preferRelativeResize="0"/>
          <p:nvPr/>
        </p:nvPicPr>
        <p:blipFill rotWithShape="1">
          <a:blip r:embed="rId4">
            <a:alphaModFix/>
          </a:blip>
          <a:srcRect l="7037" t="3846"/>
          <a:stretch/>
        </p:blipFill>
        <p:spPr>
          <a:xfrm>
            <a:off x="6938175" y="3401075"/>
            <a:ext cx="2205825" cy="16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4"/>
          <p:cNvSpPr txBox="1"/>
          <p:nvPr/>
        </p:nvSpPr>
        <p:spPr>
          <a:xfrm>
            <a:off x="4148475" y="3301838"/>
            <a:ext cx="27897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Captura de células únicas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1"/>
          </p:nvPr>
        </p:nvSpPr>
        <p:spPr>
          <a:xfrm>
            <a:off x="4436225" y="3682713"/>
            <a:ext cx="2106900" cy="11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pt-BR" sz="1500">
                <a:solidFill>
                  <a:schemeClr val="dk1"/>
                </a:solidFill>
              </a:rPr>
              <a:t>Baseado em nanopoços (</a:t>
            </a:r>
            <a:r>
              <a:rPr lang="pt-BR" sz="1500" b="1" i="1">
                <a:solidFill>
                  <a:schemeClr val="dk1"/>
                </a:solidFill>
              </a:rPr>
              <a:t>nanowell-based</a:t>
            </a:r>
            <a:r>
              <a:rPr lang="pt-BR" sz="1500">
                <a:solidFill>
                  <a:schemeClr val="dk1"/>
                </a:solidFill>
              </a:rPr>
              <a:t>)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378" name="Google Shape;37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525" y="3495025"/>
            <a:ext cx="2162011" cy="140112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4"/>
          <p:cNvSpPr/>
          <p:nvPr/>
        </p:nvSpPr>
        <p:spPr>
          <a:xfrm>
            <a:off x="573278" y="4117076"/>
            <a:ext cx="1769400" cy="8409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Droplet-based vs. Plate-based</a:t>
            </a:r>
            <a:endParaRPr/>
          </a:p>
        </p:txBody>
      </p:sp>
      <p:pic>
        <p:nvPicPr>
          <p:cNvPr id="385" name="Google Shape;38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552025"/>
            <a:ext cx="4123825" cy="27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5"/>
          <p:cNvPicPr preferRelativeResize="0"/>
          <p:nvPr/>
        </p:nvPicPr>
        <p:blipFill rotWithShape="1">
          <a:blip r:embed="rId4">
            <a:alphaModFix/>
          </a:blip>
          <a:srcRect l="1392" r="9346"/>
          <a:stretch/>
        </p:blipFill>
        <p:spPr>
          <a:xfrm>
            <a:off x="4727975" y="1580150"/>
            <a:ext cx="4245075" cy="1816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5"/>
          <p:cNvSpPr txBox="1">
            <a:spLocks noGrp="1"/>
          </p:cNvSpPr>
          <p:nvPr>
            <p:ph type="title"/>
          </p:nvPr>
        </p:nvSpPr>
        <p:spPr>
          <a:xfrm>
            <a:off x="733200" y="4797550"/>
            <a:ext cx="84108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600">
                <a:solidFill>
                  <a:schemeClr val="accent3"/>
                </a:solidFill>
              </a:rPr>
              <a:t>Probst, V., Simonyan, A., Pacheco, F. et al. Benchmarking full-length transcript single cell mRNA sequencing protocols. BMC Genomics 23, 860 (2022). https://doi.org/10.1186/s12864-022-09014-5</a:t>
            </a:r>
            <a:endParaRPr sz="600">
              <a:solidFill>
                <a:schemeClr val="accent3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600">
              <a:solidFill>
                <a:schemeClr val="accent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600">
              <a:solidFill>
                <a:schemeClr val="accent3"/>
              </a:solidFill>
            </a:endParaRPr>
          </a:p>
        </p:txBody>
      </p:sp>
      <p:sp>
        <p:nvSpPr>
          <p:cNvPr id="388" name="Google Shape;388;p25"/>
          <p:cNvSpPr txBox="1"/>
          <p:nvPr/>
        </p:nvSpPr>
        <p:spPr>
          <a:xfrm>
            <a:off x="7512850" y="3546025"/>
            <a:ext cx="1209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Mais genes e counts /célula</a:t>
            </a:r>
            <a:endParaRPr sz="15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9" name="Google Shape;389;p25"/>
          <p:cNvSpPr txBox="1"/>
          <p:nvPr/>
        </p:nvSpPr>
        <p:spPr>
          <a:xfrm>
            <a:off x="6121250" y="3631100"/>
            <a:ext cx="1209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Mais células</a:t>
            </a:r>
            <a:endParaRPr sz="15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Conteúdos extras</a:t>
            </a:r>
            <a:endParaRPr/>
          </a:p>
        </p:txBody>
      </p:sp>
      <p:pic>
        <p:nvPicPr>
          <p:cNvPr id="395" name="Google Shape;39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200" y="1869900"/>
            <a:ext cx="681025" cy="6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6"/>
          <p:cNvSpPr txBox="1"/>
          <p:nvPr/>
        </p:nvSpPr>
        <p:spPr>
          <a:xfrm>
            <a:off x="1414225" y="1793650"/>
            <a:ext cx="2531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Haque et al, 2017. DOI 10.1186/s13073-017-0467-4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 practical guide to single-cell RNA-sequencing for biomedical research and clinical applications</a:t>
            </a: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7" name="Google Shape;397;p26"/>
          <p:cNvSpPr txBox="1">
            <a:spLocks noGrp="1"/>
          </p:cNvSpPr>
          <p:nvPr>
            <p:ph type="body" idx="1"/>
          </p:nvPr>
        </p:nvSpPr>
        <p:spPr>
          <a:xfrm>
            <a:off x="733200" y="1324600"/>
            <a:ext cx="3686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pt-BR" sz="1500">
                <a:solidFill>
                  <a:schemeClr val="dk1"/>
                </a:solidFill>
              </a:rPr>
              <a:t>Princípios e planejamento experimental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98" name="Google Shape;398;p26"/>
          <p:cNvSpPr txBox="1">
            <a:spLocks noGrp="1"/>
          </p:cNvSpPr>
          <p:nvPr>
            <p:ph type="body" idx="1"/>
          </p:nvPr>
        </p:nvSpPr>
        <p:spPr>
          <a:xfrm>
            <a:off x="4780225" y="1324600"/>
            <a:ext cx="3686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pt-BR" sz="1500">
                <a:solidFill>
                  <a:schemeClr val="dk1"/>
                </a:solidFill>
              </a:rPr>
              <a:t>Métodos de geração de bibliotecas scRNA-seq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399" name="Google Shape;39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0225" y="2193750"/>
            <a:ext cx="681025" cy="6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6"/>
          <p:cNvSpPr txBox="1"/>
          <p:nvPr/>
        </p:nvSpPr>
        <p:spPr>
          <a:xfrm>
            <a:off x="5461250" y="2117500"/>
            <a:ext cx="2531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 Simone et al, 2025. DOI 10.1093/nar/gkae1186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 comprehensive analysis framework for evaluating commercial single-cell RNA sequencing technologies</a:t>
            </a: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01" name="Google Shape;40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0225" y="3241950"/>
            <a:ext cx="681025" cy="6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6"/>
          <p:cNvSpPr txBox="1"/>
          <p:nvPr/>
        </p:nvSpPr>
        <p:spPr>
          <a:xfrm>
            <a:off x="5461250" y="3165700"/>
            <a:ext cx="25317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Vídeo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Single Cell Gene Expression Protocol v3.1 | Assemble Chromium Next GEM Chip G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https://www.youtube.com/watch?v=cH8ldAqKUzE</a:t>
            </a: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8c134e9bc_0_91"/>
          <p:cNvSpPr txBox="1">
            <a:spLocks noGrp="1"/>
          </p:cNvSpPr>
          <p:nvPr>
            <p:ph type="ctrTitle"/>
          </p:nvPr>
        </p:nvSpPr>
        <p:spPr>
          <a:xfrm>
            <a:off x="510450" y="31487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900"/>
              <a:t>Métodos de </a:t>
            </a:r>
            <a:endParaRPr sz="3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900"/>
              <a:t>transcriptômica espacial</a:t>
            </a:r>
            <a:endParaRPr sz="4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RNA-seq espacial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Evolução de tecnologias</a:t>
            </a:r>
            <a:endParaRPr sz="1800"/>
          </a:p>
        </p:txBody>
      </p:sp>
      <p:cxnSp>
        <p:nvCxnSpPr>
          <p:cNvPr id="413" name="Google Shape;413;p28"/>
          <p:cNvCxnSpPr/>
          <p:nvPr/>
        </p:nvCxnSpPr>
        <p:spPr>
          <a:xfrm rot="10800000" flipH="1">
            <a:off x="596025" y="2770550"/>
            <a:ext cx="3311100" cy="4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14" name="Google Shape;414;p28"/>
          <p:cNvSpPr txBox="1"/>
          <p:nvPr/>
        </p:nvSpPr>
        <p:spPr>
          <a:xfrm>
            <a:off x="958575" y="1409438"/>
            <a:ext cx="22623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Métodos baseados em hibridização </a:t>
            </a:r>
            <a:r>
              <a:rPr lang="pt-BR" sz="1500" b="1" i="1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 situ</a:t>
            </a:r>
            <a:endParaRPr sz="1500" b="1" i="1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5" name="Google Shape;415;p28"/>
          <p:cNvSpPr txBox="1"/>
          <p:nvPr/>
        </p:nvSpPr>
        <p:spPr>
          <a:xfrm>
            <a:off x="653775" y="3647363"/>
            <a:ext cx="22623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Métodos baseados em microdissecção</a:t>
            </a:r>
            <a:endParaRPr sz="1500" b="1" i="1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16" name="Google Shape;41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1199" y="3021700"/>
            <a:ext cx="4967099" cy="18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8"/>
          <p:cNvSpPr txBox="1"/>
          <p:nvPr/>
        </p:nvSpPr>
        <p:spPr>
          <a:xfrm>
            <a:off x="254000" y="232670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2000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18" name="Google Shape;41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53570" y="642225"/>
            <a:ext cx="3646691" cy="18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3975" y="399075"/>
            <a:ext cx="2465623" cy="1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RNA-seq espacial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Evolução de tecnologias</a:t>
            </a:r>
            <a:endParaRPr sz="1800"/>
          </a:p>
        </p:txBody>
      </p:sp>
      <p:cxnSp>
        <p:nvCxnSpPr>
          <p:cNvPr id="425" name="Google Shape;425;p29"/>
          <p:cNvCxnSpPr/>
          <p:nvPr/>
        </p:nvCxnSpPr>
        <p:spPr>
          <a:xfrm rot="10800000" flipH="1">
            <a:off x="596025" y="2770550"/>
            <a:ext cx="3311100" cy="4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26" name="Google Shape;426;p29"/>
          <p:cNvSpPr txBox="1"/>
          <p:nvPr/>
        </p:nvSpPr>
        <p:spPr>
          <a:xfrm>
            <a:off x="2227250" y="2916388"/>
            <a:ext cx="22623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Transcriptômica espacial</a:t>
            </a:r>
            <a:endParaRPr sz="1500" b="1" i="1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7" name="Google Shape;427;p29"/>
          <p:cNvSpPr txBox="1"/>
          <p:nvPr/>
        </p:nvSpPr>
        <p:spPr>
          <a:xfrm>
            <a:off x="3438450" y="232670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2016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8" name="Google Shape;428;p29"/>
          <p:cNvSpPr txBox="1"/>
          <p:nvPr/>
        </p:nvSpPr>
        <p:spPr>
          <a:xfrm>
            <a:off x="254000" y="232670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2000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29" name="Google Shape;42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55100" y="702550"/>
            <a:ext cx="3650775" cy="280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2475" y="3579925"/>
            <a:ext cx="4630024" cy="10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188" y="502800"/>
            <a:ext cx="4132600" cy="14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RNA-seq espacial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Evolução de tecnologias</a:t>
            </a:r>
            <a:endParaRPr sz="1800"/>
          </a:p>
        </p:txBody>
      </p:sp>
      <p:cxnSp>
        <p:nvCxnSpPr>
          <p:cNvPr id="437" name="Google Shape;437;p30"/>
          <p:cNvCxnSpPr/>
          <p:nvPr/>
        </p:nvCxnSpPr>
        <p:spPr>
          <a:xfrm rot="10800000" flipH="1">
            <a:off x="596025" y="2770550"/>
            <a:ext cx="3311100" cy="4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38" name="Google Shape;438;p30"/>
          <p:cNvSpPr txBox="1"/>
          <p:nvPr/>
        </p:nvSpPr>
        <p:spPr>
          <a:xfrm>
            <a:off x="2227250" y="2916388"/>
            <a:ext cx="22623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Transcriptômica espacial</a:t>
            </a:r>
            <a:endParaRPr sz="1500" b="1" i="1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9" name="Google Shape;439;p30"/>
          <p:cNvSpPr txBox="1"/>
          <p:nvPr/>
        </p:nvSpPr>
        <p:spPr>
          <a:xfrm>
            <a:off x="3438450" y="232670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2016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0" name="Google Shape;440;p30"/>
          <p:cNvSpPr txBox="1"/>
          <p:nvPr/>
        </p:nvSpPr>
        <p:spPr>
          <a:xfrm>
            <a:off x="254000" y="232670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2000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41" name="Google Shape;441;p30"/>
          <p:cNvCxnSpPr/>
          <p:nvPr/>
        </p:nvCxnSpPr>
        <p:spPr>
          <a:xfrm rot="10800000" flipH="1">
            <a:off x="3852000" y="2770550"/>
            <a:ext cx="1224000" cy="4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442" name="Google Shape;442;p30"/>
          <p:cNvSpPr txBox="1"/>
          <p:nvPr/>
        </p:nvSpPr>
        <p:spPr>
          <a:xfrm>
            <a:off x="4604975" y="2326700"/>
            <a:ext cx="8259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2019</a:t>
            </a:r>
            <a:endParaRPr sz="12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3" name="Google Shape;443;p30"/>
          <p:cNvSpPr txBox="1"/>
          <p:nvPr/>
        </p:nvSpPr>
        <p:spPr>
          <a:xfrm>
            <a:off x="4016975" y="3162400"/>
            <a:ext cx="1239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Slide-Seq 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44" name="Google Shape;444;p30"/>
          <p:cNvCxnSpPr/>
          <p:nvPr/>
        </p:nvCxnSpPr>
        <p:spPr>
          <a:xfrm flipH="1">
            <a:off x="4896125" y="2882600"/>
            <a:ext cx="120000" cy="3084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45" name="Google Shape;445;p30"/>
          <p:cNvCxnSpPr/>
          <p:nvPr/>
        </p:nvCxnSpPr>
        <p:spPr>
          <a:xfrm>
            <a:off x="5016125" y="2882600"/>
            <a:ext cx="243300" cy="606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46" name="Google Shape;446;p30"/>
          <p:cNvSpPr txBox="1"/>
          <p:nvPr/>
        </p:nvSpPr>
        <p:spPr>
          <a:xfrm>
            <a:off x="4654225" y="3437125"/>
            <a:ext cx="12399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Visium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47" name="Google Shape;44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70225" y="3644738"/>
            <a:ext cx="1523430" cy="979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07875" y="3546400"/>
            <a:ext cx="1622225" cy="129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64349" y="239750"/>
            <a:ext cx="4656476" cy="1467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1350" y="1674688"/>
            <a:ext cx="2262300" cy="184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RNA-seq espacial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Princípios</a:t>
            </a:r>
            <a:endParaRPr sz="1800"/>
          </a:p>
        </p:txBody>
      </p:sp>
      <p:pic>
        <p:nvPicPr>
          <p:cNvPr id="456" name="Google Shape;456;p31" descr="Exploring tissue architecture using spatial transcriptomics | Natu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3865" y="1442711"/>
            <a:ext cx="6014319" cy="25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1"/>
          <p:cNvSpPr txBox="1"/>
          <p:nvPr/>
        </p:nvSpPr>
        <p:spPr>
          <a:xfrm>
            <a:off x="6872748" y="1020400"/>
            <a:ext cx="1273500" cy="10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475" tIns="30225" rIns="60475" bIns="302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/>
              <a:buNone/>
            </a:pPr>
            <a:r>
              <a:rPr lang="pt-BR" sz="1852" b="0" i="0" u="none" strike="noStrike" cap="none">
                <a:solidFill>
                  <a:srgbClr val="292934"/>
                </a:solidFill>
                <a:latin typeface="EB Garamond"/>
                <a:ea typeface="EB Garamond"/>
                <a:cs typeface="EB Garamond"/>
                <a:sym typeface="EB Garamond"/>
              </a:rPr>
              <a:t>10x Visium</a:t>
            </a:r>
            <a:endParaRPr sz="1852" b="0" i="0" u="none" strike="noStrike" cap="none">
              <a:solidFill>
                <a:srgbClr val="292934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9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/>
              <a:buNone/>
            </a:pPr>
            <a:r>
              <a:rPr lang="pt-BR" sz="1852" b="0" i="0" u="none" strike="noStrike" cap="none">
                <a:solidFill>
                  <a:srgbClr val="292934"/>
                </a:solidFill>
                <a:latin typeface="EB Garamond"/>
                <a:ea typeface="EB Garamond"/>
                <a:cs typeface="EB Garamond"/>
                <a:sym typeface="EB Garamond"/>
              </a:rPr>
              <a:t>GeoMX</a:t>
            </a:r>
            <a:endParaRPr sz="1852" b="0" i="0" u="none" strike="noStrike" cap="none">
              <a:solidFill>
                <a:srgbClr val="292934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9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/>
              <a:buNone/>
            </a:pPr>
            <a:r>
              <a:rPr lang="pt-BR" sz="1852" b="0" i="0" u="none" strike="noStrike" cap="none">
                <a:solidFill>
                  <a:srgbClr val="292934"/>
                </a:solidFill>
                <a:latin typeface="EB Garamond"/>
                <a:ea typeface="EB Garamond"/>
                <a:cs typeface="EB Garamond"/>
                <a:sym typeface="EB Garamond"/>
              </a:rPr>
              <a:t>BMKMANU</a:t>
            </a:r>
            <a:endParaRPr sz="92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9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/>
              <a:buNone/>
            </a:pPr>
            <a:r>
              <a:rPr lang="pt-BR" sz="1852" b="0" i="0" u="none" strike="noStrike" cap="none">
                <a:solidFill>
                  <a:srgbClr val="292934"/>
                </a:solidFill>
                <a:latin typeface="EB Garamond"/>
                <a:ea typeface="EB Garamond"/>
                <a:cs typeface="EB Garamond"/>
                <a:sym typeface="EB Garamond"/>
              </a:rPr>
              <a:t>Stereo-Seq</a:t>
            </a:r>
            <a:endParaRPr sz="92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1"/>
          <p:cNvSpPr txBox="1"/>
          <p:nvPr/>
        </p:nvSpPr>
        <p:spPr>
          <a:xfrm>
            <a:off x="821864" y="3191734"/>
            <a:ext cx="1057800" cy="10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475" tIns="30225" rIns="60475" bIns="302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124"/>
              <a:buFont typeface="Arial"/>
              <a:buNone/>
            </a:pPr>
            <a:r>
              <a:rPr lang="pt-BR" sz="1323" b="0" i="0" u="none" strike="noStrike" cap="none">
                <a:solidFill>
                  <a:srgbClr val="292934"/>
                </a:solidFill>
                <a:latin typeface="EB Garamond"/>
                <a:ea typeface="EB Garamond"/>
                <a:cs typeface="EB Garamond"/>
                <a:sym typeface="EB Garamond"/>
              </a:rPr>
              <a:t>10x Xenium</a:t>
            </a:r>
            <a:endParaRPr sz="92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93A299"/>
              </a:buClr>
              <a:buSzPts val="1124"/>
              <a:buFont typeface="Arial"/>
              <a:buNone/>
            </a:pPr>
            <a:r>
              <a:rPr lang="pt-BR" sz="1323" b="0" i="0" u="none" strike="noStrike" cap="none">
                <a:solidFill>
                  <a:srgbClr val="292934"/>
                </a:solidFill>
                <a:latin typeface="EB Garamond"/>
                <a:ea typeface="EB Garamond"/>
                <a:cs typeface="EB Garamond"/>
                <a:sym typeface="EB Garamond"/>
              </a:rPr>
              <a:t>CosMX</a:t>
            </a:r>
            <a:endParaRPr sz="1323" b="0" i="0" u="none" strike="noStrike" cap="none">
              <a:solidFill>
                <a:srgbClr val="292934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59" name="Google Shape;459;p31"/>
          <p:cNvSpPr txBox="1"/>
          <p:nvPr/>
        </p:nvSpPr>
        <p:spPr>
          <a:xfrm>
            <a:off x="2740442" y="3989099"/>
            <a:ext cx="1637100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475" tIns="30225" rIns="60475" bIns="302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124"/>
              <a:buFont typeface="Arial"/>
              <a:buNone/>
            </a:pPr>
            <a:r>
              <a:rPr lang="pt-BR" sz="1323" b="0" i="0" u="none" strike="noStrike" cap="none">
                <a:solidFill>
                  <a:srgbClr val="292934"/>
                </a:solidFill>
                <a:latin typeface="EB Garamond"/>
                <a:ea typeface="EB Garamond"/>
                <a:cs typeface="EB Garamond"/>
                <a:sym typeface="EB Garamond"/>
              </a:rPr>
              <a:t>Molecular Cartography</a:t>
            </a:r>
            <a:endParaRPr sz="92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93A299"/>
              </a:buClr>
              <a:buSzPts val="1124"/>
              <a:buFont typeface="Arial"/>
              <a:buNone/>
            </a:pPr>
            <a:r>
              <a:rPr lang="pt-BR" sz="1323" b="0" i="0" u="none" strike="noStrike" cap="none">
                <a:solidFill>
                  <a:srgbClr val="292934"/>
                </a:solidFill>
                <a:latin typeface="EB Garamond"/>
                <a:ea typeface="EB Garamond"/>
                <a:cs typeface="EB Garamond"/>
                <a:sym typeface="EB Garamond"/>
              </a:rPr>
              <a:t>MERSCOPE</a:t>
            </a:r>
            <a:endParaRPr sz="92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1"/>
          <p:cNvSpPr/>
          <p:nvPr/>
        </p:nvSpPr>
        <p:spPr>
          <a:xfrm>
            <a:off x="638975" y="1340156"/>
            <a:ext cx="7964100" cy="3431400"/>
          </a:xfrm>
          <a:prstGeom prst="rect">
            <a:avLst/>
          </a:prstGeom>
          <a:solidFill>
            <a:srgbClr val="FFFFFF">
              <a:alpha val="85882"/>
            </a:srgbClr>
          </a:solidFill>
          <a:ln>
            <a:noFill/>
          </a:ln>
        </p:spPr>
        <p:txBody>
          <a:bodyPr spcFirstLastPara="1" wrap="square" lIns="60475" tIns="30225" rIns="60475" bIns="302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/>
              <a:buNone/>
            </a:pPr>
            <a:endParaRPr sz="119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1" name="Google Shape;461;p31"/>
          <p:cNvGrpSpPr/>
          <p:nvPr/>
        </p:nvGrpSpPr>
        <p:grpSpPr>
          <a:xfrm>
            <a:off x="2533519" y="2225088"/>
            <a:ext cx="3958004" cy="253475"/>
            <a:chOff x="3139319" y="3262704"/>
            <a:chExt cx="5773893" cy="382200"/>
          </a:xfrm>
        </p:grpSpPr>
        <p:sp>
          <p:nvSpPr>
            <p:cNvPr id="462" name="Google Shape;462;p31"/>
            <p:cNvSpPr/>
            <p:nvPr/>
          </p:nvSpPr>
          <p:spPr>
            <a:xfrm>
              <a:off x="3139319" y="3262704"/>
              <a:ext cx="5282400" cy="382200"/>
            </a:xfrm>
            <a:prstGeom prst="rtTriangle">
              <a:avLst/>
            </a:prstGeom>
            <a:solidFill>
              <a:srgbClr val="D2533C">
                <a:alpha val="80000"/>
              </a:srgbClr>
            </a:solidFill>
            <a:ln>
              <a:noFill/>
            </a:ln>
          </p:spPr>
          <p:txBody>
            <a:bodyPr spcFirstLastPara="1" wrap="square" lIns="60475" tIns="30225" rIns="60475" bIns="302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1"/>
            <p:cNvSpPr/>
            <p:nvPr/>
          </p:nvSpPr>
          <p:spPr>
            <a:xfrm flipH="1">
              <a:off x="3630812" y="3262704"/>
              <a:ext cx="5282400" cy="382200"/>
            </a:xfrm>
            <a:prstGeom prst="rtTriangle">
              <a:avLst/>
            </a:prstGeom>
            <a:solidFill>
              <a:srgbClr val="0070C0">
                <a:alpha val="80000"/>
              </a:srgbClr>
            </a:solidFill>
            <a:ln>
              <a:noFill/>
            </a:ln>
          </p:spPr>
          <p:txBody>
            <a:bodyPr spcFirstLastPara="1" wrap="square" lIns="60475" tIns="30225" rIns="60475" bIns="302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4" name="Google Shape;464;p31"/>
          <p:cNvSpPr txBox="1"/>
          <p:nvPr/>
        </p:nvSpPr>
        <p:spPr>
          <a:xfrm>
            <a:off x="1260017" y="2124636"/>
            <a:ext cx="12735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475" tIns="30225" rIns="60475" bIns="302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574"/>
              <a:buFont typeface="Arial"/>
              <a:buNone/>
            </a:pPr>
            <a:r>
              <a:rPr lang="pt-BR" sz="1852" b="1" i="0" u="none" strike="noStrike" cap="none">
                <a:solidFill>
                  <a:srgbClr val="292934"/>
                </a:solidFill>
                <a:latin typeface="EB Garamond"/>
                <a:ea typeface="EB Garamond"/>
                <a:cs typeface="EB Garamond"/>
                <a:sym typeface="EB Garamond"/>
              </a:rPr>
              <a:t>Resolução</a:t>
            </a:r>
            <a:endParaRPr sz="1852" b="1" i="0" u="none" strike="noStrike" cap="none">
              <a:solidFill>
                <a:srgbClr val="292934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65" name="Google Shape;465;p31"/>
          <p:cNvSpPr txBox="1"/>
          <p:nvPr/>
        </p:nvSpPr>
        <p:spPr>
          <a:xfrm>
            <a:off x="6376595" y="2124636"/>
            <a:ext cx="16635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475" tIns="30225" rIns="60475" bIns="302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574"/>
              <a:buFont typeface="Arial"/>
              <a:buNone/>
            </a:pPr>
            <a:r>
              <a:rPr lang="pt-BR" sz="1852" b="1" i="0" u="none" strike="noStrike" cap="none">
                <a:solidFill>
                  <a:srgbClr val="292934"/>
                </a:solidFill>
                <a:latin typeface="EB Garamond"/>
                <a:ea typeface="EB Garamond"/>
                <a:cs typeface="EB Garamond"/>
                <a:sym typeface="EB Garamond"/>
              </a:rPr>
              <a:t>Desempenho</a:t>
            </a:r>
            <a:endParaRPr sz="1852" b="1" i="0" u="none" strike="noStrike" cap="none">
              <a:solidFill>
                <a:srgbClr val="292934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466" name="Google Shape;466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563" y="2458762"/>
            <a:ext cx="6960873" cy="1795338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1"/>
          <p:cNvSpPr txBox="1"/>
          <p:nvPr/>
        </p:nvSpPr>
        <p:spPr>
          <a:xfrm>
            <a:off x="5868025" y="4254089"/>
            <a:ext cx="2182500" cy="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475" tIns="30225" rIns="60475" bIns="302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899"/>
              <a:buFont typeface="Arial"/>
              <a:buNone/>
            </a:pPr>
            <a:r>
              <a:rPr lang="pt-BR" sz="1058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(Wang, Y. </a:t>
            </a:r>
            <a:r>
              <a:rPr lang="pt-BR" sz="1058" b="0" i="1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et al., </a:t>
            </a:r>
            <a:r>
              <a:rPr lang="pt-BR" sz="1058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Genomics 2023)</a:t>
            </a:r>
            <a:endParaRPr sz="926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32" descr="An introduction to RNA seq data analysi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223" y="1867763"/>
            <a:ext cx="2323155" cy="148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2" descr="Single cell RNA sequencing – NGS Analysi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7792" y="1763502"/>
            <a:ext cx="2258694" cy="1694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2" descr="Exploring tissue architecture using spatial transcriptomics | Natur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38252" y="1966401"/>
            <a:ext cx="3001478" cy="128822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2"/>
          <p:cNvSpPr txBox="1"/>
          <p:nvPr/>
        </p:nvSpPr>
        <p:spPr>
          <a:xfrm>
            <a:off x="772889" y="1065300"/>
            <a:ext cx="14877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bulk RNAseq</a:t>
            </a:r>
            <a:endParaRPr sz="1793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6" name="Google Shape;476;p32"/>
          <p:cNvSpPr txBox="1"/>
          <p:nvPr/>
        </p:nvSpPr>
        <p:spPr>
          <a:xfrm>
            <a:off x="3617483" y="1065311"/>
            <a:ext cx="14193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scRNAseq</a:t>
            </a:r>
            <a:endParaRPr sz="1793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7" name="Google Shape;477;p32"/>
          <p:cNvSpPr txBox="1"/>
          <p:nvPr/>
        </p:nvSpPr>
        <p:spPr>
          <a:xfrm>
            <a:off x="5920888" y="1065311"/>
            <a:ext cx="28362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Spatial Transcriptomics</a:t>
            </a:r>
            <a:endParaRPr sz="1793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8" name="Google Shape;478;p32"/>
          <p:cNvSpPr txBox="1"/>
          <p:nvPr/>
        </p:nvSpPr>
        <p:spPr>
          <a:xfrm>
            <a:off x="6392549" y="1427819"/>
            <a:ext cx="1893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2016</a:t>
            </a:r>
            <a:endParaRPr sz="1793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9" name="Google Shape;479;p32"/>
          <p:cNvSpPr txBox="1"/>
          <p:nvPr/>
        </p:nvSpPr>
        <p:spPr>
          <a:xfrm>
            <a:off x="148504" y="3708843"/>
            <a:ext cx="1161300" cy="15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524"/>
              <a:buFont typeface="Arial"/>
              <a:buNone/>
            </a:pPr>
            <a:r>
              <a:rPr lang="pt-BR" sz="1793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RNA</a:t>
            </a:r>
            <a:endParaRPr sz="1046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359"/>
              </a:spcBef>
              <a:spcAft>
                <a:spcPts val="0"/>
              </a:spcAft>
              <a:buClr>
                <a:srgbClr val="93A299"/>
              </a:buClr>
              <a:buSzPts val="1524"/>
              <a:buFont typeface="Arial"/>
              <a:buNone/>
            </a:pPr>
            <a:r>
              <a:rPr lang="pt-BR" sz="1793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Célula</a:t>
            </a:r>
            <a:endParaRPr sz="1793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359"/>
              </a:spcBef>
              <a:spcAft>
                <a:spcPts val="0"/>
              </a:spcAft>
              <a:buClr>
                <a:srgbClr val="93A299"/>
              </a:buClr>
              <a:buSzPts val="1524"/>
              <a:buFont typeface="Arial"/>
              <a:buNone/>
            </a:pPr>
            <a:r>
              <a:rPr lang="pt-BR" sz="1793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Tecido</a:t>
            </a:r>
            <a:endParaRPr sz="1793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0" name="Google Shape;480;p32"/>
          <p:cNvSpPr txBox="1"/>
          <p:nvPr/>
        </p:nvSpPr>
        <p:spPr>
          <a:xfrm>
            <a:off x="591359" y="1427819"/>
            <a:ext cx="1893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524"/>
              <a:buFont typeface="Arial"/>
              <a:buNone/>
            </a:pPr>
            <a:r>
              <a:rPr lang="pt-BR" sz="1793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2006</a:t>
            </a:r>
            <a:endParaRPr sz="1046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1" name="Google Shape;481;p32"/>
          <p:cNvSpPr txBox="1"/>
          <p:nvPr/>
        </p:nvSpPr>
        <p:spPr>
          <a:xfrm>
            <a:off x="3380698" y="1427819"/>
            <a:ext cx="1893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524"/>
              <a:buFont typeface="Arial"/>
              <a:buNone/>
            </a:pPr>
            <a:r>
              <a:rPr lang="pt-BR" sz="1793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2009</a:t>
            </a:r>
            <a:endParaRPr sz="1046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82" name="Google Shape;482;p32"/>
          <p:cNvCxnSpPr/>
          <p:nvPr/>
        </p:nvCxnSpPr>
        <p:spPr>
          <a:xfrm>
            <a:off x="2331862" y="1425341"/>
            <a:ext cx="1048800" cy="0"/>
          </a:xfrm>
          <a:prstGeom prst="straightConnector1">
            <a:avLst/>
          </a:prstGeom>
          <a:noFill/>
          <a:ln w="21350" cap="flat" cmpd="sng">
            <a:solidFill>
              <a:srgbClr val="D2533C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3" name="Google Shape;483;p32"/>
          <p:cNvCxnSpPr/>
          <p:nvPr/>
        </p:nvCxnSpPr>
        <p:spPr>
          <a:xfrm>
            <a:off x="5036796" y="1432685"/>
            <a:ext cx="952200" cy="0"/>
          </a:xfrm>
          <a:prstGeom prst="straightConnector1">
            <a:avLst/>
          </a:prstGeom>
          <a:noFill/>
          <a:ln w="21350" cap="flat" cmpd="sng">
            <a:solidFill>
              <a:srgbClr val="D2533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4" name="Google Shape;484;p32"/>
          <p:cNvSpPr txBox="1"/>
          <p:nvPr/>
        </p:nvSpPr>
        <p:spPr>
          <a:xfrm>
            <a:off x="1373288" y="3673576"/>
            <a:ext cx="3288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778"/>
              <a:buFont typeface="Arial"/>
              <a:buNone/>
            </a:pPr>
            <a:r>
              <a:rPr lang="pt-BR" sz="2091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endParaRPr sz="1046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5" name="Google Shape;485;p32"/>
          <p:cNvSpPr txBox="1"/>
          <p:nvPr/>
        </p:nvSpPr>
        <p:spPr>
          <a:xfrm>
            <a:off x="4162627" y="3673576"/>
            <a:ext cx="3288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778"/>
              <a:buFont typeface="Arial"/>
              <a:buNone/>
            </a:pPr>
            <a:r>
              <a:rPr lang="pt-BR" sz="2091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endParaRPr sz="1046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6" name="Google Shape;486;p32"/>
          <p:cNvSpPr txBox="1"/>
          <p:nvPr/>
        </p:nvSpPr>
        <p:spPr>
          <a:xfrm>
            <a:off x="4162627" y="4086149"/>
            <a:ext cx="3288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778"/>
              <a:buFont typeface="Arial"/>
              <a:buNone/>
            </a:pPr>
            <a:r>
              <a:rPr lang="pt-BR" sz="2091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endParaRPr sz="1046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7" name="Google Shape;487;p32"/>
          <p:cNvSpPr txBox="1"/>
          <p:nvPr/>
        </p:nvSpPr>
        <p:spPr>
          <a:xfrm>
            <a:off x="7174478" y="3673576"/>
            <a:ext cx="3288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778"/>
              <a:buFont typeface="Arial"/>
              <a:buNone/>
            </a:pPr>
            <a:r>
              <a:rPr lang="pt-BR" sz="2091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endParaRPr sz="1046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8" name="Google Shape;488;p32"/>
          <p:cNvSpPr txBox="1"/>
          <p:nvPr/>
        </p:nvSpPr>
        <p:spPr>
          <a:xfrm>
            <a:off x="7174478" y="4086149"/>
            <a:ext cx="3288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778"/>
              <a:buFont typeface="Arial"/>
              <a:buNone/>
            </a:pPr>
            <a:r>
              <a:rPr lang="pt-BR" sz="2091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endParaRPr sz="1046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9" name="Google Shape;489;p32"/>
          <p:cNvSpPr txBox="1"/>
          <p:nvPr/>
        </p:nvSpPr>
        <p:spPr>
          <a:xfrm>
            <a:off x="7174478" y="4516079"/>
            <a:ext cx="3288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778"/>
              <a:buFont typeface="Arial"/>
              <a:buNone/>
            </a:pPr>
            <a:r>
              <a:rPr lang="pt-BR" sz="2091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endParaRPr sz="1046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0" name="Google Shape;490;p32"/>
          <p:cNvSpPr/>
          <p:nvPr/>
        </p:nvSpPr>
        <p:spPr>
          <a:xfrm>
            <a:off x="148500" y="1478104"/>
            <a:ext cx="8995500" cy="2116200"/>
          </a:xfrm>
          <a:prstGeom prst="rect">
            <a:avLst/>
          </a:prstGeom>
          <a:solidFill>
            <a:srgbClr val="FFFFFF">
              <a:alpha val="85882"/>
            </a:srgbClr>
          </a:solidFill>
          <a:ln>
            <a:noFill/>
          </a:ln>
        </p:spPr>
        <p:txBody>
          <a:bodyPr spcFirstLastPara="1" wrap="square" lIns="68275" tIns="34125" rIns="68275" bIns="34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4"/>
              <a:buFont typeface="Arial"/>
              <a:buNone/>
            </a:pPr>
            <a:endParaRPr sz="1344" i="0" u="none" strike="noStrike" cap="non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1" name="Google Shape;491;p32"/>
          <p:cNvSpPr txBox="1"/>
          <p:nvPr/>
        </p:nvSpPr>
        <p:spPr>
          <a:xfrm>
            <a:off x="879693" y="2277440"/>
            <a:ext cx="11631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OBJETO</a:t>
            </a:r>
            <a:endParaRPr sz="1793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2" name="Google Shape;492;p32"/>
          <p:cNvSpPr txBox="1"/>
          <p:nvPr/>
        </p:nvSpPr>
        <p:spPr>
          <a:xfrm>
            <a:off x="3745534" y="2277440"/>
            <a:ext cx="11631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SUJEITO</a:t>
            </a:r>
            <a:endParaRPr sz="1793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3" name="Google Shape;493;p32"/>
          <p:cNvSpPr txBox="1"/>
          <p:nvPr/>
        </p:nvSpPr>
        <p:spPr>
          <a:xfrm>
            <a:off x="6921898" y="2277440"/>
            <a:ext cx="14877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CONTEXTO</a:t>
            </a:r>
            <a:endParaRPr sz="1793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4" name="Google Shape;494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RNA-seq espacial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Princípios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RNA-seq espacial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Princípios</a:t>
            </a:r>
            <a:endParaRPr sz="1800"/>
          </a:p>
        </p:txBody>
      </p:sp>
      <p:sp>
        <p:nvSpPr>
          <p:cNvPr id="500" name="Google Shape;500;p33"/>
          <p:cNvSpPr txBox="1"/>
          <p:nvPr/>
        </p:nvSpPr>
        <p:spPr>
          <a:xfrm>
            <a:off x="121189" y="1691250"/>
            <a:ext cx="14877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bulk RNAseq</a:t>
            </a:r>
            <a:endParaRPr sz="1793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1" name="Google Shape;501;p33"/>
          <p:cNvSpPr txBox="1"/>
          <p:nvPr/>
        </p:nvSpPr>
        <p:spPr>
          <a:xfrm>
            <a:off x="2965773" y="1691261"/>
            <a:ext cx="14193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scRNAseq</a:t>
            </a:r>
            <a:endParaRPr sz="1793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2" name="Google Shape;502;p33"/>
          <p:cNvSpPr txBox="1"/>
          <p:nvPr/>
        </p:nvSpPr>
        <p:spPr>
          <a:xfrm>
            <a:off x="5922336" y="1691261"/>
            <a:ext cx="28362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Spatial Transcriptomics</a:t>
            </a:r>
            <a:endParaRPr sz="1793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03" name="Google Shape;50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142" y="2404370"/>
            <a:ext cx="1379795" cy="1889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2876" y="2426342"/>
            <a:ext cx="3445094" cy="1845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00312" y="2202235"/>
            <a:ext cx="3480248" cy="22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3"/>
          <p:cNvSpPr/>
          <p:nvPr/>
        </p:nvSpPr>
        <p:spPr>
          <a:xfrm>
            <a:off x="5742225" y="2612561"/>
            <a:ext cx="3252000" cy="435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D253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RNA-seq espacial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Princípios - Tecnologia Visium</a:t>
            </a:r>
            <a:endParaRPr sz="1800"/>
          </a:p>
        </p:txBody>
      </p:sp>
      <p:sp>
        <p:nvSpPr>
          <p:cNvPr id="512" name="Google Shape;512;p34"/>
          <p:cNvSpPr txBox="1">
            <a:spLocks noGrp="1"/>
          </p:cNvSpPr>
          <p:nvPr>
            <p:ph type="body" idx="1"/>
          </p:nvPr>
        </p:nvSpPr>
        <p:spPr>
          <a:xfrm>
            <a:off x="733200" y="1324600"/>
            <a:ext cx="3431100" cy="3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500">
                <a:solidFill>
                  <a:schemeClr val="dk1"/>
                </a:solidFill>
              </a:rPr>
              <a:t>Visium Spatial Gene Expression</a:t>
            </a:r>
            <a:endParaRPr sz="15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500">
              <a:solidFill>
                <a:schemeClr val="dk1"/>
              </a:solidFill>
            </a:endParaRPr>
          </a:p>
        </p:txBody>
      </p:sp>
      <p:pic>
        <p:nvPicPr>
          <p:cNvPr id="513" name="Google Shape;51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188" y="1793150"/>
            <a:ext cx="7685624" cy="292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4"/>
          <p:cNvSpPr txBox="1"/>
          <p:nvPr/>
        </p:nvSpPr>
        <p:spPr>
          <a:xfrm>
            <a:off x="6531425" y="4303825"/>
            <a:ext cx="24123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rPr lang="pt-BR" sz="2493" b="1" i="0" u="none" strike="noStrike" cap="none">
                <a:solidFill>
                  <a:srgbClr val="292934"/>
                </a:solidFill>
                <a:highlight>
                  <a:srgbClr val="D2533C"/>
                </a:highlight>
                <a:latin typeface="Proxima Nova"/>
                <a:ea typeface="Proxima Nova"/>
                <a:cs typeface="Proxima Nova"/>
                <a:sym typeface="Proxima Nova"/>
              </a:rPr>
              <a:t>Visium v1 &amp;</a:t>
            </a:r>
            <a:r>
              <a:rPr lang="pt-BR" sz="2693" b="1" i="0" u="none" strike="noStrike" cap="none">
                <a:solidFill>
                  <a:srgbClr val="292934"/>
                </a:solidFill>
                <a:highlight>
                  <a:srgbClr val="D2533C"/>
                </a:highlight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pt-BR" sz="2493" b="1" i="0" u="none" strike="noStrike" cap="none">
                <a:solidFill>
                  <a:srgbClr val="292934"/>
                </a:solidFill>
                <a:highlight>
                  <a:srgbClr val="D2533C"/>
                </a:highlight>
                <a:latin typeface="Proxima Nova"/>
                <a:ea typeface="Proxima Nova"/>
                <a:cs typeface="Proxima Nova"/>
                <a:sym typeface="Proxima Nova"/>
              </a:rPr>
              <a:t>v2</a:t>
            </a:r>
            <a:endParaRPr sz="2493" b="1" i="0" u="none" strike="noStrike" cap="none">
              <a:solidFill>
                <a:srgbClr val="292934"/>
              </a:solidFill>
              <a:highlight>
                <a:srgbClr val="D2533C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RNA-seq espacial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Princípios - Tecnologia Visium</a:t>
            </a:r>
            <a:endParaRPr sz="1800"/>
          </a:p>
        </p:txBody>
      </p:sp>
      <p:sp>
        <p:nvSpPr>
          <p:cNvPr id="520" name="Google Shape;520;p35"/>
          <p:cNvSpPr txBox="1"/>
          <p:nvPr/>
        </p:nvSpPr>
        <p:spPr>
          <a:xfrm>
            <a:off x="1306275" y="1596000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Visium: 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1" name="Google Shape;521;p35"/>
          <p:cNvSpPr txBox="1"/>
          <p:nvPr/>
        </p:nvSpPr>
        <p:spPr>
          <a:xfrm>
            <a:off x="3615420" y="1596000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v1 &amp;v2 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2" name="Google Shape;522;p35"/>
          <p:cNvSpPr txBox="1"/>
          <p:nvPr/>
        </p:nvSpPr>
        <p:spPr>
          <a:xfrm>
            <a:off x="405675" y="2279075"/>
            <a:ext cx="24246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Diâmetro do Spot: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3" name="Google Shape;523;p35"/>
          <p:cNvSpPr txBox="1"/>
          <p:nvPr/>
        </p:nvSpPr>
        <p:spPr>
          <a:xfrm>
            <a:off x="5806173" y="1596000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HD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4" name="Google Shape;524;p35"/>
          <p:cNvSpPr txBox="1"/>
          <p:nvPr/>
        </p:nvSpPr>
        <p:spPr>
          <a:xfrm>
            <a:off x="405675" y="3234300"/>
            <a:ext cx="24246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~Células por Spot: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5" name="Google Shape;525;p35"/>
          <p:cNvSpPr txBox="1"/>
          <p:nvPr/>
        </p:nvSpPr>
        <p:spPr>
          <a:xfrm>
            <a:off x="3615420" y="227907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55</a:t>
            </a:r>
            <a:r>
              <a:rPr lang="pt-BR" sz="20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µ</a:t>
            </a: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6" name="Google Shape;526;p35"/>
          <p:cNvSpPr txBox="1"/>
          <p:nvPr/>
        </p:nvSpPr>
        <p:spPr>
          <a:xfrm>
            <a:off x="5806173" y="227907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pt-BR" sz="20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µ</a:t>
            </a: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27" name="Google Shape;527;p35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3571880" y="3861857"/>
            <a:ext cx="754068" cy="7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5"/>
          <p:cNvSpPr txBox="1"/>
          <p:nvPr/>
        </p:nvSpPr>
        <p:spPr>
          <a:xfrm>
            <a:off x="3615420" y="3302332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1 a 10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9" name="Google Shape;529;p35"/>
          <p:cNvSpPr txBox="1"/>
          <p:nvPr/>
        </p:nvSpPr>
        <p:spPr>
          <a:xfrm>
            <a:off x="5806173" y="3302332"/>
            <a:ext cx="1524000" cy="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até 1 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(subcelular)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30" name="Google Shape;530;p35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6191139" y="3919000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5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3724280" y="4014257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5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3876680" y="4166657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5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029080" y="4319057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5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241351" y="3742114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5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393751" y="3894514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5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546151" y="4046914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5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698551" y="4199314"/>
            <a:ext cx="754068" cy="7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a37cb035d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RNA-seq espacial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Princípios - Tecnologia Visium</a:t>
            </a:r>
            <a:endParaRPr sz="1800"/>
          </a:p>
        </p:txBody>
      </p:sp>
      <p:sp>
        <p:nvSpPr>
          <p:cNvPr id="543" name="Google Shape;543;g3fa37cb035d_0_0"/>
          <p:cNvSpPr txBox="1"/>
          <p:nvPr/>
        </p:nvSpPr>
        <p:spPr>
          <a:xfrm>
            <a:off x="311700" y="4390375"/>
            <a:ext cx="44334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 i="0" u="sng" strike="noStrike" cap="none">
                <a:solidFill>
                  <a:srgbClr val="3C78D8"/>
                </a:solidFill>
                <a:latin typeface="Proxima Nova"/>
                <a:ea typeface="Proxima Nova"/>
                <a:cs typeface="Proxima Nova"/>
                <a:sym typeface="Proxima Nov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Visium HD paper</a:t>
            </a:r>
            <a:r>
              <a:rPr lang="pt-BR" sz="1793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Oliveira </a:t>
            </a:r>
            <a:r>
              <a:rPr lang="pt-BR" sz="1793" b="1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et al.</a:t>
            </a:r>
            <a:r>
              <a:rPr lang="pt-BR" sz="1793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(2025)</a:t>
            </a:r>
            <a:endParaRPr sz="1793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44" name="Google Shape;544;g3fa37cb035d_0_0"/>
          <p:cNvSpPr txBox="1"/>
          <p:nvPr/>
        </p:nvSpPr>
        <p:spPr>
          <a:xfrm>
            <a:off x="7089320" y="3183463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latin typeface="Proxima Nova"/>
                <a:ea typeface="Proxima Nova"/>
                <a:cs typeface="Proxima Nova"/>
                <a:sym typeface="Proxima Nova"/>
              </a:rPr>
              <a:t>Visium </a:t>
            </a:r>
            <a:r>
              <a:rPr lang="pt-BR" sz="2000" b="1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v2 </a:t>
            </a:r>
            <a:endParaRPr sz="2000" b="1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45" name="Google Shape;545;g3fa37cb035d_0_0"/>
          <p:cNvSpPr txBox="1"/>
          <p:nvPr/>
        </p:nvSpPr>
        <p:spPr>
          <a:xfrm>
            <a:off x="7089323" y="197657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latin typeface="Proxima Nova"/>
                <a:ea typeface="Proxima Nova"/>
                <a:cs typeface="Proxima Nova"/>
                <a:sym typeface="Proxima Nova"/>
              </a:rPr>
              <a:t>Visium </a:t>
            </a:r>
            <a:r>
              <a:rPr lang="pt-BR" sz="2000" b="1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HD</a:t>
            </a:r>
            <a:endParaRPr sz="2000" b="1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546" name="Google Shape;546;g3fa37cb035d_0_0"/>
          <p:cNvCxnSpPr>
            <a:endCxn id="545" idx="1"/>
          </p:cNvCxnSpPr>
          <p:nvPr/>
        </p:nvCxnSpPr>
        <p:spPr>
          <a:xfrm rot="10800000" flipH="1">
            <a:off x="6080723" y="2164975"/>
            <a:ext cx="1008600" cy="33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47" name="Google Shape;547;g3fa37cb035d_0_0"/>
          <p:cNvCxnSpPr>
            <a:endCxn id="544" idx="1"/>
          </p:cNvCxnSpPr>
          <p:nvPr/>
        </p:nvCxnSpPr>
        <p:spPr>
          <a:xfrm>
            <a:off x="6069920" y="3364363"/>
            <a:ext cx="1019400" cy="7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548" name="Google Shape;548;g3fa37cb035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9327" y="3622025"/>
            <a:ext cx="2182625" cy="1352576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3fa37cb035d_0_0"/>
          <p:cNvSpPr txBox="1"/>
          <p:nvPr/>
        </p:nvSpPr>
        <p:spPr>
          <a:xfrm>
            <a:off x="7532873" y="4673118"/>
            <a:ext cx="12417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É do BR!!!</a:t>
            </a:r>
            <a:endParaRPr sz="1793" b="1" i="0" u="none" strike="noStrike" cap="non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50" name="Google Shape;550;g3fa37cb035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152424"/>
            <a:ext cx="5884931" cy="30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6"/>
          <p:cNvSpPr txBox="1">
            <a:spLocks noGrp="1"/>
          </p:cNvSpPr>
          <p:nvPr>
            <p:ph type="body" idx="1"/>
          </p:nvPr>
        </p:nvSpPr>
        <p:spPr>
          <a:xfrm>
            <a:off x="733200" y="1324600"/>
            <a:ext cx="3431100" cy="3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500">
                <a:solidFill>
                  <a:schemeClr val="dk1"/>
                </a:solidFill>
              </a:rPr>
              <a:t>Visium Spatial Gene Expression</a:t>
            </a:r>
            <a:endParaRPr sz="15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500">
              <a:solidFill>
                <a:schemeClr val="dk1"/>
              </a:solidFill>
            </a:endParaRPr>
          </a:p>
        </p:txBody>
      </p:sp>
      <p:pic>
        <p:nvPicPr>
          <p:cNvPr id="556" name="Google Shape;55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038" y="1823875"/>
            <a:ext cx="7207924" cy="27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 b="1"/>
              <a:t>RNA-seq espacial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800"/>
              <a:t>Princípios - Tecnologia Visium</a:t>
            </a:r>
            <a:endParaRPr sz="1800"/>
          </a:p>
        </p:txBody>
      </p:sp>
      <p:sp>
        <p:nvSpPr>
          <p:cNvPr id="558" name="Google Shape;558;p36"/>
          <p:cNvSpPr/>
          <p:nvPr/>
        </p:nvSpPr>
        <p:spPr>
          <a:xfrm rot="6209055">
            <a:off x="5766239" y="3602263"/>
            <a:ext cx="417559" cy="404899"/>
          </a:xfrm>
          <a:custGeom>
            <a:avLst/>
            <a:gdLst/>
            <a:ahLst/>
            <a:cxnLst/>
            <a:rect l="l" t="t" r="r" b="b"/>
            <a:pathLst>
              <a:path w="31897" h="34999" extrusionOk="0">
                <a:moveTo>
                  <a:pt x="31897" y="0"/>
                </a:moveTo>
                <a:cubicBezTo>
                  <a:pt x="23294" y="0"/>
                  <a:pt x="20667" y="13053"/>
                  <a:pt x="15505" y="19936"/>
                </a:cubicBezTo>
                <a:cubicBezTo>
                  <a:pt x="11182" y="25701"/>
                  <a:pt x="6445" y="31777"/>
                  <a:pt x="0" y="34999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36"/>
          <p:cNvSpPr txBox="1"/>
          <p:nvPr/>
        </p:nvSpPr>
        <p:spPr>
          <a:xfrm>
            <a:off x="5578925" y="4054950"/>
            <a:ext cx="1292700" cy="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3"/>
              <a:buFont typeface="Arial"/>
              <a:buNone/>
            </a:pPr>
            <a:r>
              <a:rPr lang="pt-BR" sz="1593" b="1" i="0" u="none" strike="noStrike" cap="none">
                <a:solidFill>
                  <a:srgbClr val="292934"/>
                </a:solidFill>
                <a:highlight>
                  <a:srgbClr val="D2533C"/>
                </a:highlight>
                <a:latin typeface="Proxima Nova"/>
                <a:ea typeface="Proxima Nova"/>
                <a:cs typeface="Proxima Nova"/>
                <a:sym typeface="Proxima Nova"/>
              </a:rPr>
              <a:t>Barcode com info XY</a:t>
            </a:r>
            <a:endParaRPr sz="1593" b="1" i="0" u="none" strike="noStrike" cap="none">
              <a:solidFill>
                <a:srgbClr val="292934"/>
              </a:solidFill>
              <a:highlight>
                <a:srgbClr val="D2533C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Conteúdos extras</a:t>
            </a:r>
            <a:endParaRPr/>
          </a:p>
        </p:txBody>
      </p:sp>
      <p:sp>
        <p:nvSpPr>
          <p:cNvPr id="565" name="Google Shape;565;p37"/>
          <p:cNvSpPr txBox="1">
            <a:spLocks noGrp="1"/>
          </p:cNvSpPr>
          <p:nvPr>
            <p:ph type="body" idx="1"/>
          </p:nvPr>
        </p:nvSpPr>
        <p:spPr>
          <a:xfrm>
            <a:off x="360625" y="1324600"/>
            <a:ext cx="6716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pt-BR" sz="1500">
                <a:solidFill>
                  <a:schemeClr val="dk1"/>
                </a:solidFill>
              </a:rPr>
              <a:t>Métodos de geração de bibliotecas de RNA-seq espacial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566" name="Google Shape;566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575" y="2022300"/>
            <a:ext cx="681025" cy="6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7"/>
          <p:cNvSpPr txBox="1"/>
          <p:nvPr/>
        </p:nvSpPr>
        <p:spPr>
          <a:xfrm>
            <a:off x="1403600" y="1946050"/>
            <a:ext cx="3921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Moffitt et al, 2022. DOI 10.1038/s41576-022-00515-3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 emerging landscape of spatial profiling technologies.</a:t>
            </a: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68" name="Google Shape;56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575" y="3070500"/>
            <a:ext cx="681025" cy="6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7"/>
          <p:cNvSpPr txBox="1"/>
          <p:nvPr/>
        </p:nvSpPr>
        <p:spPr>
          <a:xfrm>
            <a:off x="1403600" y="2994250"/>
            <a:ext cx="39210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Vídeo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Série Visium Spatial Gene Expression Protocol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https://www.youtube.com/playlist?list=PLfaSRwcfHcq1acX1nuTFcUGClpNRPEyHH</a:t>
            </a: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8"/>
          <p:cNvSpPr txBox="1">
            <a:spLocks noGrp="1"/>
          </p:cNvSpPr>
          <p:nvPr>
            <p:ph type="title"/>
          </p:nvPr>
        </p:nvSpPr>
        <p:spPr>
          <a:xfrm>
            <a:off x="449225" y="526350"/>
            <a:ext cx="82659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4500"/>
              <a:t>Análise de dados</a:t>
            </a:r>
            <a:endParaRPr sz="6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Passos da </a:t>
            </a:r>
            <a:r>
              <a:rPr lang="pt-BR" sz="2000" b="1"/>
              <a:t>análise de dados</a:t>
            </a:r>
            <a:r>
              <a:rPr lang="pt-BR" sz="2000"/>
              <a:t> de transcriptômica de alta resolução</a:t>
            </a:r>
            <a:endParaRPr/>
          </a:p>
        </p:txBody>
      </p:sp>
      <p:grpSp>
        <p:nvGrpSpPr>
          <p:cNvPr id="580" name="Google Shape;580;p39"/>
          <p:cNvGrpSpPr/>
          <p:nvPr/>
        </p:nvGrpSpPr>
        <p:grpSpPr>
          <a:xfrm>
            <a:off x="105699" y="756925"/>
            <a:ext cx="5336026" cy="731700"/>
            <a:chOff x="710674" y="1323175"/>
            <a:chExt cx="5336026" cy="731700"/>
          </a:xfrm>
        </p:grpSpPr>
        <p:sp>
          <p:nvSpPr>
            <p:cNvPr id="581" name="Google Shape;581;p39"/>
            <p:cNvSpPr txBox="1"/>
            <p:nvPr/>
          </p:nvSpPr>
          <p:spPr>
            <a:xfrm>
              <a:off x="710674" y="1373350"/>
              <a:ext cx="2004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Preparo da matriz de </a:t>
              </a:r>
              <a:r>
                <a:rPr lang="pt-BR" sz="1600" b="1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counts</a:t>
              </a:r>
              <a:endParaRPr sz="1600" b="1" i="1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582" name="Google Shape;582;p39"/>
            <p:cNvSpPr/>
            <p:nvPr/>
          </p:nvSpPr>
          <p:spPr>
            <a:xfrm>
              <a:off x="2789775" y="1323175"/>
              <a:ext cx="3256800" cy="731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583" name="Google Shape;583;p39"/>
            <p:cNvSpPr txBox="1"/>
            <p:nvPr/>
          </p:nvSpPr>
          <p:spPr>
            <a:xfrm>
              <a:off x="2914400" y="1407450"/>
              <a:ext cx="3132300" cy="5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Trimming</a:t>
              </a: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, controle de qualidade, alinhamento, contagem.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584" name="Google Shape;584;p39"/>
          <p:cNvGrpSpPr/>
          <p:nvPr/>
        </p:nvGrpSpPr>
        <p:grpSpPr>
          <a:xfrm>
            <a:off x="-604943" y="1664750"/>
            <a:ext cx="6432768" cy="731700"/>
            <a:chOff x="7" y="2207525"/>
            <a:chExt cx="6432768" cy="731700"/>
          </a:xfrm>
        </p:grpSpPr>
        <p:sp>
          <p:nvSpPr>
            <p:cNvPr id="585" name="Google Shape;585;p39"/>
            <p:cNvSpPr txBox="1"/>
            <p:nvPr/>
          </p:nvSpPr>
          <p:spPr>
            <a:xfrm>
              <a:off x="7" y="2257725"/>
              <a:ext cx="2715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Pré-processamento</a:t>
              </a:r>
              <a:endPara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586" name="Google Shape;586;p39"/>
            <p:cNvSpPr/>
            <p:nvPr/>
          </p:nvSpPr>
          <p:spPr>
            <a:xfrm>
              <a:off x="2789775" y="2207525"/>
              <a:ext cx="3642900" cy="731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587" name="Google Shape;587;p39"/>
            <p:cNvSpPr txBox="1"/>
            <p:nvPr/>
          </p:nvSpPr>
          <p:spPr>
            <a:xfrm>
              <a:off x="2914375" y="2414100"/>
              <a:ext cx="35184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Controle de qualidade, normalização, redução de dimensionalidade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588" name="Google Shape;588;p39"/>
          <p:cNvGrpSpPr/>
          <p:nvPr/>
        </p:nvGrpSpPr>
        <p:grpSpPr>
          <a:xfrm>
            <a:off x="150130" y="2546213"/>
            <a:ext cx="5677695" cy="629700"/>
            <a:chOff x="755105" y="3062625"/>
            <a:chExt cx="5677695" cy="629700"/>
          </a:xfrm>
        </p:grpSpPr>
        <p:sp>
          <p:nvSpPr>
            <p:cNvPr id="589" name="Google Shape;589;p39"/>
            <p:cNvSpPr txBox="1"/>
            <p:nvPr/>
          </p:nvSpPr>
          <p:spPr>
            <a:xfrm>
              <a:off x="755105" y="3062625"/>
              <a:ext cx="19599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Separação das populações</a:t>
              </a:r>
              <a:endPara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590" name="Google Shape;590;p39"/>
            <p:cNvSpPr/>
            <p:nvPr/>
          </p:nvSpPr>
          <p:spPr>
            <a:xfrm>
              <a:off x="2789775" y="3088625"/>
              <a:ext cx="3642900" cy="57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591" name="Google Shape;591;p39"/>
            <p:cNvSpPr txBox="1"/>
            <p:nvPr/>
          </p:nvSpPr>
          <p:spPr>
            <a:xfrm>
              <a:off x="2914400" y="3218975"/>
              <a:ext cx="35184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Clusterização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592" name="Google Shape;59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8775" y="637700"/>
            <a:ext cx="1316575" cy="80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9"/>
          <p:cNvPicPr preferRelativeResize="0"/>
          <p:nvPr/>
        </p:nvPicPr>
        <p:blipFill rotWithShape="1">
          <a:blip r:embed="rId4">
            <a:alphaModFix/>
          </a:blip>
          <a:srcRect t="970"/>
          <a:stretch/>
        </p:blipFill>
        <p:spPr>
          <a:xfrm>
            <a:off x="6354325" y="2571750"/>
            <a:ext cx="1969025" cy="14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1575" y="1444625"/>
            <a:ext cx="1234200" cy="12618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595" name="Google Shape;595;p39"/>
          <p:cNvGrpSpPr/>
          <p:nvPr/>
        </p:nvGrpSpPr>
        <p:grpSpPr>
          <a:xfrm>
            <a:off x="150130" y="3312500"/>
            <a:ext cx="6001095" cy="629700"/>
            <a:chOff x="755105" y="3062625"/>
            <a:chExt cx="6001095" cy="629700"/>
          </a:xfrm>
        </p:grpSpPr>
        <p:sp>
          <p:nvSpPr>
            <p:cNvPr id="596" name="Google Shape;596;p39"/>
            <p:cNvSpPr txBox="1"/>
            <p:nvPr/>
          </p:nvSpPr>
          <p:spPr>
            <a:xfrm>
              <a:off x="755105" y="3062625"/>
              <a:ext cx="19599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Anotação das populações</a:t>
              </a:r>
              <a:endPara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597" name="Google Shape;597;p39"/>
            <p:cNvSpPr/>
            <p:nvPr/>
          </p:nvSpPr>
          <p:spPr>
            <a:xfrm>
              <a:off x="2789775" y="3088625"/>
              <a:ext cx="3966300" cy="57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598" name="Google Shape;598;p39"/>
            <p:cNvSpPr txBox="1"/>
            <p:nvPr/>
          </p:nvSpPr>
          <p:spPr>
            <a:xfrm>
              <a:off x="2914400" y="3218975"/>
              <a:ext cx="38418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Automatizada ou não, assistida por </a:t>
              </a:r>
              <a:r>
                <a:rPr lang="pt-BR" sz="1400" b="0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scores</a:t>
              </a: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.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599" name="Google Shape;599;p39"/>
          <p:cNvGrpSpPr/>
          <p:nvPr/>
        </p:nvGrpSpPr>
        <p:grpSpPr>
          <a:xfrm>
            <a:off x="150130" y="4104775"/>
            <a:ext cx="6356595" cy="731700"/>
            <a:chOff x="755105" y="3088625"/>
            <a:chExt cx="6356595" cy="731700"/>
          </a:xfrm>
        </p:grpSpPr>
        <p:sp>
          <p:nvSpPr>
            <p:cNvPr id="600" name="Google Shape;600;p39"/>
            <p:cNvSpPr txBox="1"/>
            <p:nvPr/>
          </p:nvSpPr>
          <p:spPr>
            <a:xfrm>
              <a:off x="755105" y="3138825"/>
              <a:ext cx="19599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Análise em si</a:t>
              </a:r>
              <a:endPara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2789775" y="3088625"/>
              <a:ext cx="4254300" cy="731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602" name="Google Shape;602;p39"/>
            <p:cNvSpPr txBox="1"/>
            <p:nvPr/>
          </p:nvSpPr>
          <p:spPr>
            <a:xfrm>
              <a:off x="2914400" y="3295175"/>
              <a:ext cx="41973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Expressão diferencial, pseudotime, predição de comunicação celular, enriquecimento funcional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603" name="Google Shape;603;p39"/>
          <p:cNvPicPr preferRelativeResize="0"/>
          <p:nvPr/>
        </p:nvPicPr>
        <p:blipFill rotWithShape="1">
          <a:blip r:embed="rId6">
            <a:alphaModFix/>
          </a:blip>
          <a:srcRect b="35342"/>
          <a:stretch/>
        </p:blipFill>
        <p:spPr>
          <a:xfrm>
            <a:off x="6669525" y="4104776"/>
            <a:ext cx="1496973" cy="1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9"/>
          <p:cNvSpPr/>
          <p:nvPr/>
        </p:nvSpPr>
        <p:spPr>
          <a:xfrm>
            <a:off x="7053000" y="988332"/>
            <a:ext cx="490200" cy="636375"/>
          </a:xfrm>
          <a:custGeom>
            <a:avLst/>
            <a:gdLst/>
            <a:ahLst/>
            <a:cxnLst/>
            <a:rect l="l" t="t" r="r" b="b"/>
            <a:pathLst>
              <a:path w="19608" h="25455" extrusionOk="0">
                <a:moveTo>
                  <a:pt x="0" y="1615"/>
                </a:moveTo>
                <a:cubicBezTo>
                  <a:pt x="6244" y="-466"/>
                  <a:pt x="18343" y="-1345"/>
                  <a:pt x="19426" y="5147"/>
                </a:cubicBezTo>
                <a:cubicBezTo>
                  <a:pt x="20887" y="13901"/>
                  <a:pt x="6180" y="17519"/>
                  <a:pt x="2207" y="25456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39"/>
          <p:cNvSpPr/>
          <p:nvPr/>
        </p:nvSpPr>
        <p:spPr>
          <a:xfrm>
            <a:off x="7372025" y="2078749"/>
            <a:ext cx="530300" cy="527250"/>
          </a:xfrm>
          <a:custGeom>
            <a:avLst/>
            <a:gdLst/>
            <a:ahLst/>
            <a:cxnLst/>
            <a:rect l="l" t="t" r="r" b="b"/>
            <a:pathLst>
              <a:path w="21212" h="21090" extrusionOk="0">
                <a:moveTo>
                  <a:pt x="0" y="3872"/>
                </a:moveTo>
                <a:cubicBezTo>
                  <a:pt x="4841" y="3872"/>
                  <a:pt x="9016" y="7455"/>
                  <a:pt x="13686" y="8728"/>
                </a:cubicBezTo>
                <a:cubicBezTo>
                  <a:pt x="16899" y="9604"/>
                  <a:pt x="22599" y="4435"/>
                  <a:pt x="20751" y="1664"/>
                </a:cubicBezTo>
                <a:cubicBezTo>
                  <a:pt x="16109" y="-5297"/>
                  <a:pt x="4856" y="12723"/>
                  <a:pt x="4856" y="2109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39"/>
          <p:cNvSpPr/>
          <p:nvPr/>
        </p:nvSpPr>
        <p:spPr>
          <a:xfrm>
            <a:off x="8399575" y="3411750"/>
            <a:ext cx="419325" cy="993375"/>
          </a:xfrm>
          <a:custGeom>
            <a:avLst/>
            <a:gdLst/>
            <a:ahLst/>
            <a:cxnLst/>
            <a:rect l="l" t="t" r="r" b="b"/>
            <a:pathLst>
              <a:path w="16773" h="39735" extrusionOk="0">
                <a:moveTo>
                  <a:pt x="2208" y="0"/>
                </a:moveTo>
                <a:cubicBezTo>
                  <a:pt x="10560" y="1669"/>
                  <a:pt x="10155" y="15766"/>
                  <a:pt x="10155" y="24283"/>
                </a:cubicBezTo>
                <a:cubicBezTo>
                  <a:pt x="10155" y="28427"/>
                  <a:pt x="8548" y="33715"/>
                  <a:pt x="11479" y="36645"/>
                </a:cubicBezTo>
                <a:cubicBezTo>
                  <a:pt x="13173" y="38339"/>
                  <a:pt x="18030" y="33041"/>
                  <a:pt x="16336" y="31347"/>
                </a:cubicBezTo>
                <a:cubicBezTo>
                  <a:pt x="15394" y="30405"/>
                  <a:pt x="13554" y="31192"/>
                  <a:pt x="12362" y="31788"/>
                </a:cubicBezTo>
                <a:cubicBezTo>
                  <a:pt x="7980" y="33979"/>
                  <a:pt x="2193" y="35354"/>
                  <a:pt x="0" y="39735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Passos da </a:t>
            </a:r>
            <a:r>
              <a:rPr lang="pt-BR" sz="2000" b="1"/>
              <a:t>análise de dados</a:t>
            </a:r>
            <a:r>
              <a:rPr lang="pt-BR" sz="2000"/>
              <a:t> de transcriptômica de alta resolução</a:t>
            </a:r>
            <a:endParaRPr/>
          </a:p>
        </p:txBody>
      </p:sp>
      <p:grpSp>
        <p:nvGrpSpPr>
          <p:cNvPr id="612" name="Google Shape;612;p40"/>
          <p:cNvGrpSpPr/>
          <p:nvPr/>
        </p:nvGrpSpPr>
        <p:grpSpPr>
          <a:xfrm>
            <a:off x="105699" y="756925"/>
            <a:ext cx="5336026" cy="731700"/>
            <a:chOff x="710674" y="1323175"/>
            <a:chExt cx="5336026" cy="731700"/>
          </a:xfrm>
        </p:grpSpPr>
        <p:sp>
          <p:nvSpPr>
            <p:cNvPr id="613" name="Google Shape;613;p40"/>
            <p:cNvSpPr txBox="1"/>
            <p:nvPr/>
          </p:nvSpPr>
          <p:spPr>
            <a:xfrm>
              <a:off x="710674" y="1373350"/>
              <a:ext cx="2004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Preparo da matriz de </a:t>
              </a:r>
              <a:r>
                <a:rPr lang="pt-BR" sz="1600" b="1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counts</a:t>
              </a:r>
              <a:endParaRPr sz="1600" b="1" i="1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614" name="Google Shape;614;p40"/>
            <p:cNvSpPr/>
            <p:nvPr/>
          </p:nvSpPr>
          <p:spPr>
            <a:xfrm>
              <a:off x="2789775" y="1323175"/>
              <a:ext cx="3256800" cy="731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615" name="Google Shape;615;p40"/>
            <p:cNvSpPr txBox="1"/>
            <p:nvPr/>
          </p:nvSpPr>
          <p:spPr>
            <a:xfrm>
              <a:off x="2914400" y="1407450"/>
              <a:ext cx="3132300" cy="5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Trimming</a:t>
              </a: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, controle de qualidade, alinhamento, contagem.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616" name="Google Shape;61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900" y="1859150"/>
            <a:ext cx="2919191" cy="278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0"/>
          <p:cNvPicPr preferRelativeResize="0"/>
          <p:nvPr/>
        </p:nvPicPr>
        <p:blipFill rotWithShape="1">
          <a:blip r:embed="rId4">
            <a:alphaModFix/>
          </a:blip>
          <a:srcRect b="794"/>
          <a:stretch/>
        </p:blipFill>
        <p:spPr>
          <a:xfrm>
            <a:off x="3394375" y="1577300"/>
            <a:ext cx="5538574" cy="30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0"/>
          <p:cNvSpPr txBox="1">
            <a:spLocks noGrp="1"/>
          </p:cNvSpPr>
          <p:nvPr>
            <p:ph type="title"/>
          </p:nvPr>
        </p:nvSpPr>
        <p:spPr>
          <a:xfrm>
            <a:off x="733200" y="4721350"/>
            <a:ext cx="84108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600">
                <a:solidFill>
                  <a:schemeClr val="accent3"/>
                </a:solidFill>
              </a:rPr>
              <a:t>Malte D Luecken1 &amp; Fabian J Theis. Mol Syst Biol. (2019) 15: e8746, Current best practices in single-cell RNA-seq analysis: a tutorial  doi: 10.15252/msb.20188746</a:t>
            </a:r>
            <a:endParaRPr sz="600">
              <a:solidFill>
                <a:schemeClr val="accent3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600">
                <a:solidFill>
                  <a:schemeClr val="accent3"/>
                </a:solidFill>
              </a:rPr>
              <a:t>Jiang et al. BMC Genomics (2024) 25:631 A comprehensive workfow for optimizing RNA-seq data analysis. doi:  https://doi.org/10.1186/s12864-024-10414-y</a:t>
            </a:r>
            <a:endParaRPr sz="600">
              <a:solidFill>
                <a:schemeClr val="accent3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600">
              <a:solidFill>
                <a:schemeClr val="accent3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600">
              <a:solidFill>
                <a:schemeClr val="accent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600">
              <a:solidFill>
                <a:schemeClr val="accent3"/>
              </a:solidFill>
            </a:endParaRPr>
          </a:p>
        </p:txBody>
      </p:sp>
      <p:sp>
        <p:nvSpPr>
          <p:cNvPr id="619" name="Google Shape;619;p40"/>
          <p:cNvSpPr/>
          <p:nvPr/>
        </p:nvSpPr>
        <p:spPr>
          <a:xfrm>
            <a:off x="3171000" y="1577298"/>
            <a:ext cx="5761800" cy="3031200"/>
          </a:xfrm>
          <a:prstGeom prst="rect">
            <a:avLst/>
          </a:prstGeom>
          <a:solidFill>
            <a:srgbClr val="FFFFFF">
              <a:alpha val="85880"/>
            </a:srgbClr>
          </a:solidFill>
          <a:ln>
            <a:noFill/>
          </a:ln>
        </p:spPr>
        <p:txBody>
          <a:bodyPr spcFirstLastPara="1" wrap="square" lIns="68275" tIns="34125" rIns="68275" bIns="34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4"/>
              <a:buFont typeface="Arial"/>
              <a:buNone/>
            </a:pPr>
            <a:endParaRPr sz="1344" i="0" u="none" strike="noStrike" cap="non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0" name="Google Shape;620;p40"/>
          <p:cNvSpPr txBox="1"/>
          <p:nvPr/>
        </p:nvSpPr>
        <p:spPr>
          <a:xfrm>
            <a:off x="3837698" y="1761375"/>
            <a:ext cx="49653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>
                <a:latin typeface="Proxima Nova"/>
                <a:ea typeface="Proxima Nova"/>
                <a:cs typeface="Proxima Nova"/>
                <a:sym typeface="Proxima Nova"/>
              </a:rPr>
              <a:t>No caso de tecnologias da 10x Genomics (Visium):</a:t>
            </a:r>
            <a:endParaRPr sz="1793" b="1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1" name="Google Shape;621;p40"/>
          <p:cNvSpPr txBox="1"/>
          <p:nvPr/>
        </p:nvSpPr>
        <p:spPr>
          <a:xfrm>
            <a:off x="4287912" y="2518488"/>
            <a:ext cx="3751500" cy="11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Essas etapas são realizadas ferramentas internas:</a:t>
            </a:r>
            <a:br>
              <a:rPr lang="pt-BR" sz="1793" b="1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pt-BR" sz="1793" b="1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- Cell Ranger</a:t>
            </a:r>
            <a:br>
              <a:rPr lang="pt-BR" sz="1793" b="1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pt-BR" sz="1793" b="1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- </a:t>
            </a:r>
            <a:r>
              <a:rPr lang="pt-BR" sz="1793" b="1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Space Ranger</a:t>
            </a:r>
            <a:endParaRPr sz="1793" b="1" i="0" u="none" strike="noStrike" cap="none">
              <a:solidFill>
                <a:srgbClr val="CC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Passos da </a:t>
            </a:r>
            <a:r>
              <a:rPr lang="pt-BR" sz="2000" b="1"/>
              <a:t>análise de dados</a:t>
            </a:r>
            <a:r>
              <a:rPr lang="pt-BR" sz="2000"/>
              <a:t> de transcriptômica de alta resolução</a:t>
            </a:r>
            <a:endParaRPr/>
          </a:p>
        </p:txBody>
      </p:sp>
      <p:grpSp>
        <p:nvGrpSpPr>
          <p:cNvPr id="627" name="Google Shape;627;p41"/>
          <p:cNvGrpSpPr/>
          <p:nvPr/>
        </p:nvGrpSpPr>
        <p:grpSpPr>
          <a:xfrm>
            <a:off x="105699" y="756925"/>
            <a:ext cx="5336026" cy="731700"/>
            <a:chOff x="710674" y="1323175"/>
            <a:chExt cx="5336026" cy="731700"/>
          </a:xfrm>
        </p:grpSpPr>
        <p:sp>
          <p:nvSpPr>
            <p:cNvPr id="628" name="Google Shape;628;p41"/>
            <p:cNvSpPr txBox="1"/>
            <p:nvPr/>
          </p:nvSpPr>
          <p:spPr>
            <a:xfrm>
              <a:off x="710674" y="1373350"/>
              <a:ext cx="2004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Preparo da matriz de </a:t>
              </a:r>
              <a:r>
                <a:rPr lang="pt-BR" sz="1600" b="1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counts</a:t>
              </a:r>
              <a:endParaRPr sz="1600" b="1" i="1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629" name="Google Shape;629;p41"/>
            <p:cNvSpPr/>
            <p:nvPr/>
          </p:nvSpPr>
          <p:spPr>
            <a:xfrm>
              <a:off x="2789775" y="1323175"/>
              <a:ext cx="3256800" cy="731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630" name="Google Shape;630;p41"/>
            <p:cNvSpPr txBox="1"/>
            <p:nvPr/>
          </p:nvSpPr>
          <p:spPr>
            <a:xfrm>
              <a:off x="2914400" y="1407450"/>
              <a:ext cx="3132300" cy="5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Trimming</a:t>
              </a: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, controle de qualidade, alinhamento, contagem.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631" name="Google Shape;631;p41"/>
          <p:cNvSpPr txBox="1">
            <a:spLocks noGrp="1"/>
          </p:cNvSpPr>
          <p:nvPr>
            <p:ph type="body" idx="1"/>
          </p:nvPr>
        </p:nvSpPr>
        <p:spPr>
          <a:xfrm>
            <a:off x="733200" y="1520396"/>
            <a:ext cx="7498800" cy="30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Pré contagem</a:t>
            </a:r>
            <a:r>
              <a:rPr lang="pt-BR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As transcriptômicas de alta resolução demandam </a:t>
            </a:r>
            <a:r>
              <a:rPr lang="pt-BR" sz="1400" b="1">
                <a:solidFill>
                  <a:schemeClr val="dk1"/>
                </a:solidFill>
              </a:rPr>
              <a:t>demultiplexação por barcodes</a:t>
            </a:r>
            <a:r>
              <a:rPr lang="pt-BR" sz="1400">
                <a:solidFill>
                  <a:schemeClr val="dk1"/>
                </a:solidFill>
              </a:rPr>
              <a:t> e </a:t>
            </a:r>
            <a:r>
              <a:rPr lang="pt-BR" sz="1400" b="1">
                <a:solidFill>
                  <a:schemeClr val="dk1"/>
                </a:solidFill>
              </a:rPr>
              <a:t>deduplicação por UMI (Unique Molecular Identifier)</a:t>
            </a:r>
            <a:r>
              <a:rPr lang="pt-BR" sz="1400">
                <a:solidFill>
                  <a:schemeClr val="dk1"/>
                </a:solidFill>
              </a:rPr>
              <a:t> — inexistentes no bulk.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 b="1">
                <a:solidFill>
                  <a:schemeClr val="dk1"/>
                </a:solidFill>
              </a:rPr>
              <a:t>Barcodes celulares</a:t>
            </a:r>
            <a:r>
              <a:rPr lang="pt-BR" sz="1400">
                <a:solidFill>
                  <a:schemeClr val="dk1"/>
                </a:solidFill>
              </a:rPr>
              <a:t>: para identificar a célula de origem.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 b="1">
                <a:solidFill>
                  <a:schemeClr val="dk1"/>
                </a:solidFill>
              </a:rPr>
              <a:t>UMIs (Unique Molecular Identifiers)</a:t>
            </a:r>
            <a:r>
              <a:rPr lang="pt-BR" sz="1400">
                <a:solidFill>
                  <a:schemeClr val="dk1"/>
                </a:solidFill>
              </a:rPr>
              <a:t>: para evitar contagens infladas por PCR.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32" name="Google Shape;632;p41"/>
          <p:cNvPicPr preferRelativeResize="0"/>
          <p:nvPr/>
        </p:nvPicPr>
        <p:blipFill rotWithShape="1">
          <a:blip r:embed="rId3">
            <a:alphaModFix/>
          </a:blip>
          <a:srcRect l="34089" t="43089" b="15428"/>
          <a:stretch/>
        </p:blipFill>
        <p:spPr>
          <a:xfrm>
            <a:off x="733200" y="3422625"/>
            <a:ext cx="5409549" cy="1296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fa37cb035d_0_4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Passos da </a:t>
            </a:r>
            <a:r>
              <a:rPr lang="pt-BR" sz="2000" b="1"/>
              <a:t>análise de dados</a:t>
            </a:r>
            <a:r>
              <a:rPr lang="pt-BR" sz="2000"/>
              <a:t> de transcriptômica de alta resolução</a:t>
            </a:r>
            <a:endParaRPr/>
          </a:p>
        </p:txBody>
      </p:sp>
      <p:grpSp>
        <p:nvGrpSpPr>
          <p:cNvPr id="638" name="Google Shape;638;g3fa37cb035d_0_41"/>
          <p:cNvGrpSpPr/>
          <p:nvPr/>
        </p:nvGrpSpPr>
        <p:grpSpPr>
          <a:xfrm>
            <a:off x="105699" y="756925"/>
            <a:ext cx="5336026" cy="731700"/>
            <a:chOff x="710674" y="1323175"/>
            <a:chExt cx="5336026" cy="731700"/>
          </a:xfrm>
        </p:grpSpPr>
        <p:sp>
          <p:nvSpPr>
            <p:cNvPr id="639" name="Google Shape;639;g3fa37cb035d_0_41"/>
            <p:cNvSpPr txBox="1"/>
            <p:nvPr/>
          </p:nvSpPr>
          <p:spPr>
            <a:xfrm>
              <a:off x="710674" y="1373350"/>
              <a:ext cx="2004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Preparo da matriz de </a:t>
              </a:r>
              <a:r>
                <a:rPr lang="pt-BR" sz="1600" b="1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counts</a:t>
              </a:r>
              <a:endParaRPr sz="1600" b="1" i="1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640" name="Google Shape;640;g3fa37cb035d_0_41"/>
            <p:cNvSpPr/>
            <p:nvPr/>
          </p:nvSpPr>
          <p:spPr>
            <a:xfrm>
              <a:off x="2789775" y="1323175"/>
              <a:ext cx="3256800" cy="731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641" name="Google Shape;641;g3fa37cb035d_0_41"/>
            <p:cNvSpPr txBox="1"/>
            <p:nvPr/>
          </p:nvSpPr>
          <p:spPr>
            <a:xfrm>
              <a:off x="2914400" y="1407450"/>
              <a:ext cx="3132300" cy="5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Trimming</a:t>
              </a: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, controle de qualidade, alinhamento, contagem.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642" name="Google Shape;642;g3fa37cb035d_0_41"/>
          <p:cNvSpPr txBox="1">
            <a:spLocks noGrp="1"/>
          </p:cNvSpPr>
          <p:nvPr>
            <p:ph type="body" idx="1"/>
          </p:nvPr>
        </p:nvSpPr>
        <p:spPr>
          <a:xfrm>
            <a:off x="733200" y="1520396"/>
            <a:ext cx="7498800" cy="30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Pré contagem</a:t>
            </a:r>
            <a:r>
              <a:rPr lang="pt-BR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As transcriptômicas de alta resolução demandam </a:t>
            </a:r>
            <a:r>
              <a:rPr lang="pt-BR" sz="1400" b="1">
                <a:solidFill>
                  <a:schemeClr val="dk1"/>
                </a:solidFill>
              </a:rPr>
              <a:t>demultiplexação por barcodes</a:t>
            </a:r>
            <a:r>
              <a:rPr lang="pt-BR" sz="1400">
                <a:solidFill>
                  <a:schemeClr val="dk1"/>
                </a:solidFill>
              </a:rPr>
              <a:t> e </a:t>
            </a:r>
            <a:r>
              <a:rPr lang="pt-BR" sz="1400" b="1">
                <a:solidFill>
                  <a:schemeClr val="dk1"/>
                </a:solidFill>
              </a:rPr>
              <a:t>deduplicação por UMI (Unique Molecular Identifier)</a:t>
            </a:r>
            <a:r>
              <a:rPr lang="pt-BR" sz="1400">
                <a:solidFill>
                  <a:schemeClr val="dk1"/>
                </a:solidFill>
              </a:rPr>
              <a:t> — inexistentes no bulk.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 b="1">
                <a:solidFill>
                  <a:schemeClr val="dk1"/>
                </a:solidFill>
              </a:rPr>
              <a:t>Barcodes celulares</a:t>
            </a:r>
            <a:r>
              <a:rPr lang="pt-BR" sz="1400">
                <a:solidFill>
                  <a:schemeClr val="dk1"/>
                </a:solidFill>
              </a:rPr>
              <a:t>: para identificar a célula de origem.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 b="1">
                <a:solidFill>
                  <a:schemeClr val="dk1"/>
                </a:solidFill>
              </a:rPr>
              <a:t>UMIs (Unique Molecular Identifiers)</a:t>
            </a:r>
            <a:r>
              <a:rPr lang="pt-BR" sz="1400">
                <a:solidFill>
                  <a:schemeClr val="dk1"/>
                </a:solidFill>
              </a:rPr>
              <a:t>: para evitar contagens infladas por PCR.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43" name="Google Shape;643;g3fa37cb035d_0_41"/>
          <p:cNvSpPr txBox="1"/>
          <p:nvPr/>
        </p:nvSpPr>
        <p:spPr>
          <a:xfrm>
            <a:off x="6226825" y="3340950"/>
            <a:ext cx="27648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>
                <a:latin typeface="Proxima Nova"/>
                <a:ea typeface="Proxima Nova"/>
                <a:cs typeface="Proxima Nova"/>
                <a:sym typeface="Proxima Nova"/>
              </a:rPr>
              <a:t>Caso queira ler mais:</a:t>
            </a:r>
            <a:endParaRPr sz="1793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endParaRPr sz="1793"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44" name="Google Shape;644;g3fa37cb035d_0_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2125" y="377472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3fa37cb035d_0_41"/>
          <p:cNvSpPr txBox="1"/>
          <p:nvPr/>
        </p:nvSpPr>
        <p:spPr>
          <a:xfrm>
            <a:off x="6833650" y="3708350"/>
            <a:ext cx="2157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>
                <a:latin typeface="Proxima Nova"/>
                <a:ea typeface="Proxima Nova"/>
                <a:cs typeface="Proxima Nova"/>
                <a:sym typeface="Proxima Nova"/>
              </a:rPr>
              <a:t>Reads to countos. OSTA, Bioconductor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>
                <a:latin typeface="Proxima Nova"/>
                <a:ea typeface="Proxima Nova"/>
                <a:cs typeface="Proxima Nova"/>
                <a:sym typeface="Proxima Nova"/>
              </a:rPr>
              <a:t>https://bioconductor.org/books/3.22/OSTA/pages/seq-reads-to-counts.html</a:t>
            </a: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46" name="Google Shape;646;g3fa37cb035d_0_41"/>
          <p:cNvPicPr preferRelativeResize="0"/>
          <p:nvPr/>
        </p:nvPicPr>
        <p:blipFill rotWithShape="1">
          <a:blip r:embed="rId4">
            <a:alphaModFix/>
          </a:blip>
          <a:srcRect l="34089" t="43089" b="15428"/>
          <a:stretch/>
        </p:blipFill>
        <p:spPr>
          <a:xfrm>
            <a:off x="733200" y="3422625"/>
            <a:ext cx="5409549" cy="1296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Passos da </a:t>
            </a:r>
            <a:r>
              <a:rPr lang="pt-BR" sz="2000" b="1"/>
              <a:t>análise de dados</a:t>
            </a:r>
            <a:r>
              <a:rPr lang="pt-BR" sz="2000"/>
              <a:t> de transcriptômica de alta resolução</a:t>
            </a:r>
            <a:endParaRPr/>
          </a:p>
        </p:txBody>
      </p:sp>
      <p:grpSp>
        <p:nvGrpSpPr>
          <p:cNvPr id="652" name="Google Shape;652;p42"/>
          <p:cNvGrpSpPr/>
          <p:nvPr/>
        </p:nvGrpSpPr>
        <p:grpSpPr>
          <a:xfrm>
            <a:off x="105699" y="756925"/>
            <a:ext cx="5336026" cy="731700"/>
            <a:chOff x="710674" y="1323175"/>
            <a:chExt cx="5336026" cy="731700"/>
          </a:xfrm>
        </p:grpSpPr>
        <p:sp>
          <p:nvSpPr>
            <p:cNvPr id="653" name="Google Shape;653;p42"/>
            <p:cNvSpPr txBox="1"/>
            <p:nvPr/>
          </p:nvSpPr>
          <p:spPr>
            <a:xfrm>
              <a:off x="710674" y="1373350"/>
              <a:ext cx="2004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Preparo da matriz de </a:t>
              </a:r>
              <a:r>
                <a:rPr lang="pt-BR" sz="1600" b="1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counts</a:t>
              </a:r>
              <a:endParaRPr sz="1600" b="1" i="1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654" name="Google Shape;654;p42"/>
            <p:cNvSpPr/>
            <p:nvPr/>
          </p:nvSpPr>
          <p:spPr>
            <a:xfrm>
              <a:off x="2789775" y="1323175"/>
              <a:ext cx="3256800" cy="731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655" name="Google Shape;655;p42"/>
            <p:cNvSpPr txBox="1"/>
            <p:nvPr/>
          </p:nvSpPr>
          <p:spPr>
            <a:xfrm>
              <a:off x="2914400" y="1407450"/>
              <a:ext cx="3132300" cy="5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Trimming</a:t>
              </a: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, controle de qualidade, alinhamento, contagem.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656" name="Google Shape;656;p42"/>
          <p:cNvSpPr txBox="1"/>
          <p:nvPr/>
        </p:nvSpPr>
        <p:spPr>
          <a:xfrm>
            <a:off x="5607950" y="1250850"/>
            <a:ext cx="30888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Ferramentas</a:t>
            </a:r>
            <a:endParaRPr sz="18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57" name="Google Shape;657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2015625"/>
            <a:ext cx="6499024" cy="204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14883" y="2342575"/>
            <a:ext cx="2001765" cy="63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1275" y="3081775"/>
            <a:ext cx="2932725" cy="16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42"/>
          <p:cNvSpPr txBox="1"/>
          <p:nvPr/>
        </p:nvSpPr>
        <p:spPr>
          <a:xfrm>
            <a:off x="4963149" y="2067425"/>
            <a:ext cx="18477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single-cell</a:t>
            </a:r>
            <a:endParaRPr sz="1793" b="1" i="0" u="none" strike="noStrike" cap="non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Passos da </a:t>
            </a:r>
            <a:r>
              <a:rPr lang="pt-BR" sz="2000" b="1"/>
              <a:t>análise de dados</a:t>
            </a:r>
            <a:r>
              <a:rPr lang="pt-BR" sz="2000"/>
              <a:t> de transcriptômica de alta resolução</a:t>
            </a:r>
            <a:endParaRPr/>
          </a:p>
        </p:txBody>
      </p:sp>
      <p:grpSp>
        <p:nvGrpSpPr>
          <p:cNvPr id="666" name="Google Shape;666;p43"/>
          <p:cNvGrpSpPr/>
          <p:nvPr/>
        </p:nvGrpSpPr>
        <p:grpSpPr>
          <a:xfrm>
            <a:off x="105699" y="756925"/>
            <a:ext cx="5336026" cy="731700"/>
            <a:chOff x="710674" y="1323175"/>
            <a:chExt cx="5336026" cy="731700"/>
          </a:xfrm>
        </p:grpSpPr>
        <p:sp>
          <p:nvSpPr>
            <p:cNvPr id="667" name="Google Shape;667;p43"/>
            <p:cNvSpPr txBox="1"/>
            <p:nvPr/>
          </p:nvSpPr>
          <p:spPr>
            <a:xfrm>
              <a:off x="710674" y="1373350"/>
              <a:ext cx="2004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Preparo da matriz de </a:t>
              </a:r>
              <a:r>
                <a:rPr lang="pt-BR" sz="1600" b="1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counts</a:t>
              </a:r>
              <a:endParaRPr sz="1600" b="1" i="1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668" name="Google Shape;668;p43"/>
            <p:cNvSpPr/>
            <p:nvPr/>
          </p:nvSpPr>
          <p:spPr>
            <a:xfrm>
              <a:off x="2789775" y="1323175"/>
              <a:ext cx="3256800" cy="731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669" name="Google Shape;669;p43"/>
            <p:cNvSpPr txBox="1"/>
            <p:nvPr/>
          </p:nvSpPr>
          <p:spPr>
            <a:xfrm>
              <a:off x="2914400" y="1407450"/>
              <a:ext cx="3132300" cy="5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Trimming</a:t>
              </a: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, controle de qualidade, alinhamento, contagem.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670" name="Google Shape;670;p43"/>
          <p:cNvSpPr txBox="1"/>
          <p:nvPr/>
        </p:nvSpPr>
        <p:spPr>
          <a:xfrm>
            <a:off x="5607950" y="1250850"/>
            <a:ext cx="30888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Ferramentas</a:t>
            </a:r>
            <a:endParaRPr sz="18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71" name="Google Shape;671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4883" y="2342575"/>
            <a:ext cx="2001765" cy="63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1275" y="3081775"/>
            <a:ext cx="2932725" cy="164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43"/>
          <p:cNvPicPr preferRelativeResize="0"/>
          <p:nvPr/>
        </p:nvPicPr>
        <p:blipFill rotWithShape="1">
          <a:blip r:embed="rId5">
            <a:alphaModFix/>
          </a:blip>
          <a:srcRect l="15233"/>
          <a:stretch/>
        </p:blipFill>
        <p:spPr>
          <a:xfrm>
            <a:off x="611800" y="2115725"/>
            <a:ext cx="6171674" cy="1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4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97075" y="3444075"/>
            <a:ext cx="2647801" cy="151415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43"/>
          <p:cNvSpPr txBox="1"/>
          <p:nvPr/>
        </p:nvSpPr>
        <p:spPr>
          <a:xfrm>
            <a:off x="611801" y="1770725"/>
            <a:ext cx="28356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Space Ranger: Visium</a:t>
            </a:r>
            <a:endParaRPr sz="1793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900" b="1"/>
              <a:t>Volume</a:t>
            </a:r>
            <a:r>
              <a:rPr lang="pt-BR" sz="1900"/>
              <a:t> e complexidade de dados</a:t>
            </a:r>
            <a:endParaRPr sz="27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fa37cb035d_0_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900" b="1"/>
              <a:t>Volume</a:t>
            </a:r>
            <a:r>
              <a:rPr lang="pt-BR" sz="1900"/>
              <a:t> e complexidade de dados</a:t>
            </a:r>
            <a:endParaRPr sz="2700"/>
          </a:p>
        </p:txBody>
      </p:sp>
      <p:sp>
        <p:nvSpPr>
          <p:cNvPr id="686" name="Google Shape;686;g3fa37cb035d_0_78"/>
          <p:cNvSpPr/>
          <p:nvPr/>
        </p:nvSpPr>
        <p:spPr>
          <a:xfrm>
            <a:off x="1125850" y="1900675"/>
            <a:ext cx="3200700" cy="2660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counts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7" name="Google Shape;687;g3fa37cb035d_0_78"/>
          <p:cNvSpPr/>
          <p:nvPr/>
        </p:nvSpPr>
        <p:spPr>
          <a:xfrm>
            <a:off x="362125" y="1900675"/>
            <a:ext cx="664500" cy="266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gene1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gene2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gene3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gene4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gene5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gene6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gene7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gene8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gene9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gene10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gene11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gene12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(&gt;10^3)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8" name="Google Shape;688;g3fa37cb035d_0_78"/>
          <p:cNvSpPr/>
          <p:nvPr/>
        </p:nvSpPr>
        <p:spPr>
          <a:xfrm>
            <a:off x="1125850" y="1188575"/>
            <a:ext cx="734100" cy="628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amostra1</a:t>
            </a:r>
            <a:endParaRPr sz="12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9" name="Google Shape;689;g3fa37cb035d_0_78"/>
          <p:cNvSpPr/>
          <p:nvPr/>
        </p:nvSpPr>
        <p:spPr>
          <a:xfrm>
            <a:off x="1948074" y="1188575"/>
            <a:ext cx="734100" cy="628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amostra2</a:t>
            </a:r>
            <a:endParaRPr sz="12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0" name="Google Shape;690;g3fa37cb035d_0_78"/>
          <p:cNvSpPr/>
          <p:nvPr/>
        </p:nvSpPr>
        <p:spPr>
          <a:xfrm>
            <a:off x="2770299" y="1188575"/>
            <a:ext cx="734100" cy="628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amostra3</a:t>
            </a:r>
            <a:endParaRPr sz="12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1" name="Google Shape;691;g3fa37cb035d_0_78"/>
          <p:cNvSpPr/>
          <p:nvPr/>
        </p:nvSpPr>
        <p:spPr>
          <a:xfrm>
            <a:off x="3592523" y="1188575"/>
            <a:ext cx="734100" cy="628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amostra4</a:t>
            </a:r>
            <a:endParaRPr sz="12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2" name="Google Shape;692;g3fa37cb035d_0_78"/>
          <p:cNvSpPr/>
          <p:nvPr/>
        </p:nvSpPr>
        <p:spPr>
          <a:xfrm>
            <a:off x="1125850" y="1900675"/>
            <a:ext cx="3200700" cy="2660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counts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3" name="Google Shape;693;g3fa37cb035d_0_78"/>
          <p:cNvSpPr/>
          <p:nvPr/>
        </p:nvSpPr>
        <p:spPr>
          <a:xfrm>
            <a:off x="4399325" y="830025"/>
            <a:ext cx="1578375" cy="242825"/>
          </a:xfrm>
          <a:custGeom>
            <a:avLst/>
            <a:gdLst/>
            <a:ahLst/>
            <a:cxnLst/>
            <a:rect l="l" t="t" r="r" b="b"/>
            <a:pathLst>
              <a:path w="63135" h="9713" extrusionOk="0">
                <a:moveTo>
                  <a:pt x="0" y="9713"/>
                </a:moveTo>
                <a:cubicBezTo>
                  <a:pt x="9522" y="-9332"/>
                  <a:pt x="48079" y="15056"/>
                  <a:pt x="63135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g3fa37cb035d_0_78"/>
          <p:cNvSpPr txBox="1"/>
          <p:nvPr/>
        </p:nvSpPr>
        <p:spPr>
          <a:xfrm>
            <a:off x="5977700" y="445025"/>
            <a:ext cx="2494500" cy="7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Amostra = barcode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 </a:t>
            </a: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(célula/spot)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5" name="Google Shape;695;g3fa37cb035d_0_78"/>
          <p:cNvSpPr txBox="1"/>
          <p:nvPr/>
        </p:nvSpPr>
        <p:spPr>
          <a:xfrm>
            <a:off x="5034626" y="2767850"/>
            <a:ext cx="28356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Bulk RNA</a:t>
            </a:r>
            <a:endParaRPr sz="1793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fa37cb035d_0_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900" b="1"/>
              <a:t>Volume</a:t>
            </a:r>
            <a:r>
              <a:rPr lang="pt-BR" sz="1900"/>
              <a:t> e complexidade de dados</a:t>
            </a:r>
            <a:endParaRPr sz="2700"/>
          </a:p>
        </p:txBody>
      </p:sp>
      <p:sp>
        <p:nvSpPr>
          <p:cNvPr id="701" name="Google Shape;701;g3fa37cb035d_0_60"/>
          <p:cNvSpPr/>
          <p:nvPr/>
        </p:nvSpPr>
        <p:spPr>
          <a:xfrm>
            <a:off x="1125850" y="1900675"/>
            <a:ext cx="3200700" cy="2660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counts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2" name="Google Shape;702;g3fa37cb035d_0_60"/>
          <p:cNvSpPr/>
          <p:nvPr/>
        </p:nvSpPr>
        <p:spPr>
          <a:xfrm>
            <a:off x="362125" y="1900675"/>
            <a:ext cx="664500" cy="266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gene1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gene2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gene3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gene4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gene5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gene6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gene7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gene8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gene9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gene10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gene11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gene12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(&gt;10^3)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3" name="Google Shape;703;g3fa37cb035d_0_60"/>
          <p:cNvSpPr/>
          <p:nvPr/>
        </p:nvSpPr>
        <p:spPr>
          <a:xfrm>
            <a:off x="1125850" y="1900675"/>
            <a:ext cx="3200700" cy="2660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counts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4" name="Google Shape;704;g3fa37cb035d_0_60"/>
          <p:cNvSpPr/>
          <p:nvPr/>
        </p:nvSpPr>
        <p:spPr>
          <a:xfrm>
            <a:off x="4399325" y="830025"/>
            <a:ext cx="1578375" cy="242825"/>
          </a:xfrm>
          <a:custGeom>
            <a:avLst/>
            <a:gdLst/>
            <a:ahLst/>
            <a:cxnLst/>
            <a:rect l="l" t="t" r="r" b="b"/>
            <a:pathLst>
              <a:path w="63135" h="9713" extrusionOk="0">
                <a:moveTo>
                  <a:pt x="0" y="9713"/>
                </a:moveTo>
                <a:cubicBezTo>
                  <a:pt x="9522" y="-9332"/>
                  <a:pt x="48079" y="15056"/>
                  <a:pt x="63135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g3fa37cb035d_0_60"/>
          <p:cNvSpPr txBox="1"/>
          <p:nvPr/>
        </p:nvSpPr>
        <p:spPr>
          <a:xfrm>
            <a:off x="5977700" y="445025"/>
            <a:ext cx="2494500" cy="7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Amostra = barcode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 </a:t>
            </a: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(célula/spot)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6" name="Google Shape;706;g3fa37cb035d_0_60"/>
          <p:cNvSpPr/>
          <p:nvPr/>
        </p:nvSpPr>
        <p:spPr>
          <a:xfrm>
            <a:off x="1125850" y="1172513"/>
            <a:ext cx="7273500" cy="628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… (&gt;10^3)</a:t>
            </a:r>
            <a:endParaRPr sz="14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7" name="Google Shape;707;g3fa37cb035d_0_60"/>
          <p:cNvSpPr/>
          <p:nvPr/>
        </p:nvSpPr>
        <p:spPr>
          <a:xfrm>
            <a:off x="1125850" y="1900675"/>
            <a:ext cx="7273500" cy="2660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counts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fa37cb035d_0_10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900" b="1"/>
              <a:t>Volume</a:t>
            </a:r>
            <a:r>
              <a:rPr lang="pt-BR" sz="1900"/>
              <a:t> e complexidade de dados</a:t>
            </a:r>
            <a:endParaRPr sz="2700"/>
          </a:p>
        </p:txBody>
      </p:sp>
      <p:sp>
        <p:nvSpPr>
          <p:cNvPr id="713" name="Google Shape;713;g3fa37cb035d_0_105"/>
          <p:cNvSpPr/>
          <p:nvPr/>
        </p:nvSpPr>
        <p:spPr>
          <a:xfrm>
            <a:off x="1125850" y="1900675"/>
            <a:ext cx="3200700" cy="2660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counts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4" name="Google Shape;714;g3fa37cb035d_0_105"/>
          <p:cNvSpPr/>
          <p:nvPr/>
        </p:nvSpPr>
        <p:spPr>
          <a:xfrm>
            <a:off x="362125" y="1900675"/>
            <a:ext cx="664500" cy="266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gene1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gene2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gene3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gene4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gene5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gene6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gene7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gene8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gene9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gene10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gene11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gene12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(&gt;10^3)</a:t>
            </a:r>
            <a:endParaRPr sz="11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5" name="Google Shape;715;g3fa37cb035d_0_105"/>
          <p:cNvSpPr/>
          <p:nvPr/>
        </p:nvSpPr>
        <p:spPr>
          <a:xfrm>
            <a:off x="1125850" y="1900675"/>
            <a:ext cx="3200700" cy="2660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counts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6" name="Google Shape;716;g3fa37cb035d_0_105"/>
          <p:cNvSpPr/>
          <p:nvPr/>
        </p:nvSpPr>
        <p:spPr>
          <a:xfrm>
            <a:off x="4399325" y="830025"/>
            <a:ext cx="1578375" cy="242825"/>
          </a:xfrm>
          <a:custGeom>
            <a:avLst/>
            <a:gdLst/>
            <a:ahLst/>
            <a:cxnLst/>
            <a:rect l="l" t="t" r="r" b="b"/>
            <a:pathLst>
              <a:path w="63135" h="9713" extrusionOk="0">
                <a:moveTo>
                  <a:pt x="0" y="9713"/>
                </a:moveTo>
                <a:cubicBezTo>
                  <a:pt x="9522" y="-9332"/>
                  <a:pt x="48079" y="15056"/>
                  <a:pt x="63135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g3fa37cb035d_0_105"/>
          <p:cNvSpPr txBox="1"/>
          <p:nvPr/>
        </p:nvSpPr>
        <p:spPr>
          <a:xfrm>
            <a:off x="5977700" y="445025"/>
            <a:ext cx="2494500" cy="7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Amostra = barcode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 </a:t>
            </a: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(célula/spot)</a:t>
            </a:r>
            <a:endParaRPr sz="16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8" name="Google Shape;718;g3fa37cb035d_0_105"/>
          <p:cNvSpPr/>
          <p:nvPr/>
        </p:nvSpPr>
        <p:spPr>
          <a:xfrm>
            <a:off x="1125850" y="1172513"/>
            <a:ext cx="7273500" cy="628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… (&gt;10^3)</a:t>
            </a:r>
            <a:endParaRPr sz="14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9" name="Google Shape;719;g3fa37cb035d_0_105"/>
          <p:cNvSpPr/>
          <p:nvPr/>
        </p:nvSpPr>
        <p:spPr>
          <a:xfrm>
            <a:off x="1125850" y="1900675"/>
            <a:ext cx="7273500" cy="2660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counts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0" name="Google Shape;720;g3fa37cb035d_0_105"/>
          <p:cNvSpPr txBox="1"/>
          <p:nvPr/>
        </p:nvSpPr>
        <p:spPr>
          <a:xfrm>
            <a:off x="5719451" y="3667025"/>
            <a:ext cx="26799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Maior quantidade de dados</a:t>
            </a:r>
            <a:endParaRPr sz="16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1" name="Google Shape;721;g3fa37cb035d_0_105"/>
          <p:cNvSpPr txBox="1"/>
          <p:nvPr/>
        </p:nvSpPr>
        <p:spPr>
          <a:xfrm>
            <a:off x="5563751" y="4005700"/>
            <a:ext cx="28356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493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single-cell ou RNAseq espacial</a:t>
            </a:r>
            <a:endParaRPr sz="1493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900"/>
              <a:t>Volume e </a:t>
            </a:r>
            <a:r>
              <a:rPr lang="pt-BR" sz="1900" b="1"/>
              <a:t>complexidade</a:t>
            </a:r>
            <a:r>
              <a:rPr lang="pt-BR" sz="1900"/>
              <a:t> de dados</a:t>
            </a:r>
            <a:endParaRPr sz="2700"/>
          </a:p>
        </p:txBody>
      </p:sp>
      <p:pic>
        <p:nvPicPr>
          <p:cNvPr id="727" name="Google Shape;72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000" y="1046525"/>
            <a:ext cx="4602790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fa37cb035d_0_1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900"/>
              <a:t>Volume e </a:t>
            </a:r>
            <a:r>
              <a:rPr lang="pt-BR" sz="1900" b="1"/>
              <a:t>complexidade</a:t>
            </a:r>
            <a:r>
              <a:rPr lang="pt-BR" sz="1900"/>
              <a:t> de dados</a:t>
            </a:r>
            <a:endParaRPr sz="2700"/>
          </a:p>
        </p:txBody>
      </p:sp>
      <p:sp>
        <p:nvSpPr>
          <p:cNvPr id="733" name="Google Shape;733;g3fa37cb035d_0_118"/>
          <p:cNvSpPr txBox="1"/>
          <p:nvPr/>
        </p:nvSpPr>
        <p:spPr>
          <a:xfrm>
            <a:off x="5620275" y="2670963"/>
            <a:ext cx="26229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8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Matrizes muito esparsas</a:t>
            </a:r>
            <a:endParaRPr sz="18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34" name="Google Shape;734;g3fa37cb035d_0_1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000" y="1046525"/>
            <a:ext cx="4602790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900"/>
              <a:t>Volume e </a:t>
            </a:r>
            <a:r>
              <a:rPr lang="pt-BR" sz="1900" b="1"/>
              <a:t>complexidade</a:t>
            </a:r>
            <a:r>
              <a:rPr lang="pt-BR" sz="1900"/>
              <a:t> de dados</a:t>
            </a:r>
            <a:endParaRPr sz="2700"/>
          </a:p>
        </p:txBody>
      </p:sp>
      <p:pic>
        <p:nvPicPr>
          <p:cNvPr id="740" name="Google Shape;740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3625" y="1064150"/>
            <a:ext cx="516255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fa37cb035d_0_1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6154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900"/>
              <a:t>Volume e </a:t>
            </a:r>
            <a:r>
              <a:rPr lang="pt-BR" sz="1900" b="1"/>
              <a:t>complexidade</a:t>
            </a:r>
            <a:r>
              <a:rPr lang="pt-BR" sz="1900"/>
              <a:t> de dados</a:t>
            </a:r>
            <a:endParaRPr sz="2700"/>
          </a:p>
        </p:txBody>
      </p:sp>
      <p:pic>
        <p:nvPicPr>
          <p:cNvPr id="746" name="Google Shape;746;g3fa37cb035d_0_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3625" y="1064150"/>
            <a:ext cx="516255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g3fa37cb035d_0_124"/>
          <p:cNvSpPr txBox="1"/>
          <p:nvPr/>
        </p:nvSpPr>
        <p:spPr>
          <a:xfrm>
            <a:off x="5451825" y="3767125"/>
            <a:ext cx="34026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8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Amostras mais heterogêneas</a:t>
            </a:r>
            <a:endParaRPr sz="18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Passos da </a:t>
            </a:r>
            <a:r>
              <a:rPr lang="pt-BR" sz="2000" b="1"/>
              <a:t>análise de dados</a:t>
            </a:r>
            <a:r>
              <a:rPr lang="pt-BR" sz="2000"/>
              <a:t> de transcriptômica de alta resolução</a:t>
            </a:r>
            <a:endParaRPr/>
          </a:p>
        </p:txBody>
      </p:sp>
      <p:grpSp>
        <p:nvGrpSpPr>
          <p:cNvPr id="753" name="Google Shape;753;p47"/>
          <p:cNvGrpSpPr/>
          <p:nvPr/>
        </p:nvGrpSpPr>
        <p:grpSpPr>
          <a:xfrm>
            <a:off x="-604943" y="1664750"/>
            <a:ext cx="6432768" cy="731700"/>
            <a:chOff x="7" y="2207525"/>
            <a:chExt cx="6432768" cy="731700"/>
          </a:xfrm>
        </p:grpSpPr>
        <p:sp>
          <p:nvSpPr>
            <p:cNvPr id="754" name="Google Shape;754;p47"/>
            <p:cNvSpPr txBox="1"/>
            <p:nvPr/>
          </p:nvSpPr>
          <p:spPr>
            <a:xfrm>
              <a:off x="7" y="2257725"/>
              <a:ext cx="2715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Pré-processamento</a:t>
              </a:r>
              <a:endPara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55" name="Google Shape;755;p47"/>
            <p:cNvSpPr/>
            <p:nvPr/>
          </p:nvSpPr>
          <p:spPr>
            <a:xfrm>
              <a:off x="2789775" y="2207525"/>
              <a:ext cx="3642900" cy="731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56" name="Google Shape;756;p47"/>
            <p:cNvSpPr txBox="1"/>
            <p:nvPr/>
          </p:nvSpPr>
          <p:spPr>
            <a:xfrm>
              <a:off x="2914375" y="2414100"/>
              <a:ext cx="35184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Controle de qualidade, normalização, redução de dimensionalidade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757" name="Google Shape;757;p47"/>
          <p:cNvGrpSpPr/>
          <p:nvPr/>
        </p:nvGrpSpPr>
        <p:grpSpPr>
          <a:xfrm>
            <a:off x="150130" y="2546213"/>
            <a:ext cx="5677695" cy="629700"/>
            <a:chOff x="755105" y="3062625"/>
            <a:chExt cx="5677695" cy="629700"/>
          </a:xfrm>
        </p:grpSpPr>
        <p:sp>
          <p:nvSpPr>
            <p:cNvPr id="758" name="Google Shape;758;p47"/>
            <p:cNvSpPr txBox="1"/>
            <p:nvPr/>
          </p:nvSpPr>
          <p:spPr>
            <a:xfrm>
              <a:off x="755105" y="3062625"/>
              <a:ext cx="19599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Separação das populações</a:t>
              </a:r>
              <a:endPara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59" name="Google Shape;759;p47"/>
            <p:cNvSpPr/>
            <p:nvPr/>
          </p:nvSpPr>
          <p:spPr>
            <a:xfrm>
              <a:off x="2789775" y="3088625"/>
              <a:ext cx="3642900" cy="57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60" name="Google Shape;760;p47"/>
            <p:cNvSpPr txBox="1"/>
            <p:nvPr/>
          </p:nvSpPr>
          <p:spPr>
            <a:xfrm>
              <a:off x="2914400" y="3218975"/>
              <a:ext cx="35184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Clusterização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761" name="Google Shape;761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8775" y="637700"/>
            <a:ext cx="1316575" cy="80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47"/>
          <p:cNvPicPr preferRelativeResize="0"/>
          <p:nvPr/>
        </p:nvPicPr>
        <p:blipFill rotWithShape="1">
          <a:blip r:embed="rId4">
            <a:alphaModFix/>
          </a:blip>
          <a:srcRect t="970"/>
          <a:stretch/>
        </p:blipFill>
        <p:spPr>
          <a:xfrm>
            <a:off x="6354325" y="2571750"/>
            <a:ext cx="1969025" cy="14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1575" y="1444625"/>
            <a:ext cx="1234200" cy="12618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764" name="Google Shape;764;p47"/>
          <p:cNvGrpSpPr/>
          <p:nvPr/>
        </p:nvGrpSpPr>
        <p:grpSpPr>
          <a:xfrm>
            <a:off x="150130" y="3312500"/>
            <a:ext cx="6001095" cy="629700"/>
            <a:chOff x="755105" y="3062625"/>
            <a:chExt cx="6001095" cy="629700"/>
          </a:xfrm>
        </p:grpSpPr>
        <p:sp>
          <p:nvSpPr>
            <p:cNvPr id="765" name="Google Shape;765;p47"/>
            <p:cNvSpPr txBox="1"/>
            <p:nvPr/>
          </p:nvSpPr>
          <p:spPr>
            <a:xfrm>
              <a:off x="755105" y="3062625"/>
              <a:ext cx="19599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Anotação das populações</a:t>
              </a:r>
              <a:endPara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66" name="Google Shape;766;p47"/>
            <p:cNvSpPr/>
            <p:nvPr/>
          </p:nvSpPr>
          <p:spPr>
            <a:xfrm>
              <a:off x="2789775" y="3088625"/>
              <a:ext cx="3966300" cy="57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67" name="Google Shape;767;p47"/>
            <p:cNvSpPr txBox="1"/>
            <p:nvPr/>
          </p:nvSpPr>
          <p:spPr>
            <a:xfrm>
              <a:off x="2914400" y="3218975"/>
              <a:ext cx="38418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Automatizada ou não, assistida por </a:t>
              </a:r>
              <a:r>
                <a:rPr lang="pt-BR" sz="1400" b="0" i="1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scores</a:t>
              </a: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.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768" name="Google Shape;768;p47"/>
          <p:cNvGrpSpPr/>
          <p:nvPr/>
        </p:nvGrpSpPr>
        <p:grpSpPr>
          <a:xfrm>
            <a:off x="150130" y="4104775"/>
            <a:ext cx="6356595" cy="731700"/>
            <a:chOff x="755105" y="3088625"/>
            <a:chExt cx="6356595" cy="731700"/>
          </a:xfrm>
        </p:grpSpPr>
        <p:sp>
          <p:nvSpPr>
            <p:cNvPr id="769" name="Google Shape;769;p47"/>
            <p:cNvSpPr txBox="1"/>
            <p:nvPr/>
          </p:nvSpPr>
          <p:spPr>
            <a:xfrm>
              <a:off x="755105" y="3138825"/>
              <a:ext cx="19599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Análise em si</a:t>
              </a:r>
              <a:endPara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70" name="Google Shape;770;p47"/>
            <p:cNvSpPr/>
            <p:nvPr/>
          </p:nvSpPr>
          <p:spPr>
            <a:xfrm>
              <a:off x="2789775" y="3088625"/>
              <a:ext cx="4254300" cy="731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71" name="Google Shape;771;p47"/>
            <p:cNvSpPr txBox="1"/>
            <p:nvPr/>
          </p:nvSpPr>
          <p:spPr>
            <a:xfrm>
              <a:off x="2914400" y="3295175"/>
              <a:ext cx="41973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0" u="none" strike="noStrike" cap="none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Expressão diferencial, pseudotime, predição de comunicação celular, enriquecimento funcional</a:t>
              </a:r>
              <a:endParaRPr sz="1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772" name="Google Shape;772;p47"/>
          <p:cNvPicPr preferRelativeResize="0"/>
          <p:nvPr/>
        </p:nvPicPr>
        <p:blipFill rotWithShape="1">
          <a:blip r:embed="rId6">
            <a:alphaModFix/>
          </a:blip>
          <a:srcRect b="35342"/>
          <a:stretch/>
        </p:blipFill>
        <p:spPr>
          <a:xfrm>
            <a:off x="6669525" y="4104776"/>
            <a:ext cx="1496973" cy="1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47"/>
          <p:cNvSpPr/>
          <p:nvPr/>
        </p:nvSpPr>
        <p:spPr>
          <a:xfrm>
            <a:off x="7053000" y="988332"/>
            <a:ext cx="490200" cy="636375"/>
          </a:xfrm>
          <a:custGeom>
            <a:avLst/>
            <a:gdLst/>
            <a:ahLst/>
            <a:cxnLst/>
            <a:rect l="l" t="t" r="r" b="b"/>
            <a:pathLst>
              <a:path w="19608" h="25455" extrusionOk="0">
                <a:moveTo>
                  <a:pt x="0" y="1615"/>
                </a:moveTo>
                <a:cubicBezTo>
                  <a:pt x="6244" y="-466"/>
                  <a:pt x="18343" y="-1345"/>
                  <a:pt x="19426" y="5147"/>
                </a:cubicBezTo>
                <a:cubicBezTo>
                  <a:pt x="20887" y="13901"/>
                  <a:pt x="6180" y="17519"/>
                  <a:pt x="2207" y="25456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47"/>
          <p:cNvSpPr/>
          <p:nvPr/>
        </p:nvSpPr>
        <p:spPr>
          <a:xfrm>
            <a:off x="7372025" y="2078749"/>
            <a:ext cx="530300" cy="527250"/>
          </a:xfrm>
          <a:custGeom>
            <a:avLst/>
            <a:gdLst/>
            <a:ahLst/>
            <a:cxnLst/>
            <a:rect l="l" t="t" r="r" b="b"/>
            <a:pathLst>
              <a:path w="21212" h="21090" extrusionOk="0">
                <a:moveTo>
                  <a:pt x="0" y="3872"/>
                </a:moveTo>
                <a:cubicBezTo>
                  <a:pt x="4841" y="3872"/>
                  <a:pt x="9016" y="7455"/>
                  <a:pt x="13686" y="8728"/>
                </a:cubicBezTo>
                <a:cubicBezTo>
                  <a:pt x="16899" y="9604"/>
                  <a:pt x="22599" y="4435"/>
                  <a:pt x="20751" y="1664"/>
                </a:cubicBezTo>
                <a:cubicBezTo>
                  <a:pt x="16109" y="-5297"/>
                  <a:pt x="4856" y="12723"/>
                  <a:pt x="4856" y="2109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47"/>
          <p:cNvSpPr/>
          <p:nvPr/>
        </p:nvSpPr>
        <p:spPr>
          <a:xfrm>
            <a:off x="8399575" y="3411750"/>
            <a:ext cx="419325" cy="993375"/>
          </a:xfrm>
          <a:custGeom>
            <a:avLst/>
            <a:gdLst/>
            <a:ahLst/>
            <a:cxnLst/>
            <a:rect l="l" t="t" r="r" b="b"/>
            <a:pathLst>
              <a:path w="16773" h="39735" extrusionOk="0">
                <a:moveTo>
                  <a:pt x="2208" y="0"/>
                </a:moveTo>
                <a:cubicBezTo>
                  <a:pt x="10560" y="1669"/>
                  <a:pt x="10155" y="15766"/>
                  <a:pt x="10155" y="24283"/>
                </a:cubicBezTo>
                <a:cubicBezTo>
                  <a:pt x="10155" y="28427"/>
                  <a:pt x="8548" y="33715"/>
                  <a:pt x="11479" y="36645"/>
                </a:cubicBezTo>
                <a:cubicBezTo>
                  <a:pt x="13173" y="38339"/>
                  <a:pt x="18030" y="33041"/>
                  <a:pt x="16336" y="31347"/>
                </a:cubicBezTo>
                <a:cubicBezTo>
                  <a:pt x="15394" y="30405"/>
                  <a:pt x="13554" y="31192"/>
                  <a:pt x="12362" y="31788"/>
                </a:cubicBezTo>
                <a:cubicBezTo>
                  <a:pt x="7980" y="33979"/>
                  <a:pt x="2193" y="35354"/>
                  <a:pt x="0" y="39735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47"/>
          <p:cNvSpPr txBox="1"/>
          <p:nvPr/>
        </p:nvSpPr>
        <p:spPr>
          <a:xfrm>
            <a:off x="811725" y="876675"/>
            <a:ext cx="2494500" cy="7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Proxima Nova"/>
                <a:ea typeface="Proxima Nova"/>
                <a:cs typeface="Proxima Nova"/>
                <a:sym typeface="Proxima Nova"/>
              </a:rPr>
              <a:t>Enfoque do curso:</a:t>
            </a:r>
            <a:endParaRPr sz="1800" b="0" i="0" u="none" strike="noStrike" cap="none">
              <a:solidFill>
                <a:schemeClr val="lt1"/>
              </a:solidFill>
              <a:highlight>
                <a:schemeClr val="dk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8"/>
          <p:cNvSpPr txBox="1">
            <a:spLocks noGrp="1"/>
          </p:cNvSpPr>
          <p:nvPr>
            <p:ph type="title"/>
          </p:nvPr>
        </p:nvSpPr>
        <p:spPr>
          <a:xfrm>
            <a:off x="2622825" y="2057400"/>
            <a:ext cx="601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4600" dirty="0">
                <a:solidFill>
                  <a:schemeClr val="tx1"/>
                </a:solidFill>
              </a:rPr>
              <a:t>Intervalo</a:t>
            </a:r>
            <a:endParaRPr sz="4600" dirty="0">
              <a:solidFill>
                <a:schemeClr val="tx1"/>
              </a:solidFill>
            </a:endParaRPr>
          </a:p>
        </p:txBody>
      </p:sp>
      <p:pic>
        <p:nvPicPr>
          <p:cNvPr id="782" name="Google Shape;782;p48"/>
          <p:cNvPicPr preferRelativeResize="0"/>
          <p:nvPr/>
        </p:nvPicPr>
        <p:blipFill rotWithShape="1">
          <a:blip r:embed="rId3">
            <a:alphaModFix/>
          </a:blip>
          <a:srcRect l="3415" t="3930" r="3527" b="2943"/>
          <a:stretch/>
        </p:blipFill>
        <p:spPr>
          <a:xfrm>
            <a:off x="610125" y="2057400"/>
            <a:ext cx="1863600" cy="1865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87;p49">
            <a:extLst>
              <a:ext uri="{FF2B5EF4-FFF2-40B4-BE49-F238E27FC236}">
                <a16:creationId xmlns:a16="http://schemas.microsoft.com/office/drawing/2014/main" id="{338071DC-6198-8C05-0758-436379A5233B}"/>
              </a:ext>
            </a:extLst>
          </p:cNvPr>
          <p:cNvSpPr txBox="1">
            <a:spLocks/>
          </p:cNvSpPr>
          <p:nvPr/>
        </p:nvSpPr>
        <p:spPr>
          <a:xfrm>
            <a:off x="510450" y="2687988"/>
            <a:ext cx="8123100" cy="2109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 b="0" i="0" u="none" strike="noStrike" cap="none" spc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 b="0" i="0" u="none" strike="noStrike" cap="none" spc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 b="0" i="0" u="none" strike="noStrike" cap="none" spc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 b="0" i="0" u="none" strike="noStrike" cap="none" spc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 b="0" i="0" u="none" strike="noStrike" cap="none" spc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 b="0" i="0" u="none" strike="noStrike" cap="none" spc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 b="0" i="0" u="none" strike="noStrike" cap="none" spc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 b="0" i="0" u="none" strike="noStrike" cap="none" spc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 b="0" i="0" u="none" strike="noStrike" cap="none" spc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pt-BR" dirty="0"/>
              <a:t>Preparação do</a:t>
            </a:r>
          </a:p>
          <a:p>
            <a:r>
              <a:rPr lang="pt-BR" dirty="0"/>
              <a:t>ambiente para análise</a:t>
            </a:r>
            <a:endParaRPr lang="pt-BR" i="1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Ambiente do curso</a:t>
            </a:r>
            <a:endParaRPr/>
          </a:p>
        </p:txBody>
      </p:sp>
      <p:sp>
        <p:nvSpPr>
          <p:cNvPr id="793" name="Google Shape;793;p50"/>
          <p:cNvSpPr txBox="1">
            <a:spLocks noGrp="1"/>
          </p:cNvSpPr>
          <p:nvPr>
            <p:ph type="body" idx="1"/>
          </p:nvPr>
        </p:nvSpPr>
        <p:spPr>
          <a:xfrm>
            <a:off x="767388" y="787725"/>
            <a:ext cx="37509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Atividades práticas: </a:t>
            </a:r>
            <a:r>
              <a:rPr lang="pt-BR" sz="1400" b="1">
                <a:solidFill>
                  <a:schemeClr val="dk1"/>
                </a:solidFill>
              </a:rPr>
              <a:t>Google Classroom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794" name="Google Shape;794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200" y="1207791"/>
            <a:ext cx="800050" cy="638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2525" y="1207800"/>
            <a:ext cx="1820637" cy="6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a37cb035d_0_13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Ambiente do curso</a:t>
            </a:r>
            <a:endParaRPr/>
          </a:p>
        </p:txBody>
      </p:sp>
      <p:pic>
        <p:nvPicPr>
          <p:cNvPr id="801" name="Google Shape;801;g3fa37cb035d_0_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600" y="1997100"/>
            <a:ext cx="5124700" cy="291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g3fa37cb035d_0_130"/>
          <p:cNvSpPr txBox="1">
            <a:spLocks noGrp="1"/>
          </p:cNvSpPr>
          <p:nvPr>
            <p:ph type="body" idx="1"/>
          </p:nvPr>
        </p:nvSpPr>
        <p:spPr>
          <a:xfrm>
            <a:off x="767388" y="787725"/>
            <a:ext cx="37509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Atividades práticas: </a:t>
            </a:r>
            <a:r>
              <a:rPr lang="pt-BR" sz="1400" b="1">
                <a:solidFill>
                  <a:schemeClr val="dk1"/>
                </a:solidFill>
              </a:rPr>
              <a:t>Google Classroom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803" name="Google Shape;803;g3fa37cb035d_0_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200" y="1207791"/>
            <a:ext cx="800050" cy="638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g3fa37cb035d_0_1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32525" y="1207800"/>
            <a:ext cx="1820637" cy="6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fa37cb035d_0_14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Ambiente do curso</a:t>
            </a:r>
            <a:endParaRPr/>
          </a:p>
        </p:txBody>
      </p:sp>
      <p:pic>
        <p:nvPicPr>
          <p:cNvPr id="810" name="Google Shape;810;g3fa37cb035d_0_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600" y="1997100"/>
            <a:ext cx="5124700" cy="291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g3fa37cb035d_0_1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7300" y="1997100"/>
            <a:ext cx="3044550" cy="25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g3fa37cb035d_0_140"/>
          <p:cNvSpPr txBox="1"/>
          <p:nvPr/>
        </p:nvSpPr>
        <p:spPr>
          <a:xfrm>
            <a:off x="6955650" y="4478450"/>
            <a:ext cx="19962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highlight>
                  <a:schemeClr val="accent5"/>
                </a:highlight>
                <a:latin typeface="Proxima Nova"/>
                <a:ea typeface="Proxima Nova"/>
                <a:cs typeface="Proxima Nova"/>
                <a:sym typeface="Proxima Nova"/>
              </a:rPr>
              <a:t>Janelas do RStudio</a:t>
            </a:r>
            <a:endParaRPr sz="1400" b="0" i="0" u="none" strike="noStrike" cap="none">
              <a:solidFill>
                <a:schemeClr val="lt1"/>
              </a:solidFill>
              <a:highlight>
                <a:schemeClr val="accent5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3" name="Google Shape;813;g3fa37cb035d_0_140"/>
          <p:cNvSpPr txBox="1">
            <a:spLocks noGrp="1"/>
          </p:cNvSpPr>
          <p:nvPr>
            <p:ph type="body" idx="1"/>
          </p:nvPr>
        </p:nvSpPr>
        <p:spPr>
          <a:xfrm>
            <a:off x="767388" y="787725"/>
            <a:ext cx="37509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Atividades práticas: </a:t>
            </a:r>
            <a:r>
              <a:rPr lang="pt-BR" sz="1400" b="1">
                <a:solidFill>
                  <a:schemeClr val="dk1"/>
                </a:solidFill>
              </a:rPr>
              <a:t>Google Classroom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814" name="Google Shape;814;g3fa37cb035d_0_1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200" y="1207791"/>
            <a:ext cx="800050" cy="638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g3fa37cb035d_0_14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32525" y="1207800"/>
            <a:ext cx="1820637" cy="6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Importação dos documentos do curso </a:t>
            </a:r>
            <a:endParaRPr/>
          </a:p>
        </p:txBody>
      </p:sp>
      <p:pic>
        <p:nvPicPr>
          <p:cNvPr id="821" name="Google Shape;821;p51"/>
          <p:cNvPicPr preferRelativeResize="0"/>
          <p:nvPr/>
        </p:nvPicPr>
        <p:blipFill rotWithShape="1">
          <a:blip r:embed="rId3">
            <a:alphaModFix/>
          </a:blip>
          <a:srcRect r="57667"/>
          <a:stretch/>
        </p:blipFill>
        <p:spPr>
          <a:xfrm>
            <a:off x="3356657" y="712925"/>
            <a:ext cx="3318999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51"/>
          <p:cNvSpPr txBox="1">
            <a:spLocks noGrp="1"/>
          </p:cNvSpPr>
          <p:nvPr>
            <p:ph type="body" idx="1"/>
          </p:nvPr>
        </p:nvSpPr>
        <p:spPr>
          <a:xfrm>
            <a:off x="767400" y="787725"/>
            <a:ext cx="3750900" cy="9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Criar novo projeto no RStudio: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File &gt; New Project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823" name="Google Shape;823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4157" y="981675"/>
            <a:ext cx="3917999" cy="276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3107" y="1323875"/>
            <a:ext cx="4196301" cy="305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3100" y="1736700"/>
            <a:ext cx="4835826" cy="34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51"/>
          <p:cNvSpPr txBox="1">
            <a:spLocks noGrp="1"/>
          </p:cNvSpPr>
          <p:nvPr>
            <p:ph type="body" idx="1"/>
          </p:nvPr>
        </p:nvSpPr>
        <p:spPr>
          <a:xfrm>
            <a:off x="767400" y="1770325"/>
            <a:ext cx="375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&gt; New Directory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827" name="Google Shape;827;p51"/>
          <p:cNvSpPr txBox="1">
            <a:spLocks noGrp="1"/>
          </p:cNvSpPr>
          <p:nvPr>
            <p:ph type="body" idx="1"/>
          </p:nvPr>
        </p:nvSpPr>
        <p:spPr>
          <a:xfrm>
            <a:off x="767400" y="2196325"/>
            <a:ext cx="375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&gt; New Project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828" name="Google Shape;828;p51"/>
          <p:cNvSpPr txBox="1">
            <a:spLocks noGrp="1"/>
          </p:cNvSpPr>
          <p:nvPr>
            <p:ph type="body" idx="1"/>
          </p:nvPr>
        </p:nvSpPr>
        <p:spPr>
          <a:xfrm>
            <a:off x="767400" y="2769025"/>
            <a:ext cx="375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&gt; Escolha nome do  projeto e 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pasta que ele deve estar no 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seu computador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829" name="Google Shape;829;p51"/>
          <p:cNvSpPr/>
          <p:nvPr/>
        </p:nvSpPr>
        <p:spPr>
          <a:xfrm>
            <a:off x="-51750" y="753475"/>
            <a:ext cx="9247500" cy="4603800"/>
          </a:xfrm>
          <a:prstGeom prst="rect">
            <a:avLst/>
          </a:prstGeom>
          <a:solidFill>
            <a:srgbClr val="FFFFFF">
              <a:alpha val="85882"/>
            </a:srgbClr>
          </a:solidFill>
          <a:ln>
            <a:noFill/>
          </a:ln>
        </p:spPr>
        <p:txBody>
          <a:bodyPr spcFirstLastPara="1" wrap="square" lIns="60475" tIns="30225" rIns="60475" bIns="302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/>
              <a:buNone/>
            </a:pPr>
            <a:endParaRPr sz="119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51"/>
          <p:cNvSpPr/>
          <p:nvPr/>
        </p:nvSpPr>
        <p:spPr>
          <a:xfrm>
            <a:off x="2318400" y="2343025"/>
            <a:ext cx="4350000" cy="1231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1" name="Google Shape;831;p51"/>
          <p:cNvSpPr txBox="1">
            <a:spLocks noGrp="1"/>
          </p:cNvSpPr>
          <p:nvPr>
            <p:ph type="body" idx="1"/>
          </p:nvPr>
        </p:nvSpPr>
        <p:spPr>
          <a:xfrm>
            <a:off x="2318400" y="2417825"/>
            <a:ext cx="4350000" cy="10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2100" b="1">
                <a:solidFill>
                  <a:schemeClr val="dk1"/>
                </a:solidFill>
              </a:rPr>
              <a:t>Baixe os scripts que forem disponibilizados e mova para o novo projeto (pasta)</a:t>
            </a:r>
            <a:endParaRPr sz="210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210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Importação dos documentos do curso </a:t>
            </a:r>
            <a:endParaRPr/>
          </a:p>
        </p:txBody>
      </p:sp>
      <p:sp>
        <p:nvSpPr>
          <p:cNvPr id="837" name="Google Shape;837;p52"/>
          <p:cNvSpPr txBox="1">
            <a:spLocks noGrp="1"/>
          </p:cNvSpPr>
          <p:nvPr>
            <p:ph type="body" idx="1"/>
          </p:nvPr>
        </p:nvSpPr>
        <p:spPr>
          <a:xfrm>
            <a:off x="311700" y="891300"/>
            <a:ext cx="58209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O curso terá todas apresentações e vinhetas (passo-a-passo) disponíveis online no GitHub, por favor acessem o link ou QRCode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838" name="Google Shape;83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28300"/>
            <a:ext cx="5821001" cy="241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5475" y="337417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52"/>
          <p:cNvSpPr txBox="1"/>
          <p:nvPr/>
        </p:nvSpPr>
        <p:spPr>
          <a:xfrm>
            <a:off x="6927000" y="3307800"/>
            <a:ext cx="18759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>
                <a:latin typeface="Proxima Nova"/>
                <a:ea typeface="Proxima Nova"/>
                <a:cs typeface="Proxima Nova"/>
                <a:sym typeface="Proxima Nova"/>
              </a:rPr>
              <a:t>Análise de Dados de Transcriptômica Espacial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https://github.com/flaviogckessler/Curso_ST</a:t>
            </a: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41" name="Google Shape;841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7900" y="891299"/>
            <a:ext cx="1719925" cy="171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Script: DOC1</a:t>
            </a:r>
            <a:endParaRPr/>
          </a:p>
        </p:txBody>
      </p:sp>
      <p:sp>
        <p:nvSpPr>
          <p:cNvPr id="847" name="Google Shape;847;p53"/>
          <p:cNvSpPr txBox="1">
            <a:spLocks noGrp="1"/>
          </p:cNvSpPr>
          <p:nvPr>
            <p:ph type="body" idx="1"/>
          </p:nvPr>
        </p:nvSpPr>
        <p:spPr>
          <a:xfrm>
            <a:off x="311700" y="891300"/>
            <a:ext cx="81501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dirty="0">
                <a:solidFill>
                  <a:schemeClr val="dk1"/>
                </a:solidFill>
              </a:rPr>
              <a:t>Vinheta: 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 u="sng" dirty="0">
                <a:solidFill>
                  <a:schemeClr val="hlink"/>
                </a:solidFill>
                <a:hlinkClick r:id="rId3"/>
              </a:rPr>
              <a:t>Configuração do ambiente do </a:t>
            </a:r>
            <a:r>
              <a:rPr lang="pt-BR" sz="1400" b="1" u="sng" dirty="0" err="1">
                <a:solidFill>
                  <a:schemeClr val="hlink"/>
                </a:solidFill>
                <a:hlinkClick r:id="rId3"/>
              </a:rPr>
              <a:t>RStudio</a:t>
            </a:r>
            <a:r>
              <a:rPr lang="pt-BR" sz="1400" b="1" dirty="0">
                <a:solidFill>
                  <a:schemeClr val="dk1"/>
                </a:solidFill>
              </a:rPr>
              <a:t> </a:t>
            </a:r>
            <a:r>
              <a:rPr lang="pt-BR" sz="1400" dirty="0">
                <a:solidFill>
                  <a:schemeClr val="dk1"/>
                </a:solidFill>
              </a:rPr>
              <a:t>	(abrir link na sua no repositório do curso)</a:t>
            </a:r>
            <a:endParaRPr sz="1400" dirty="0">
              <a:solidFill>
                <a:schemeClr val="dk1"/>
              </a:solidFill>
            </a:endParaRPr>
          </a:p>
        </p:txBody>
      </p:sp>
      <p:pic>
        <p:nvPicPr>
          <p:cNvPr id="848" name="Google Shape;84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675" y="1860800"/>
            <a:ext cx="7809249" cy="295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Diretório de trabalho</a:t>
            </a:r>
            <a:endParaRPr/>
          </a:p>
        </p:txBody>
      </p:sp>
      <p:sp>
        <p:nvSpPr>
          <p:cNvPr id="855" name="Google Shape;855;p54"/>
          <p:cNvSpPr txBox="1">
            <a:spLocks noGrp="1"/>
          </p:cNvSpPr>
          <p:nvPr>
            <p:ph type="body" idx="1"/>
          </p:nvPr>
        </p:nvSpPr>
        <p:spPr>
          <a:xfrm>
            <a:off x="311700" y="891300"/>
            <a:ext cx="27789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dirty="0">
                <a:solidFill>
                  <a:schemeClr val="dk1"/>
                </a:solidFill>
              </a:rPr>
              <a:t>Interação com o diretório de trabalho do usuário dentro do servidor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dirty="0">
                <a:solidFill>
                  <a:schemeClr val="dk1"/>
                </a:solidFill>
              </a:rPr>
              <a:t>(</a:t>
            </a:r>
            <a:r>
              <a:rPr lang="pt-BR" sz="1400" i="1" dirty="0" err="1">
                <a:solidFill>
                  <a:schemeClr val="dk1"/>
                </a:solidFill>
              </a:rPr>
              <a:t>working</a:t>
            </a:r>
            <a:r>
              <a:rPr lang="pt-BR" sz="1400" i="1" dirty="0">
                <a:solidFill>
                  <a:schemeClr val="dk1"/>
                </a:solidFill>
              </a:rPr>
              <a:t> </a:t>
            </a:r>
            <a:r>
              <a:rPr lang="pt-BR" sz="1400" i="1" dirty="0" err="1">
                <a:solidFill>
                  <a:schemeClr val="dk1"/>
                </a:solidFill>
              </a:rPr>
              <a:t>directory</a:t>
            </a:r>
            <a:r>
              <a:rPr lang="pt-BR" sz="1400" dirty="0">
                <a:solidFill>
                  <a:schemeClr val="dk1"/>
                </a:solidFill>
              </a:rPr>
              <a:t>).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dirty="0">
                <a:solidFill>
                  <a:schemeClr val="dk1"/>
                </a:solidFill>
              </a:rPr>
              <a:t>Interação com pasta onde estão armazenados os pacotes instalados.</a:t>
            </a:r>
            <a:endParaRPr sz="1400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F73FCD-37C3-CCBE-A29C-D054FA4C7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945" y="712925"/>
            <a:ext cx="5423785" cy="403071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Pacotes para análises</a:t>
            </a:r>
            <a:endParaRPr/>
          </a:p>
        </p:txBody>
      </p:sp>
      <p:sp>
        <p:nvSpPr>
          <p:cNvPr id="862" name="Google Shape;862;p55"/>
          <p:cNvSpPr txBox="1">
            <a:spLocks noGrp="1"/>
          </p:cNvSpPr>
          <p:nvPr>
            <p:ph type="body" idx="1"/>
          </p:nvPr>
        </p:nvSpPr>
        <p:spPr>
          <a:xfrm>
            <a:off x="311700" y="891300"/>
            <a:ext cx="27789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dirty="0">
                <a:solidFill>
                  <a:schemeClr val="dk1"/>
                </a:solidFill>
              </a:rPr>
              <a:t>Instalação de pacotes com as funções necessárias para todos os passos das análises.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dirty="0">
                <a:solidFill>
                  <a:schemeClr val="dk1"/>
                </a:solidFill>
              </a:rPr>
              <a:t>Repositórios: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 sz="1400" dirty="0">
                <a:solidFill>
                  <a:schemeClr val="dk1"/>
                </a:solidFill>
              </a:rPr>
              <a:t>CRAN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chemeClr val="dk1"/>
              </a:solidFill>
            </a:endParaRPr>
          </a:p>
        </p:txBody>
      </p:sp>
      <p:pic>
        <p:nvPicPr>
          <p:cNvPr id="863" name="Google Shape;863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786" y="3099725"/>
            <a:ext cx="2257180" cy="18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5775" y="2532250"/>
            <a:ext cx="7171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5BDD58-1BD4-D158-B6BD-00C6F79E34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5929" y="915581"/>
            <a:ext cx="5292661" cy="367919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Pacotes para análises</a:t>
            </a:r>
            <a:endParaRPr/>
          </a:p>
        </p:txBody>
      </p:sp>
      <p:sp>
        <p:nvSpPr>
          <p:cNvPr id="872" name="Google Shape;872;p56"/>
          <p:cNvSpPr txBox="1">
            <a:spLocks noGrp="1"/>
          </p:cNvSpPr>
          <p:nvPr>
            <p:ph type="body" idx="1"/>
          </p:nvPr>
        </p:nvSpPr>
        <p:spPr>
          <a:xfrm>
            <a:off x="311700" y="891300"/>
            <a:ext cx="27789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Instalação de pacotes com as funções necessárias para todos os passos das análises.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Repositórios: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 sz="1400">
                <a:solidFill>
                  <a:schemeClr val="dk1"/>
                </a:solidFill>
              </a:rPr>
              <a:t>Bioconductor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 sz="1400">
                <a:solidFill>
                  <a:schemeClr val="dk1"/>
                </a:solidFill>
              </a:rPr>
              <a:t>GitHub</a:t>
            </a:r>
            <a:endParaRPr sz="1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873" name="Google Shape;873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025" y="2504250"/>
            <a:ext cx="160507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56"/>
          <p:cNvPicPr preferRelativeResize="0"/>
          <p:nvPr/>
        </p:nvPicPr>
        <p:blipFill rotWithShape="1">
          <a:blip r:embed="rId4">
            <a:alphaModFix/>
          </a:blip>
          <a:srcRect t="14973" b="21121"/>
          <a:stretch/>
        </p:blipFill>
        <p:spPr>
          <a:xfrm>
            <a:off x="696164" y="3584219"/>
            <a:ext cx="1605075" cy="37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2AC44C-337A-409E-D9D7-ADE39AB44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339" y="561770"/>
            <a:ext cx="4824467" cy="24037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1F15C5-026B-05D5-4AEB-9EB2C6E61C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339" y="3072379"/>
            <a:ext cx="4824467" cy="177974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Instalação de R e RStudio </a:t>
            </a:r>
            <a:endParaRPr/>
          </a:p>
        </p:txBody>
      </p:sp>
      <p:sp>
        <p:nvSpPr>
          <p:cNvPr id="882" name="Google Shape;882;p57"/>
          <p:cNvSpPr txBox="1">
            <a:spLocks noGrp="1"/>
          </p:cNvSpPr>
          <p:nvPr>
            <p:ph type="body" idx="1"/>
          </p:nvPr>
        </p:nvSpPr>
        <p:spPr>
          <a:xfrm>
            <a:off x="635400" y="1015125"/>
            <a:ext cx="31365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Diversos tutoriais disponíveis para a </a:t>
            </a:r>
            <a:r>
              <a:rPr lang="pt-BR" sz="1400" b="1">
                <a:solidFill>
                  <a:schemeClr val="dk1"/>
                </a:solidFill>
              </a:rPr>
              <a:t>primeiros passos com R e RStudio</a:t>
            </a:r>
            <a:r>
              <a:rPr lang="pt-BR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883" name="Google Shape;883;p57"/>
          <p:cNvSpPr txBox="1">
            <a:spLocks noGrp="1"/>
          </p:cNvSpPr>
          <p:nvPr>
            <p:ph type="body" idx="1"/>
          </p:nvPr>
        </p:nvSpPr>
        <p:spPr>
          <a:xfrm>
            <a:off x="4572000" y="1015125"/>
            <a:ext cx="34671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Recomendação: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Isolar análises em projetos específicos, cada um com o seu conjunto de pacotes.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 sz="1400">
                <a:solidFill>
                  <a:schemeClr val="dk1"/>
                </a:solidFill>
              </a:rPr>
              <a:t>Evita </a:t>
            </a:r>
            <a:r>
              <a:rPr lang="pt-BR" sz="1400" b="1">
                <a:solidFill>
                  <a:schemeClr val="dk1"/>
                </a:solidFill>
              </a:rPr>
              <a:t>incompatibilidade entre versões</a:t>
            </a:r>
            <a:r>
              <a:rPr lang="pt-BR" sz="1400">
                <a:solidFill>
                  <a:schemeClr val="dk1"/>
                </a:solidFill>
              </a:rPr>
              <a:t> de pacotes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 sz="1400">
                <a:solidFill>
                  <a:schemeClr val="dk1"/>
                </a:solidFill>
              </a:rPr>
              <a:t>Garante </a:t>
            </a:r>
            <a:r>
              <a:rPr lang="pt-BR" sz="1400" b="1">
                <a:solidFill>
                  <a:schemeClr val="dk1"/>
                </a:solidFill>
              </a:rPr>
              <a:t>reprodutibilidade</a:t>
            </a:r>
            <a:r>
              <a:rPr lang="pt-BR" sz="1400">
                <a:solidFill>
                  <a:schemeClr val="dk1"/>
                </a:solidFill>
              </a:rPr>
              <a:t> dos resultados.</a:t>
            </a:r>
            <a:endParaRPr sz="1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884" name="Google Shape;88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400" y="2155650"/>
            <a:ext cx="681025" cy="6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2984325"/>
            <a:ext cx="681025" cy="6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57"/>
          <p:cNvSpPr txBox="1"/>
          <p:nvPr/>
        </p:nvSpPr>
        <p:spPr>
          <a:xfrm>
            <a:off x="1316425" y="2079400"/>
            <a:ext cx="2531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Dataquest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2020. </a:t>
            </a:r>
            <a:endParaRPr sz="11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Tutorial: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Getting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Started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with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R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and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RStudio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1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https://www.dataquest.io/blog/tutorial-getting-started-with-r-and-rstudio/</a:t>
            </a:r>
            <a:endParaRPr sz="11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7" name="Google Shape;887;p57"/>
          <p:cNvSpPr txBox="1"/>
          <p:nvPr/>
        </p:nvSpPr>
        <p:spPr>
          <a:xfrm>
            <a:off x="5253025" y="2927175"/>
            <a:ext cx="2414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Introduction to renv v1.1.4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https://rstudio.github.io/renv/articles/renv.html</a:t>
            </a: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8" name="Google Shape;888;p57"/>
          <p:cNvSpPr txBox="1"/>
          <p:nvPr/>
        </p:nvSpPr>
        <p:spPr>
          <a:xfrm>
            <a:off x="1316413" y="3146200"/>
            <a:ext cx="25317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Datacamp 2025. 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RStudio Tutorial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https://www.datacamp.com/tutorial/r-studio-tutorial</a:t>
            </a: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/>
              <a:t>Até a próxima aula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2057</Words>
  <Application>Microsoft Office PowerPoint</Application>
  <PresentationFormat>On-screen Show (16:9)</PresentationFormat>
  <Paragraphs>483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2" baseType="lpstr">
      <vt:lpstr>Proxima Nova</vt:lpstr>
      <vt:lpstr>EB Garamond</vt:lpstr>
      <vt:lpstr>Arial</vt:lpstr>
      <vt:lpstr>Spearmint</vt:lpstr>
      <vt:lpstr>Análise de Dados de  Transcriptômica Espacial</vt:lpstr>
      <vt:lpstr>PowerPoint Presentation</vt:lpstr>
      <vt:lpstr>Análise de Dados de Transcriptômica Espacial </vt:lpstr>
      <vt:lpstr>Introdução às transcriptômicas de alta resolução</vt:lpstr>
      <vt:lpstr>Apresentação</vt:lpstr>
      <vt:lpstr>Instrutor</vt:lpstr>
      <vt:lpstr>Participantes</vt:lpstr>
      <vt:lpstr>Participantes</vt:lpstr>
      <vt:lpstr>Ambiente do curso</vt:lpstr>
      <vt:lpstr>Fundamentos  teóricos</vt:lpstr>
      <vt:lpstr>Objetivo de transcriptômicas de alta resolução</vt:lpstr>
      <vt:lpstr>Amostras biológicas têm diferentes níveis de complexidade</vt:lpstr>
      <vt:lpstr>Lisados celulares mascaram essa complexidade</vt:lpstr>
      <vt:lpstr>Essa complexidade tem relevância clínica</vt:lpstr>
      <vt:lpstr>Transcriptômicas de alta resolução vs. RNA-seq clássico (bulk)</vt:lpstr>
      <vt:lpstr>Transcriptômica com Sequenciamento de Nova Geração (NGS)</vt:lpstr>
      <vt:lpstr>Métodos de transcriptômica de células individuais</vt:lpstr>
      <vt:lpstr>Single-cell RNA-seq (scRNA-seq) Evolução de tecnologias</vt:lpstr>
      <vt:lpstr>Single-cell RNA-seq (scRNA-seq) Evolução de tecnologias</vt:lpstr>
      <vt:lpstr>Single-cell RNA-seq (scRNA-seq) Evolução de tecnologias</vt:lpstr>
      <vt:lpstr>Single-cell RNA-seq (scRNA-seq) Princípios</vt:lpstr>
      <vt:lpstr>Single-cell RNA-seq (scRNA-seq) Princípios</vt:lpstr>
      <vt:lpstr>Single-cell RNA-seq (scRNA-seq) Princípios</vt:lpstr>
      <vt:lpstr>Single-cell RNA-seq (scRNA-seq) Princípios</vt:lpstr>
      <vt:lpstr>Outros métodos BD Rhapsody</vt:lpstr>
      <vt:lpstr>Droplet-based vs. Plate-based</vt:lpstr>
      <vt:lpstr>Conteúdos extras</vt:lpstr>
      <vt:lpstr>Métodos de  transcriptômica espacial</vt:lpstr>
      <vt:lpstr>RNA-seq espacial Evolução de tecnologias</vt:lpstr>
      <vt:lpstr>RNA-seq espacial Evolução de tecnologias</vt:lpstr>
      <vt:lpstr>RNA-seq espacial Evolução de tecnologias</vt:lpstr>
      <vt:lpstr>RNA-seq espacial Princípios</vt:lpstr>
      <vt:lpstr>RNA-seq espacial Princípios</vt:lpstr>
      <vt:lpstr>RNA-seq espacial Princípios</vt:lpstr>
      <vt:lpstr>RNA-seq espacial Princípios - Tecnologia Visium</vt:lpstr>
      <vt:lpstr>RNA-seq espacial Princípios - Tecnologia Visium</vt:lpstr>
      <vt:lpstr>RNA-seq espacial Princípios - Tecnologia Visium</vt:lpstr>
      <vt:lpstr>RNA-seq espacial Princípios - Tecnologia Visium</vt:lpstr>
      <vt:lpstr>Conteúdos extras</vt:lpstr>
      <vt:lpstr>Análise de dados</vt:lpstr>
      <vt:lpstr>Passos da análise de dados de transcriptômica de alta resolução</vt:lpstr>
      <vt:lpstr>Passos da análise de dados de transcriptômica de alta resolução</vt:lpstr>
      <vt:lpstr>Passos da análise de dados de transcriptômica de alta resolução</vt:lpstr>
      <vt:lpstr>Passos da análise de dados de transcriptômica de alta resolução</vt:lpstr>
      <vt:lpstr>Passos da análise de dados de transcriptômica de alta resolução</vt:lpstr>
      <vt:lpstr>Passos da análise de dados de transcriptômica de alta resolução</vt:lpstr>
      <vt:lpstr>Volume e complexidade de dados</vt:lpstr>
      <vt:lpstr>Volume e complexidade de dados</vt:lpstr>
      <vt:lpstr>Volume e complexidade de dados</vt:lpstr>
      <vt:lpstr>Volume e complexidade de dados</vt:lpstr>
      <vt:lpstr>Volume e complexidade de dados</vt:lpstr>
      <vt:lpstr>Volume e complexidade de dados</vt:lpstr>
      <vt:lpstr>Volume e complexidade de dados</vt:lpstr>
      <vt:lpstr>Volume e complexidade de dados</vt:lpstr>
      <vt:lpstr>Passos da análise de dados de transcriptômica de alta resolução</vt:lpstr>
      <vt:lpstr>Intervalo</vt:lpstr>
      <vt:lpstr>PowerPoint Presentation</vt:lpstr>
      <vt:lpstr>Ambiente do curso</vt:lpstr>
      <vt:lpstr>Ambiente do curso</vt:lpstr>
      <vt:lpstr>Ambiente do curso</vt:lpstr>
      <vt:lpstr>Importação dos documentos do curso </vt:lpstr>
      <vt:lpstr>Importação dos documentos do curso </vt:lpstr>
      <vt:lpstr>Script: DOC1</vt:lpstr>
      <vt:lpstr>Diretório de trabalho</vt:lpstr>
      <vt:lpstr>Pacotes para análises</vt:lpstr>
      <vt:lpstr>Pacotes para análises</vt:lpstr>
      <vt:lpstr>Instalação de R e RStudio </vt:lpstr>
      <vt:lpstr>Até a próxima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Flávio Kessler</cp:lastModifiedBy>
  <cp:revision>1</cp:revision>
  <dcterms:modified xsi:type="dcterms:W3CDTF">2026-09-06T19:27:30Z</dcterms:modified>
</cp:coreProperties>
</file>