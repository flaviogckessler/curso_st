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5a67ecf64234ede" /><Relationship Type="http://schemas.openxmlformats.org/officeDocument/2006/relationships/extended-properties" Target="/docProps/app.xml" Id="Rd2c88d86031e4790" /><Relationship Type="http://schemas.openxmlformats.org/officeDocument/2006/relationships/officeDocument" Target="/ppt/presentation.xml" Id="R0f8cf194bbb54c5d" /></Relationships>
</file>

<file path=ppt/presentation.xml><?xml version="1.0" encoding="utf-8"?>
<p:presentation xmlns:p="http://schemas.openxmlformats.org/presentationml/2006/main" embedTrueTypeFonts="1" saveSubsetFonts="1">
  <p:sldMasterIdLst>
    <p:sldMasterId xmlns:r="http://schemas.openxmlformats.org/officeDocument/2006/relationships" id="2147483648" r:id="R213c9254dacc44ea"/>
  </p:sldMasterIdLst>
  <p:notesMasterIdLst>
    <p:notesMasterId xmlns:r="http://schemas.openxmlformats.org/officeDocument/2006/relationships" r:id="Rf9f7761f39534281"/>
  </p:notesMasterIdLst>
  <p:sldIdLst>
    <p:sldId xmlns:r="http://schemas.openxmlformats.org/officeDocument/2006/relationships" id="256" r:id="Ra84abf724d8141c5"/>
    <p:sldId xmlns:r="http://schemas.openxmlformats.org/officeDocument/2006/relationships" id="257" r:id="Rc0a4ebf019a2412c"/>
    <p:sldId xmlns:r="http://schemas.openxmlformats.org/officeDocument/2006/relationships" id="258" r:id="R4fe565b7a41641b9"/>
    <p:sldId xmlns:r="http://schemas.openxmlformats.org/officeDocument/2006/relationships" id="259" r:id="R6bb059be943d48e6"/>
    <p:sldId xmlns:r="http://schemas.openxmlformats.org/officeDocument/2006/relationships" id="260" r:id="Rd3240bcf8f4c4ea6"/>
    <p:sldId xmlns:r="http://schemas.openxmlformats.org/officeDocument/2006/relationships" id="261" r:id="Rba0b7f88eae94060"/>
    <p:sldId xmlns:r="http://schemas.openxmlformats.org/officeDocument/2006/relationships" id="262" r:id="R4680df04ac1f431d"/>
    <p:sldId xmlns:r="http://schemas.openxmlformats.org/officeDocument/2006/relationships" id="263" r:id="R4bc454d8effb4c4c"/>
    <p:sldId xmlns:r="http://schemas.openxmlformats.org/officeDocument/2006/relationships" id="264" r:id="Rff54175d169c448f"/>
    <p:sldId xmlns:r="http://schemas.openxmlformats.org/officeDocument/2006/relationships" id="265" r:id="R700968afa5f8470f"/>
    <p:sldId xmlns:r="http://schemas.openxmlformats.org/officeDocument/2006/relationships" id="266" r:id="R949e6736667e458a"/>
    <p:sldId xmlns:r="http://schemas.openxmlformats.org/officeDocument/2006/relationships" id="267" r:id="R9ba7e6038c4e42f2"/>
    <p:sldId xmlns:r="http://schemas.openxmlformats.org/officeDocument/2006/relationships" id="268" r:id="R4b7b0769e43d4235"/>
    <p:sldId xmlns:r="http://schemas.openxmlformats.org/officeDocument/2006/relationships" id="269" r:id="R97f9d51d96d54e91"/>
    <p:sldId xmlns:r="http://schemas.openxmlformats.org/officeDocument/2006/relationships" id="270" r:id="R8de4461f87434813"/>
    <p:sldId xmlns:r="http://schemas.openxmlformats.org/officeDocument/2006/relationships" id="271" r:id="Rcb80e40a4e104b97"/>
    <p:sldId xmlns:r="http://schemas.openxmlformats.org/officeDocument/2006/relationships" id="272" r:id="R05b7088ecd0b4f54"/>
    <p:sldId xmlns:r="http://schemas.openxmlformats.org/officeDocument/2006/relationships" id="273" r:id="R8b0ec1011dad4fef"/>
    <p:sldId xmlns:r="http://schemas.openxmlformats.org/officeDocument/2006/relationships" id="274" r:id="R269e625cd5d94e4c"/>
    <p:sldId xmlns:r="http://schemas.openxmlformats.org/officeDocument/2006/relationships" id="275" r:id="R97b14b7285484c42"/>
    <p:sldId xmlns:r="http://schemas.openxmlformats.org/officeDocument/2006/relationships" id="276" r:id="R2cc95457655a44d8"/>
    <p:sldId xmlns:r="http://schemas.openxmlformats.org/officeDocument/2006/relationships" id="277" r:id="R9ebc85b31b004e4d"/>
    <p:sldId xmlns:r="http://schemas.openxmlformats.org/officeDocument/2006/relationships" id="278" r:id="Radb9078eec3e45ce"/>
    <p:sldId xmlns:r="http://schemas.openxmlformats.org/officeDocument/2006/relationships" id="279" r:id="R44358438bc2f46b7"/>
    <p:sldId xmlns:r="http://schemas.openxmlformats.org/officeDocument/2006/relationships" id="280" r:id="R335ae5704c5041eb"/>
    <p:sldId xmlns:r="http://schemas.openxmlformats.org/officeDocument/2006/relationships" id="281" r:id="Rd584e242d3234387"/>
    <p:sldId xmlns:r="http://schemas.openxmlformats.org/officeDocument/2006/relationships" id="282" r:id="R9f423a5d0b0a4707"/>
    <p:sldId xmlns:r="http://schemas.openxmlformats.org/officeDocument/2006/relationships" id="283" r:id="Rec884e886e344258"/>
    <p:sldId xmlns:r="http://schemas.openxmlformats.org/officeDocument/2006/relationships" id="284" r:id="R135b5289f6774d68"/>
    <p:sldId xmlns:r="http://schemas.openxmlformats.org/officeDocument/2006/relationships" id="285" r:id="R8620842aed054048"/>
    <p:sldId xmlns:r="http://schemas.openxmlformats.org/officeDocument/2006/relationships" id="286" r:id="R704d24c87d9b49dc"/>
    <p:sldId xmlns:r="http://schemas.openxmlformats.org/officeDocument/2006/relationships" id="287" r:id="R7affce4515334b28"/>
    <p:sldId xmlns:r="http://schemas.openxmlformats.org/officeDocument/2006/relationships" id="288" r:id="R560c3736732b4697"/>
    <p:sldId xmlns:r="http://schemas.openxmlformats.org/officeDocument/2006/relationships" id="289" r:id="R1eade8a5b5584acc"/>
    <p:sldId xmlns:r="http://schemas.openxmlformats.org/officeDocument/2006/relationships" id="290" r:id="R6bd8c30a9eaf4701"/>
    <p:sldId xmlns:r="http://schemas.openxmlformats.org/officeDocument/2006/relationships" id="291" r:id="Rbd26f474d179409d"/>
    <p:sldId xmlns:r="http://schemas.openxmlformats.org/officeDocument/2006/relationships" id="292" r:id="R67df846f62384d88"/>
    <p:sldId xmlns:r="http://schemas.openxmlformats.org/officeDocument/2006/relationships" id="293" r:id="R35a0f68fbcd14036"/>
    <p:sldId xmlns:r="http://schemas.openxmlformats.org/officeDocument/2006/relationships" id="294" r:id="Rb05177e3a3b64cc7"/>
    <p:sldId xmlns:r="http://schemas.openxmlformats.org/officeDocument/2006/relationships" id="295" r:id="R6e4116b68a494cfe"/>
    <p:sldId xmlns:r="http://schemas.openxmlformats.org/officeDocument/2006/relationships" id="296" r:id="R959e9fb910b74a30"/>
    <p:sldId xmlns:r="http://schemas.openxmlformats.org/officeDocument/2006/relationships" id="297" r:id="R407435147d7d42f9"/>
    <p:sldId xmlns:r="http://schemas.openxmlformats.org/officeDocument/2006/relationships" id="298" r:id="Rdbbea7eedd3f4d3b"/>
    <p:sldId xmlns:r="http://schemas.openxmlformats.org/officeDocument/2006/relationships" id="299" r:id="Rf06b474e55ab4f7d"/>
    <p:sldId xmlns:r="http://schemas.openxmlformats.org/officeDocument/2006/relationships" id="300" r:id="R682d5e15fbcf465c"/>
    <p:sldId xmlns:r="http://schemas.openxmlformats.org/officeDocument/2006/relationships" id="301" r:id="Rafd6c84400434c40"/>
    <p:sldId xmlns:r="http://schemas.openxmlformats.org/officeDocument/2006/relationships" id="302" r:id="R89d31ac4dae9474a"/>
    <p:sldId xmlns:r="http://schemas.openxmlformats.org/officeDocument/2006/relationships" id="303" r:id="R57ed085fb0854a45"/>
    <p:sldId xmlns:r="http://schemas.openxmlformats.org/officeDocument/2006/relationships" id="304" r:id="R15eccfd7a84e48ab"/>
    <p:sldId xmlns:r="http://schemas.openxmlformats.org/officeDocument/2006/relationships" id="305" r:id="R3343724aaa0b4999"/>
    <p:sldId xmlns:r="http://schemas.openxmlformats.org/officeDocument/2006/relationships" id="306" r:id="R3b2dc187e6b6446b"/>
    <p:sldId xmlns:r="http://schemas.openxmlformats.org/officeDocument/2006/relationships" id="307" r:id="R13bb5de9cfa547bf"/>
    <p:sldId xmlns:r="http://schemas.openxmlformats.org/officeDocument/2006/relationships" id="308" r:id="Rb9bfb30a19754de9"/>
    <p:sldId xmlns:r="http://schemas.openxmlformats.org/officeDocument/2006/relationships" id="309" r:id="Rc897627cf685483e"/>
    <p:sldId xmlns:r="http://schemas.openxmlformats.org/officeDocument/2006/relationships" id="310" r:id="Ra7ba871b617242cc"/>
    <p:sldId xmlns:r="http://schemas.openxmlformats.org/officeDocument/2006/relationships" id="311" r:id="Raba7ca45b0444d5b"/>
    <p:sldId xmlns:r="http://schemas.openxmlformats.org/officeDocument/2006/relationships" id="312" r:id="Rac75704e421849f1"/>
    <p:sldId xmlns:r="http://schemas.openxmlformats.org/officeDocument/2006/relationships" id="313" r:id="Raf48cca2c063448a"/>
    <p:sldId xmlns:r="http://schemas.openxmlformats.org/officeDocument/2006/relationships" id="314" r:id="R62da056ff64c4c2e"/>
    <p:sldId xmlns:r="http://schemas.openxmlformats.org/officeDocument/2006/relationships" id="315" r:id="R8340e740ad83494c"/>
    <p:sldId xmlns:r="http://schemas.openxmlformats.org/officeDocument/2006/relationships" id="316" r:id="Rc9251130008443a7"/>
    <p:sldId xmlns:r="http://schemas.openxmlformats.org/officeDocument/2006/relationships" id="317" r:id="Rf5c092277ffd4201"/>
    <p:sldId xmlns:r="http://schemas.openxmlformats.org/officeDocument/2006/relationships" id="318" r:id="Reffa295d4cf24836"/>
    <p:sldId xmlns:r="http://schemas.openxmlformats.org/officeDocument/2006/relationships" id="319" r:id="R60ee50f6fb544060"/>
    <p:sldId xmlns:r="http://schemas.openxmlformats.org/officeDocument/2006/relationships" id="320" r:id="Rf5fd573c5f1a4be5"/>
    <p:sldId xmlns:r="http://schemas.openxmlformats.org/officeDocument/2006/relationships" id="321" r:id="R4ccc79f9c6fc4083"/>
    <p:sldId xmlns:r="http://schemas.openxmlformats.org/officeDocument/2006/relationships" id="322" r:id="R7530221ce91041cc"/>
    <p:sldId xmlns:r="http://schemas.openxmlformats.org/officeDocument/2006/relationships" id="323" r:id="R89a86f6dea854924"/>
  </p:sldIdLst>
  <p:sldSz cx="9144000" cy="5143500"/>
  <p:notesSz cx="6858000" cy="9144000"/>
  <p:embeddedFontLst>
    <p:embeddedFont>
      <p:font typeface="EB Garamond"/>
      <p:regular xmlns:r="http://schemas.openxmlformats.org/officeDocument/2006/relationships" r:id="Ra2b1b92aa83e4fd8"/>
      <p:bold xmlns:r="http://schemas.openxmlformats.org/officeDocument/2006/relationships" r:id="Rd25983f7f54748d6"/>
      <p:italic xmlns:r="http://schemas.openxmlformats.org/officeDocument/2006/relationships" r:id="R4bcf068b719b4296"/>
      <p:boldItalic xmlns:r="http://schemas.openxmlformats.org/officeDocument/2006/relationships" r:id="Ref460c7cf5c74df5"/>
    </p:embeddedFont>
    <p:embeddedFont>
      <p:font typeface="Proxima Nova"/>
      <p:regular xmlns:r="http://schemas.openxmlformats.org/officeDocument/2006/relationships" r:id="Rc3109febac3b428b"/>
      <p:bold xmlns:r="http://schemas.openxmlformats.org/officeDocument/2006/relationships" r:id="Rad18927a51004ea3"/>
      <p:italic xmlns:r="http://schemas.openxmlformats.org/officeDocument/2006/relationships" r:id="R672a19989720468a"/>
      <p:boldItalic xmlns:r="http://schemas.openxmlformats.org/officeDocument/2006/relationships" r:id="R1488e743e24c4f0f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4a6df9592f14148" /><Relationship Type="http://schemas.openxmlformats.org/officeDocument/2006/relationships/slideMaster" Target="/ppt/slideMasters/slideMaster1.xml" Id="R213c9254dacc44ea" /><Relationship Type="http://schemas.openxmlformats.org/officeDocument/2006/relationships/notesMaster" Target="/ppt/notesMasters/notesMaster1.xml" Id="Rf9f7761f39534281" /><Relationship Type="http://schemas.openxmlformats.org/officeDocument/2006/relationships/presProps" Target="/ppt/presProps.xml" Id="Raee7085c5e78404e" /><Relationship Type="http://schemas.openxmlformats.org/officeDocument/2006/relationships/viewProps" Target="/ppt/viewProps.xml" Id="R8e0a9578034847fb" /><Relationship Type="http://schemas.openxmlformats.org/officeDocument/2006/relationships/tableStyles" Target="/ppt/tableStyles.xml" Id="R4b89a92b627d4211" /><Relationship Type="http://schemas.openxmlformats.org/officeDocument/2006/relationships/font" Target="/ppt/fonts/font.dat" Id="Ra2b1b92aa83e4fd8" /><Relationship Type="http://schemas.openxmlformats.org/officeDocument/2006/relationships/font" Target="/ppt/fonts/font2.dat" Id="Rd25983f7f54748d6" /><Relationship Type="http://schemas.openxmlformats.org/officeDocument/2006/relationships/font" Target="/ppt/fonts/font3.dat" Id="R4bcf068b719b4296" /><Relationship Type="http://schemas.openxmlformats.org/officeDocument/2006/relationships/font" Target="/ppt/fonts/font4.dat" Id="Ref460c7cf5c74df5" /><Relationship Type="http://schemas.openxmlformats.org/officeDocument/2006/relationships/font" Target="/ppt/fonts/font5.dat" Id="Rc3109febac3b428b" /><Relationship Type="http://schemas.openxmlformats.org/officeDocument/2006/relationships/font" Target="/ppt/fonts/font6.dat" Id="Rad18927a51004ea3" /><Relationship Type="http://schemas.openxmlformats.org/officeDocument/2006/relationships/font" Target="/ppt/fonts/font7.dat" Id="R672a19989720468a" /><Relationship Type="http://schemas.openxmlformats.org/officeDocument/2006/relationships/font" Target="/ppt/fonts/font8.dat" Id="R1488e743e24c4f0f" /><Relationship Type="http://schemas.openxmlformats.org/officeDocument/2006/relationships/slide" Target="/ppt/slides/slide1.xml" Id="Ra84abf724d8141c5" /><Relationship Type="http://schemas.openxmlformats.org/officeDocument/2006/relationships/slide" Target="/ppt/slides/slide2.xml" Id="Rc0a4ebf019a2412c" /><Relationship Type="http://schemas.openxmlformats.org/officeDocument/2006/relationships/slide" Target="/ppt/slides/slide3.xml" Id="R4fe565b7a41641b9" /><Relationship Type="http://schemas.openxmlformats.org/officeDocument/2006/relationships/slide" Target="/ppt/slides/slide4.xml" Id="R6bb059be943d48e6" /><Relationship Type="http://schemas.openxmlformats.org/officeDocument/2006/relationships/slide" Target="/ppt/slides/slide5.xml" Id="Rd3240bcf8f4c4ea6" /><Relationship Type="http://schemas.openxmlformats.org/officeDocument/2006/relationships/slide" Target="/ppt/slides/slide6.xml" Id="Rba0b7f88eae94060" /><Relationship Type="http://schemas.openxmlformats.org/officeDocument/2006/relationships/slide" Target="/ppt/slides/slide7.xml" Id="R4680df04ac1f431d" /><Relationship Type="http://schemas.openxmlformats.org/officeDocument/2006/relationships/slide" Target="/ppt/slides/slide8.xml" Id="R4bc454d8effb4c4c" /><Relationship Type="http://schemas.openxmlformats.org/officeDocument/2006/relationships/slide" Target="/ppt/slides/slide9.xml" Id="Rff54175d169c448f" /><Relationship Type="http://schemas.openxmlformats.org/officeDocument/2006/relationships/slide" Target="/ppt/slides/slide10.xml" Id="R700968afa5f8470f" /><Relationship Type="http://schemas.openxmlformats.org/officeDocument/2006/relationships/slide" Target="/ppt/slides/slide11.xml" Id="R949e6736667e458a" /><Relationship Type="http://schemas.openxmlformats.org/officeDocument/2006/relationships/slide" Target="/ppt/slides/slide12.xml" Id="R9ba7e6038c4e42f2" /><Relationship Type="http://schemas.openxmlformats.org/officeDocument/2006/relationships/slide" Target="/ppt/slides/slide13.xml" Id="R4b7b0769e43d4235" /><Relationship Type="http://schemas.openxmlformats.org/officeDocument/2006/relationships/slide" Target="/ppt/slides/slide14.xml" Id="R97f9d51d96d54e91" /><Relationship Type="http://schemas.openxmlformats.org/officeDocument/2006/relationships/slide" Target="/ppt/slides/slide15.xml" Id="R8de4461f87434813" /><Relationship Type="http://schemas.openxmlformats.org/officeDocument/2006/relationships/slide" Target="/ppt/slides/slide16.xml" Id="Rcb80e40a4e104b97" /><Relationship Type="http://schemas.openxmlformats.org/officeDocument/2006/relationships/slide" Target="/ppt/slides/slide17.xml" Id="R05b7088ecd0b4f54" /><Relationship Type="http://schemas.openxmlformats.org/officeDocument/2006/relationships/slide" Target="/ppt/slides/slide18.xml" Id="R8b0ec1011dad4fef" /><Relationship Type="http://schemas.openxmlformats.org/officeDocument/2006/relationships/slide" Target="/ppt/slides/slide19.xml" Id="R269e625cd5d94e4c" /><Relationship Type="http://schemas.openxmlformats.org/officeDocument/2006/relationships/slide" Target="/ppt/slides/slide20.xml" Id="R97b14b7285484c42" /><Relationship Type="http://schemas.openxmlformats.org/officeDocument/2006/relationships/slide" Target="/ppt/slides/slide21.xml" Id="R2cc95457655a44d8" /><Relationship Type="http://schemas.openxmlformats.org/officeDocument/2006/relationships/slide" Target="/ppt/slides/slide22.xml" Id="R9ebc85b31b004e4d" /><Relationship Type="http://schemas.openxmlformats.org/officeDocument/2006/relationships/slide" Target="/ppt/slides/slide23.xml" Id="Radb9078eec3e45ce" /><Relationship Type="http://schemas.openxmlformats.org/officeDocument/2006/relationships/slide" Target="/ppt/slides/slide24.xml" Id="R44358438bc2f46b7" /><Relationship Type="http://schemas.openxmlformats.org/officeDocument/2006/relationships/slide" Target="/ppt/slides/slide25.xml" Id="R335ae5704c5041eb" /><Relationship Type="http://schemas.openxmlformats.org/officeDocument/2006/relationships/slide" Target="/ppt/slides/slide26.xml" Id="Rd584e242d3234387" /><Relationship Type="http://schemas.openxmlformats.org/officeDocument/2006/relationships/slide" Target="/ppt/slides/slide27.xml" Id="R9f423a5d0b0a4707" /><Relationship Type="http://schemas.openxmlformats.org/officeDocument/2006/relationships/slide" Target="/ppt/slides/slide28.xml" Id="Rec884e886e344258" /><Relationship Type="http://schemas.openxmlformats.org/officeDocument/2006/relationships/slide" Target="/ppt/slides/slide29.xml" Id="R135b5289f6774d68" /><Relationship Type="http://schemas.openxmlformats.org/officeDocument/2006/relationships/slide" Target="/ppt/slides/slide30.xml" Id="R8620842aed054048" /><Relationship Type="http://schemas.openxmlformats.org/officeDocument/2006/relationships/slide" Target="/ppt/slides/slide31.xml" Id="R704d24c87d9b49dc" /><Relationship Type="http://schemas.openxmlformats.org/officeDocument/2006/relationships/slide" Target="/ppt/slides/slide32.xml" Id="R7affce4515334b28" /><Relationship Type="http://schemas.openxmlformats.org/officeDocument/2006/relationships/slide" Target="/ppt/slides/slide33.xml" Id="R560c3736732b4697" /><Relationship Type="http://schemas.openxmlformats.org/officeDocument/2006/relationships/slide" Target="/ppt/slides/slide34.xml" Id="R1eade8a5b5584acc" /><Relationship Type="http://schemas.openxmlformats.org/officeDocument/2006/relationships/slide" Target="/ppt/slides/slide35.xml" Id="R6bd8c30a9eaf4701" /><Relationship Type="http://schemas.openxmlformats.org/officeDocument/2006/relationships/slide" Target="/ppt/slides/slide36.xml" Id="Rbd26f474d179409d" /><Relationship Type="http://schemas.openxmlformats.org/officeDocument/2006/relationships/slide" Target="/ppt/slides/slide37.xml" Id="R67df846f62384d88" /><Relationship Type="http://schemas.openxmlformats.org/officeDocument/2006/relationships/slide" Target="/ppt/slides/slide38.xml" Id="R35a0f68fbcd14036" /><Relationship Type="http://schemas.openxmlformats.org/officeDocument/2006/relationships/slide" Target="/ppt/slides/slide39.xml" Id="Rb05177e3a3b64cc7" /><Relationship Type="http://schemas.openxmlformats.org/officeDocument/2006/relationships/slide" Target="/ppt/slides/slide40.xml" Id="R6e4116b68a494cfe" /><Relationship Type="http://schemas.openxmlformats.org/officeDocument/2006/relationships/slide" Target="/ppt/slides/slide41.xml" Id="R959e9fb910b74a30" /><Relationship Type="http://schemas.openxmlformats.org/officeDocument/2006/relationships/slide" Target="/ppt/slides/slide42.xml" Id="R407435147d7d42f9" /><Relationship Type="http://schemas.openxmlformats.org/officeDocument/2006/relationships/slide" Target="/ppt/slides/slide43.xml" Id="Rdbbea7eedd3f4d3b" /><Relationship Type="http://schemas.openxmlformats.org/officeDocument/2006/relationships/slide" Target="/ppt/slides/slide44.xml" Id="Rf06b474e55ab4f7d" /><Relationship Type="http://schemas.openxmlformats.org/officeDocument/2006/relationships/slide" Target="/ppt/slides/slide45.xml" Id="R682d5e15fbcf465c" /><Relationship Type="http://schemas.openxmlformats.org/officeDocument/2006/relationships/slide" Target="/ppt/slides/slide46.xml" Id="Rafd6c84400434c40" /><Relationship Type="http://schemas.openxmlformats.org/officeDocument/2006/relationships/slide" Target="/ppt/slides/slide47.xml" Id="R89d31ac4dae9474a" /><Relationship Type="http://schemas.openxmlformats.org/officeDocument/2006/relationships/slide" Target="/ppt/slides/slide48.xml" Id="R57ed085fb0854a45" /><Relationship Type="http://schemas.openxmlformats.org/officeDocument/2006/relationships/slide" Target="/ppt/slides/slide49.xml" Id="R15eccfd7a84e48ab" /><Relationship Type="http://schemas.openxmlformats.org/officeDocument/2006/relationships/slide" Target="/ppt/slides/slide50.xml" Id="R3343724aaa0b4999" /><Relationship Type="http://schemas.openxmlformats.org/officeDocument/2006/relationships/slide" Target="/ppt/slides/slide51.xml" Id="R3b2dc187e6b6446b" /><Relationship Type="http://schemas.openxmlformats.org/officeDocument/2006/relationships/slide" Target="/ppt/slides/slide52.xml" Id="R13bb5de9cfa547bf" /><Relationship Type="http://schemas.openxmlformats.org/officeDocument/2006/relationships/slide" Target="/ppt/slides/slide53.xml" Id="Rb9bfb30a19754de9" /><Relationship Type="http://schemas.openxmlformats.org/officeDocument/2006/relationships/slide" Target="/ppt/slides/slide54.xml" Id="Rc897627cf685483e" /><Relationship Type="http://schemas.openxmlformats.org/officeDocument/2006/relationships/slide" Target="/ppt/slides/slide55.xml" Id="Ra7ba871b617242cc" /><Relationship Type="http://schemas.openxmlformats.org/officeDocument/2006/relationships/slide" Target="/ppt/slides/slide56.xml" Id="Raba7ca45b0444d5b" /><Relationship Type="http://schemas.openxmlformats.org/officeDocument/2006/relationships/slide" Target="/ppt/slides/slide57.xml" Id="Rac75704e421849f1" /><Relationship Type="http://schemas.openxmlformats.org/officeDocument/2006/relationships/slide" Target="/ppt/slides/slide58.xml" Id="Raf48cca2c063448a" /><Relationship Type="http://schemas.openxmlformats.org/officeDocument/2006/relationships/slide" Target="/ppt/slides/slide59.xml" Id="R62da056ff64c4c2e" /><Relationship Type="http://schemas.openxmlformats.org/officeDocument/2006/relationships/slide" Target="/ppt/slides/slide60.xml" Id="R8340e740ad83494c" /><Relationship Type="http://schemas.openxmlformats.org/officeDocument/2006/relationships/slide" Target="/ppt/slides/slide61.xml" Id="Rc9251130008443a7" /><Relationship Type="http://schemas.openxmlformats.org/officeDocument/2006/relationships/slide" Target="/ppt/slides/slide62.xml" Id="Rf5c092277ffd4201" /><Relationship Type="http://schemas.openxmlformats.org/officeDocument/2006/relationships/slide" Target="/ppt/slides/slide63.xml" Id="Reffa295d4cf24836" /><Relationship Type="http://schemas.openxmlformats.org/officeDocument/2006/relationships/slide" Target="/ppt/slides/slide64.xml" Id="R60ee50f6fb544060" /><Relationship Type="http://schemas.openxmlformats.org/officeDocument/2006/relationships/slide" Target="/ppt/slides/slide65.xml" Id="Rf5fd573c5f1a4be5" /><Relationship Type="http://schemas.openxmlformats.org/officeDocument/2006/relationships/slide" Target="/ppt/slides/slide66.xml" Id="R4ccc79f9c6fc4083" /><Relationship Type="http://schemas.openxmlformats.org/officeDocument/2006/relationships/slide" Target="/ppt/slides/slide67.xml" Id="R7530221ce91041cc" /><Relationship Type="http://schemas.openxmlformats.org/officeDocument/2006/relationships/slide" Target="/ppt/slides/slide68.xml" Id="R89a86f6dea85492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1dd11ab29514f7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Spearmint">
  <a:themeElements>
    <a:clrScheme name="Spearmint">
      <a:dk1>
        <a:srgbClr val="202729"/>
      </a:dk1>
      <a:lt1>
        <a:srgbClr val="FFFFFF"/>
      </a:lt1>
      <a:dk2>
        <a:srgbClr val="4BA173"/>
      </a:dk2>
      <a:lt2>
        <a:srgbClr val="63D297"/>
      </a:lt2>
      <a:accent1>
        <a:srgbClr val="353744"/>
      </a:accent1>
      <a:accent2>
        <a:srgbClr val="424242"/>
      </a:accent2>
      <a:accent3>
        <a:srgbClr val="616161"/>
      </a:accent3>
      <a:accent4>
        <a:srgbClr val="999999"/>
      </a:accent4>
      <a:accent5>
        <a:srgbClr val="FF5252"/>
      </a:accent5>
      <a:accent6>
        <a:srgbClr val="FFF176"/>
      </a:accent6>
      <a:hlink>
        <a:srgbClr val="FF5252"/>
      </a:hlink>
      <a:folHlink>
        <a:srgbClr val="FF525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pearmin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48ef3fb37a241f8" /><Relationship Type="http://schemas.openxmlformats.org/officeDocument/2006/relationships/notesMaster" Target="/ppt/notesMasters/notesMaster1.xml" Id="Ra02734e915074ee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da4ee6b36374ac6" /><Relationship Type="http://schemas.openxmlformats.org/officeDocument/2006/relationships/notesMaster" Target="/ppt/notesMasters/notesMaster1.xml" Id="Rf43cc683981643d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80a349cc0b34466" /><Relationship Type="http://schemas.openxmlformats.org/officeDocument/2006/relationships/notesMaster" Target="/ppt/notesMasters/notesMaster1.xml" Id="Rc0929507bb7b457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b85d50e9ec34af3" /><Relationship Type="http://schemas.openxmlformats.org/officeDocument/2006/relationships/notesMaster" Target="/ppt/notesMasters/notesMaster1.xml" Id="Rc8295d3cef794d9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b379261f0dd45d8" /><Relationship Type="http://schemas.openxmlformats.org/officeDocument/2006/relationships/notesMaster" Target="/ppt/notesMasters/notesMaster1.xml" Id="R0fb621efdf07481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0d12aa40abd446d" /><Relationship Type="http://schemas.openxmlformats.org/officeDocument/2006/relationships/notesMaster" Target="/ppt/notesMasters/notesMaster1.xml" Id="R8df41bb2386a40e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01724774c8c4661" /><Relationship Type="http://schemas.openxmlformats.org/officeDocument/2006/relationships/notesMaster" Target="/ppt/notesMasters/notesMaster1.xml" Id="R7c40a669552e4a7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ccc5d38b6804892" /><Relationship Type="http://schemas.openxmlformats.org/officeDocument/2006/relationships/notesMaster" Target="/ppt/notesMasters/notesMaster1.xml" Id="R895ba5a5ab3a447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677ecffddfc4513" /><Relationship Type="http://schemas.openxmlformats.org/officeDocument/2006/relationships/notesMaster" Target="/ppt/notesMasters/notesMaster1.xml" Id="R63adade06afa434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1481205f4f74d0a" /><Relationship Type="http://schemas.openxmlformats.org/officeDocument/2006/relationships/notesMaster" Target="/ppt/notesMasters/notesMaster1.xml" Id="Rc6d5a2d8bf29410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9815b7c69694051" /><Relationship Type="http://schemas.openxmlformats.org/officeDocument/2006/relationships/notesMaster" Target="/ppt/notesMasters/notesMaster1.xml" Id="R6ce87fe3fdf74f5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d587995ffde43c6" /><Relationship Type="http://schemas.openxmlformats.org/officeDocument/2006/relationships/notesMaster" Target="/ppt/notesMasters/notesMaster1.xml" Id="Rc2b24a09adf8419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979a92451a94d82" /><Relationship Type="http://schemas.openxmlformats.org/officeDocument/2006/relationships/notesMaster" Target="/ppt/notesMasters/notesMaster1.xml" Id="Reab3fb9da954416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3264cd9dab941a5" /><Relationship Type="http://schemas.openxmlformats.org/officeDocument/2006/relationships/notesMaster" Target="/ppt/notesMasters/notesMaster1.xml" Id="R51ded8d5d8024d3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2046822bf224328" /><Relationship Type="http://schemas.openxmlformats.org/officeDocument/2006/relationships/notesMaster" Target="/ppt/notesMasters/notesMaster1.xml" Id="Rc0289427400f482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6dbb6b69e694b7f" /><Relationship Type="http://schemas.openxmlformats.org/officeDocument/2006/relationships/notesMaster" Target="/ppt/notesMasters/notesMaster1.xml" Id="R731e6e517fb540c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0154adaa3b24095" /><Relationship Type="http://schemas.openxmlformats.org/officeDocument/2006/relationships/notesMaster" Target="/ppt/notesMasters/notesMaster1.xml" Id="Rbd9802daa48841b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a99101cef2e44a4" /><Relationship Type="http://schemas.openxmlformats.org/officeDocument/2006/relationships/notesMaster" Target="/ppt/notesMasters/notesMaster1.xml" Id="Rf669ec39fa62442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6257a9c39bd4b08" /><Relationship Type="http://schemas.openxmlformats.org/officeDocument/2006/relationships/notesMaster" Target="/ppt/notesMasters/notesMaster1.xml" Id="R42f9f486e866463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0c68063a0b64686" /><Relationship Type="http://schemas.openxmlformats.org/officeDocument/2006/relationships/notesMaster" Target="/ppt/notesMasters/notesMaster1.xml" Id="Rf34f5002f1a8467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ad12b6315984567" /><Relationship Type="http://schemas.openxmlformats.org/officeDocument/2006/relationships/notesMaster" Target="/ppt/notesMasters/notesMaster1.xml" Id="R76f742af1fba445c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03d0a688b8b24914" /><Relationship Type="http://schemas.openxmlformats.org/officeDocument/2006/relationships/notesMaster" Target="/ppt/notesMasters/notesMaster1.xml" Id="Rc6dffb5772f1496a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510121879e5343db" /><Relationship Type="http://schemas.openxmlformats.org/officeDocument/2006/relationships/notesMaster" Target="/ppt/notesMasters/notesMaster1.xml" Id="R16378b4d0ed84357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e2a9d8dab6714a6a" /><Relationship Type="http://schemas.openxmlformats.org/officeDocument/2006/relationships/notesMaster" Target="/ppt/notesMasters/notesMaster1.xml" Id="Rdbd862058dbc4201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e8bdb3767230416c" /><Relationship Type="http://schemas.openxmlformats.org/officeDocument/2006/relationships/notesMaster" Target="/ppt/notesMasters/notesMaster1.xml" Id="R475a6f20b4024e78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5b988622a92a4765" /><Relationship Type="http://schemas.openxmlformats.org/officeDocument/2006/relationships/notesMaster" Target="/ppt/notesMasters/notesMaster1.xml" Id="R113a9a58be0347fb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f81d7a0121ee418a" /><Relationship Type="http://schemas.openxmlformats.org/officeDocument/2006/relationships/notesMaster" Target="/ppt/notesMasters/notesMaster1.xml" Id="Re4134f49b1a543e3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c990dcb56ed140e0" /><Relationship Type="http://schemas.openxmlformats.org/officeDocument/2006/relationships/notesMaster" Target="/ppt/notesMasters/notesMaster1.xml" Id="R0abce61b37964b61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fa07471f8c754d0a" /><Relationship Type="http://schemas.openxmlformats.org/officeDocument/2006/relationships/notesMaster" Target="/ppt/notesMasters/notesMaster1.xml" Id="R6cd0ca84073c45f6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7d08f8f66cc74b6f" /><Relationship Type="http://schemas.openxmlformats.org/officeDocument/2006/relationships/notesMaster" Target="/ppt/notesMasters/notesMaster1.xml" Id="R51482c0f838649ba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503e80aa8bff426f" /><Relationship Type="http://schemas.openxmlformats.org/officeDocument/2006/relationships/notesMaster" Target="/ppt/notesMasters/notesMaster1.xml" Id="R249c195962a74d0b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8619c3f6425045e3" /><Relationship Type="http://schemas.openxmlformats.org/officeDocument/2006/relationships/notesMaster" Target="/ppt/notesMasters/notesMaster1.xml" Id="R71cb710fddca43d5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c21cb6e2419c46ef" /><Relationship Type="http://schemas.openxmlformats.org/officeDocument/2006/relationships/notesMaster" Target="/ppt/notesMasters/notesMaster1.xml" Id="R0cf168be236b44b5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7ce8f11b3f5e45e0" /><Relationship Type="http://schemas.openxmlformats.org/officeDocument/2006/relationships/notesMaster" Target="/ppt/notesMasters/notesMaster1.xml" Id="Rd122142e03d44bc7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14ec7cb0fd0d48d2" /><Relationship Type="http://schemas.openxmlformats.org/officeDocument/2006/relationships/notesMaster" Target="/ppt/notesMasters/notesMaster1.xml" Id="R79a12ec620eb40e4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347d86aece1844d6" /><Relationship Type="http://schemas.openxmlformats.org/officeDocument/2006/relationships/notesMaster" Target="/ppt/notesMasters/notesMaster1.xml" Id="R381f19f5b78a4da0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2338b79bc57d4b9b" /><Relationship Type="http://schemas.openxmlformats.org/officeDocument/2006/relationships/notesMaster" Target="/ppt/notesMasters/notesMaster1.xml" Id="R585dc739efd4430b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c33117328cf74304" /><Relationship Type="http://schemas.openxmlformats.org/officeDocument/2006/relationships/notesMaster" Target="/ppt/notesMasters/notesMaster1.xml" Id="R6df0736b87ba4cfb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ca7b1d7a9b9b4bb4" /><Relationship Type="http://schemas.openxmlformats.org/officeDocument/2006/relationships/notesMaster" Target="/ppt/notesMasters/notesMaster1.xml" Id="Rba3927e442a64f78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99e2447ac4f64998" /><Relationship Type="http://schemas.openxmlformats.org/officeDocument/2006/relationships/notesMaster" Target="/ppt/notesMasters/notesMaster1.xml" Id="Ra90b71faa5d3473b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0dff3c2739834fd1" /><Relationship Type="http://schemas.openxmlformats.org/officeDocument/2006/relationships/notesMaster" Target="/ppt/notesMasters/notesMaster1.xml" Id="R8cf0e243923f45ae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82da8f09ac1a4f66" /><Relationship Type="http://schemas.openxmlformats.org/officeDocument/2006/relationships/notesMaster" Target="/ppt/notesMasters/notesMaster1.xml" Id="R69ca4eda1f184f1e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a844ee1121fa4fae" /><Relationship Type="http://schemas.openxmlformats.org/officeDocument/2006/relationships/notesMaster" Target="/ppt/notesMasters/notesMaster1.xml" Id="Re9efba32c1fc4028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0f6c81503d484181" /><Relationship Type="http://schemas.openxmlformats.org/officeDocument/2006/relationships/notesMaster" Target="/ppt/notesMasters/notesMaster1.xml" Id="R70ab78b0e6984bbb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1a7b7bd577d94408" /><Relationship Type="http://schemas.openxmlformats.org/officeDocument/2006/relationships/notesMaster" Target="/ppt/notesMasters/notesMaster1.xml" Id="R4446841e31de4182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087165fe7fea448d" /><Relationship Type="http://schemas.openxmlformats.org/officeDocument/2006/relationships/notesMaster" Target="/ppt/notesMasters/notesMaster1.xml" Id="R810522e6c04848e6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cbe7ced9b46f4fcc" /><Relationship Type="http://schemas.openxmlformats.org/officeDocument/2006/relationships/notesMaster" Target="/ppt/notesMasters/notesMaster1.xml" Id="R78fc4228084b4199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bfe877e2be024afb" /><Relationship Type="http://schemas.openxmlformats.org/officeDocument/2006/relationships/notesMaster" Target="/ppt/notesMasters/notesMaster1.xml" Id="R6149a8e230254383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659b84c1abff4508" /><Relationship Type="http://schemas.openxmlformats.org/officeDocument/2006/relationships/notesMaster" Target="/ppt/notesMasters/notesMaster1.xml" Id="R4f6537b2fd894a86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cf703d015f924871" /><Relationship Type="http://schemas.openxmlformats.org/officeDocument/2006/relationships/notesMaster" Target="/ppt/notesMasters/notesMaster1.xml" Id="Rdf6c39753cfb4f31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e140e51fd6dc4932" /><Relationship Type="http://schemas.openxmlformats.org/officeDocument/2006/relationships/notesMaster" Target="/ppt/notesMasters/notesMaster1.xml" Id="R1e288e5b5d174210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d74ce25781af4b04" /><Relationship Type="http://schemas.openxmlformats.org/officeDocument/2006/relationships/notesMaster" Target="/ppt/notesMasters/notesMaster1.xml" Id="R0bae2a72e3a84747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09b72d39fe404b98" /><Relationship Type="http://schemas.openxmlformats.org/officeDocument/2006/relationships/notesMaster" Target="/ppt/notesMasters/notesMaster1.xml" Id="R12ce92f637a446ea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505ed83b3be6490e" /><Relationship Type="http://schemas.openxmlformats.org/officeDocument/2006/relationships/notesMaster" Target="/ppt/notesMasters/notesMaster1.xml" Id="Ra94b440e96fc43c9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af081fa8c1c74bda" /><Relationship Type="http://schemas.openxmlformats.org/officeDocument/2006/relationships/notesMaster" Target="/ppt/notesMasters/notesMaster1.xml" Id="Rc262f73fc56b4532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efa67959c0aa4695" /><Relationship Type="http://schemas.openxmlformats.org/officeDocument/2006/relationships/notesMaster" Target="/ppt/notesMasters/notesMaster1.xml" Id="R6b899f38bc4f4893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7cf8e7282d5444be" /><Relationship Type="http://schemas.openxmlformats.org/officeDocument/2006/relationships/notesMaster" Target="/ppt/notesMasters/notesMaster1.xml" Id="Rc389387d7abd4a87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ee5ae33176414e1b" /><Relationship Type="http://schemas.openxmlformats.org/officeDocument/2006/relationships/notesMaster" Target="/ppt/notesMasters/notesMaster1.xml" Id="Ref9ad2cf525f441b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0f0aaff8c867475f" /><Relationship Type="http://schemas.openxmlformats.org/officeDocument/2006/relationships/notesMaster" Target="/ppt/notesMasters/notesMaster1.xml" Id="R906e9844c938401c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1b1fcd9b72804808" /><Relationship Type="http://schemas.openxmlformats.org/officeDocument/2006/relationships/notesMaster" Target="/ppt/notesMasters/notesMaster1.xml" Id="R10d81d6359244e9a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32d9806f86a248c5" /><Relationship Type="http://schemas.openxmlformats.org/officeDocument/2006/relationships/notesMaster" Target="/ppt/notesMasters/notesMaster1.xml" Id="Rdbd07bfe2e0d4a66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9fe1c589d90744c9" /><Relationship Type="http://schemas.openxmlformats.org/officeDocument/2006/relationships/notesMaster" Target="/ppt/notesMasters/notesMaster1.xml" Id="Rdd00f65b0b2149cd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650be2288fdc4299" /><Relationship Type="http://schemas.openxmlformats.org/officeDocument/2006/relationships/notesMaster" Target="/ppt/notesMasters/notesMaster1.xml" Id="Rc6b9adbc8f114d97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26ff557716284332" /><Relationship Type="http://schemas.openxmlformats.org/officeDocument/2006/relationships/notesMaster" Target="/ppt/notesMasters/notesMaster1.xml" Id="Red398c2b456b42ea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bbe6514080f14dfa" /><Relationship Type="http://schemas.openxmlformats.org/officeDocument/2006/relationships/notesMaster" Target="/ppt/notesMasters/notesMaster1.xml" Id="Rbab1156ba37a4008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fd41d5289542461f" /><Relationship Type="http://schemas.openxmlformats.org/officeDocument/2006/relationships/notesMaster" Target="/ppt/notesMasters/notesMaster1.xml" Id="R0e3aa4ba074f49b3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02ada9b832b24d61" /><Relationship Type="http://schemas.openxmlformats.org/officeDocument/2006/relationships/notesMaster" Target="/ppt/notesMasters/notesMaster1.xml" Id="Ra1ae9d7c6af04684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4dee5ca8c19a40f2" /><Relationship Type="http://schemas.openxmlformats.org/officeDocument/2006/relationships/notesMaster" Target="/ppt/notesMasters/notesMaster1.xml" Id="Re514415aa8fa4c2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6e8da801274790" /><Relationship Type="http://schemas.openxmlformats.org/officeDocument/2006/relationships/image" Target="/ppt/media/image2.png" Id="R7fc144d8de1547d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061fb654e4446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c67076b2d14d0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09f4166eec490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0e854bd0924c1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5cf4bef33c422c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939cd7a8d54885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9eb8958ed149c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5a1d11c42846f4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b18ed619f44ad1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d84809163e45f0" 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5" name="Google Shape;10;p60"/>
          <p:cNvCxnSpPr/>
          <p:nvPr/>
        </p:nvCxnSpPr>
        <p:spPr>
          <a:xfrm xmlns:a="http://schemas.openxmlformats.org/drawingml/2006/main">
            <a:off x="0" y="2998150"/>
            <a:ext cx="9144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" name="Google Shape;11;p60">
            <a:extLst xmlns:a="http://schemas.openxmlformats.org/drawingml/2006/main">
              <a:ext uri="{FF2B5EF4-FFF2-40B4-BE49-F238E27FC236}">
                <a16:creationId xmlns:a16="http://schemas.microsoft.com/office/drawing/2014/main" id="{634023D3-837A-43CA-B6BB-B13DCB82142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510450" y="1257300"/>
            <a:ext cx="8123100" cy="158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2" name="Google Shape;12;p60">
            <a:extLst xmlns:a="http://schemas.openxmlformats.org/drawingml/2006/main">
              <a:ext uri="{FF2B5EF4-FFF2-40B4-BE49-F238E27FC236}">
                <a16:creationId xmlns:a16="http://schemas.microsoft.com/office/drawing/2014/main" id="{10E3FCE4-7ACF-4D0D-AC4B-E47AD8C96AF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510450" y="3182313"/>
            <a:ext cx="81231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3" name="Google Shape;13;p60">
            <a:extLst xmlns:a="http://schemas.openxmlformats.org/drawingml/2006/main">
              <a:ext uri="{FF2B5EF4-FFF2-40B4-BE49-F238E27FC236}">
                <a16:creationId xmlns:a16="http://schemas.microsoft.com/office/drawing/2014/main" id="{ACC182E7-A014-4236-BD45-53758C1D8B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19" name="Google Shape;14;p6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c144d8de1547d0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71" y="1"/>
            <a:ext cx="9139127" cy="51434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Google Shape;16;p61">
            <a:extLst xmlns:a="http://schemas.openxmlformats.org/drawingml/2006/main">
              <a:ext uri="{FF2B5EF4-FFF2-40B4-BE49-F238E27FC236}">
                <a16:creationId xmlns:a16="http://schemas.microsoft.com/office/drawing/2014/main" id="{75ADB91D-8D75-4686-BD2E-D733A891B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45700"/>
            <a:ext cx="91440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Google Shape;17;p61">
            <a:extLst xmlns:a="http://schemas.openxmlformats.org/drawingml/2006/main">
              <a:ext uri="{FF2B5EF4-FFF2-40B4-BE49-F238E27FC236}">
                <a16:creationId xmlns:a16="http://schemas.microsoft.com/office/drawing/2014/main" id="{29CA780B-5E6C-4D72-AE9D-9CC7969D27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8" name="Google Shape;18;p61">
            <a:extLst xmlns:a="http://schemas.openxmlformats.org/drawingml/2006/main">
              <a:ext uri="{FF2B5EF4-FFF2-40B4-BE49-F238E27FC236}">
                <a16:creationId xmlns:a16="http://schemas.microsoft.com/office/drawing/2014/main" id="{2ACFDD2E-FC84-42F6-BB66-FCBFF539251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L="45720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9" name="Google Shape;19;p61">
            <a:extLst xmlns:a="http://schemas.openxmlformats.org/drawingml/2006/main">
              <a:ext uri="{FF2B5EF4-FFF2-40B4-BE49-F238E27FC236}">
                <a16:creationId xmlns:a16="http://schemas.microsoft.com/office/drawing/2014/main" id="{02D679D6-7FF3-486A-A543-08C8BA54A1B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62">
            <a:extLst xmlns:a="http://schemas.openxmlformats.org/drawingml/2006/main">
              <a:ext uri="{FF2B5EF4-FFF2-40B4-BE49-F238E27FC236}">
                <a16:creationId xmlns:a16="http://schemas.microsoft.com/office/drawing/2014/main" id="{36A1E045-DE79-4E49-9F0A-D3B445DB6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75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28" name="Google Shape;22;p62"/>
          <p:cNvCxnSpPr/>
          <p:nvPr/>
        </p:nvCxnSpPr>
        <p:spPr>
          <a:xfrm xmlns:a="http://schemas.openxmlformats.org/drawingml/2006/main">
            <a:off x="5029675" y="4495500"/>
            <a:ext cx="468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3" name="Google Shape;23;p62">
            <a:extLst xmlns:a="http://schemas.openxmlformats.org/drawingml/2006/main">
              <a:ext uri="{FF2B5EF4-FFF2-40B4-BE49-F238E27FC236}">
                <a16:creationId xmlns:a16="http://schemas.microsoft.com/office/drawing/2014/main" id="{B09B3A5B-15C1-4163-A9A8-D08B93CA797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5500" y="1205825"/>
            <a:ext cx="4045200" cy="15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 xmlns:a="http://schemas.openxmlformats.org/drawingml/2006/main">
            <a:endParaRPr/>
          </a:p>
        </p:txBody>
      </p:sp>
      <p:sp>
        <p:nvSpPr>
          <p:cNvPr id="24" name="Google Shape;24;p62">
            <a:extLst xmlns:a="http://schemas.openxmlformats.org/drawingml/2006/main">
              <a:ext uri="{FF2B5EF4-FFF2-40B4-BE49-F238E27FC236}">
                <a16:creationId xmlns:a16="http://schemas.microsoft.com/office/drawing/2014/main" id="{E6907A4E-2139-463D-BC6A-06BDCFA71E0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65500" y="2769001"/>
            <a:ext cx="4045200" cy="134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 xmlns:a="http://schemas.openxmlformats.org/drawingml/2006/main">
            <a:endParaRPr/>
          </a:p>
        </p:txBody>
      </p:sp>
      <p:sp>
        <p:nvSpPr>
          <p:cNvPr id="25" name="Google Shape;25;p62">
            <a:extLst xmlns:a="http://schemas.openxmlformats.org/drawingml/2006/main">
              <a:ext uri="{FF2B5EF4-FFF2-40B4-BE49-F238E27FC236}">
                <a16:creationId xmlns:a16="http://schemas.microsoft.com/office/drawing/2014/main" id="{0CA726A5-37B9-4EF1-9E91-B049553085C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39500" y="724200"/>
            <a:ext cx="3837000" cy="369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45720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26" name="Google Shape;26;p62">
            <a:extLst xmlns:a="http://schemas.openxmlformats.org/drawingml/2006/main">
              <a:ext uri="{FF2B5EF4-FFF2-40B4-BE49-F238E27FC236}">
                <a16:creationId xmlns:a16="http://schemas.microsoft.com/office/drawing/2014/main" id="{4FDEBF36-5429-4A9C-AE06-634F5878453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Google Shape;28;p63">
            <a:extLst xmlns:a="http://schemas.openxmlformats.org/drawingml/2006/main">
              <a:ext uri="{FF2B5EF4-FFF2-40B4-BE49-F238E27FC236}">
                <a16:creationId xmlns:a16="http://schemas.microsoft.com/office/drawing/2014/main" id="{9EAEA50A-D5B2-479F-ABDA-7DA300F3C0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0250" y="526350"/>
            <a:ext cx="5797500" cy="40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>
            <a:endParaRPr/>
          </a:p>
        </p:txBody>
      </p:sp>
      <p:sp>
        <p:nvSpPr>
          <p:cNvPr id="29" name="Google Shape;29;p63">
            <a:extLst xmlns:a="http://schemas.openxmlformats.org/drawingml/2006/main">
              <a:ext uri="{FF2B5EF4-FFF2-40B4-BE49-F238E27FC236}">
                <a16:creationId xmlns:a16="http://schemas.microsoft.com/office/drawing/2014/main" id="{32C1ACC0-024F-4D75-98CA-8C7F10CBF76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4" name="Google Shape;31;p64"/>
          <p:cNvCxnSpPr/>
          <p:nvPr/>
        </p:nvCxnSpPr>
        <p:spPr>
          <a:xfrm xmlns:a="http://schemas.openxmlformats.org/drawingml/2006/main">
            <a:off x="0" y="2998150"/>
            <a:ext cx="9144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2" name="Google Shape;32;p64">
            <a:extLst xmlns:a="http://schemas.openxmlformats.org/drawingml/2006/main">
              <a:ext uri="{FF2B5EF4-FFF2-40B4-BE49-F238E27FC236}">
                <a16:creationId xmlns:a16="http://schemas.microsoft.com/office/drawing/2014/main" id="{5859A207-C79A-49DE-9B99-DB089382FE4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0450" y="2057400"/>
            <a:ext cx="8123100" cy="77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33" name="Google Shape;33;p64">
            <a:extLst xmlns:a="http://schemas.openxmlformats.org/drawingml/2006/main">
              <a:ext uri="{FF2B5EF4-FFF2-40B4-BE49-F238E27FC236}">
                <a16:creationId xmlns:a16="http://schemas.microsoft.com/office/drawing/2014/main" id="{3BE6B3BF-5C03-45A9-9294-B49C9E8FFF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Google Shape;35;p65">
            <a:extLst xmlns:a="http://schemas.openxmlformats.org/drawingml/2006/main">
              <a:ext uri="{FF2B5EF4-FFF2-40B4-BE49-F238E27FC236}">
                <a16:creationId xmlns:a16="http://schemas.microsoft.com/office/drawing/2014/main" id="{709EFAE9-11F1-483D-BBD2-18471BF2BC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6" name="Google Shape;36;p65">
            <a:extLst xmlns:a="http://schemas.openxmlformats.org/drawingml/2006/main">
              <a:ext uri="{FF2B5EF4-FFF2-40B4-BE49-F238E27FC236}">
                <a16:creationId xmlns:a16="http://schemas.microsoft.com/office/drawing/2014/main" id="{42A39E09-A6D7-43F4-9397-99AE839A92F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39999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L="457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 xmlns:a="http://schemas.openxmlformats.org/drawingml/2006/main">
            <a:endParaRPr/>
          </a:p>
        </p:txBody>
      </p:sp>
      <p:sp>
        <p:nvSpPr>
          <p:cNvPr id="37" name="Google Shape;37;p65">
            <a:extLst xmlns:a="http://schemas.openxmlformats.org/drawingml/2006/main">
              <a:ext uri="{FF2B5EF4-FFF2-40B4-BE49-F238E27FC236}">
                <a16:creationId xmlns:a16="http://schemas.microsoft.com/office/drawing/2014/main" id="{9A724C34-E954-47DD-93D3-D36F722AC71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32400" y="1152475"/>
            <a:ext cx="39999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L="457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 xmlns:a="http://schemas.openxmlformats.org/drawingml/2006/main">
            <a:endParaRPr/>
          </a:p>
        </p:txBody>
      </p:sp>
      <p:sp>
        <p:nvSpPr>
          <p:cNvPr id="38" name="Google Shape;38;p65">
            <a:extLst xmlns:a="http://schemas.openxmlformats.org/drawingml/2006/main">
              <a:ext uri="{FF2B5EF4-FFF2-40B4-BE49-F238E27FC236}">
                <a16:creationId xmlns:a16="http://schemas.microsoft.com/office/drawing/2014/main" id="{4147E58A-A785-4327-B201-BFC629C5AB7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Google Shape;40;p66">
            <a:extLst xmlns:a="http://schemas.openxmlformats.org/drawingml/2006/main">
              <a:ext uri="{FF2B5EF4-FFF2-40B4-BE49-F238E27FC236}">
                <a16:creationId xmlns:a16="http://schemas.microsoft.com/office/drawing/2014/main" id="{A18FD9F9-5B71-4EDB-B20F-4B0373338C3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1" name="Google Shape;41;p66">
            <a:extLst xmlns:a="http://schemas.openxmlformats.org/drawingml/2006/main">
              <a:ext uri="{FF2B5EF4-FFF2-40B4-BE49-F238E27FC236}">
                <a16:creationId xmlns:a16="http://schemas.microsoft.com/office/drawing/2014/main" id="{A1898E39-FFDC-404C-BD4D-4D6F55DB614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Google Shape;43;p67">
            <a:extLst xmlns:a="http://schemas.openxmlformats.org/drawingml/2006/main">
              <a:ext uri="{FF2B5EF4-FFF2-40B4-BE49-F238E27FC236}">
                <a16:creationId xmlns:a16="http://schemas.microsoft.com/office/drawing/2014/main" id="{9AE6087D-446F-42AD-A730-D23A7B5D2DA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555600"/>
            <a:ext cx="2808000" cy="75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 xmlns:a="http://schemas.openxmlformats.org/drawingml/2006/main">
            <a:endParaRPr/>
          </a:p>
        </p:txBody>
      </p:sp>
      <p:sp>
        <p:nvSpPr>
          <p:cNvPr id="44" name="Google Shape;44;p67">
            <a:extLst xmlns:a="http://schemas.openxmlformats.org/drawingml/2006/main">
              <a:ext uri="{FF2B5EF4-FFF2-40B4-BE49-F238E27FC236}">
                <a16:creationId xmlns:a16="http://schemas.microsoft.com/office/drawing/2014/main" id="{CE9347A7-6743-4B91-8684-3B09D73DC13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389600"/>
            <a:ext cx="2808000" cy="317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L="4572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 xmlns:a="http://schemas.openxmlformats.org/drawingml/2006/main">
            <a:endParaRPr/>
          </a:p>
        </p:txBody>
      </p:sp>
      <p:sp>
        <p:nvSpPr>
          <p:cNvPr id="45" name="Google Shape;45;p67">
            <a:extLst xmlns:a="http://schemas.openxmlformats.org/drawingml/2006/main">
              <a:ext uri="{FF2B5EF4-FFF2-40B4-BE49-F238E27FC236}">
                <a16:creationId xmlns:a16="http://schemas.microsoft.com/office/drawing/2014/main" id="{147791F6-48E4-46A7-A936-52155EBC41C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Google Shape;47;p68">
            <a:extLst xmlns:a="http://schemas.openxmlformats.org/drawingml/2006/main">
              <a:ext uri="{FF2B5EF4-FFF2-40B4-BE49-F238E27FC236}">
                <a16:creationId xmlns:a16="http://schemas.microsoft.com/office/drawing/2014/main" id="{7923E1D1-B0EF-49AD-8F23-23122D47275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4236825"/>
            <a:ext cx="5998800" cy="59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</a:lstStyle>
          <a:p xmlns:a="http://schemas.openxmlformats.org/drawingml/2006/main">
            <a:endParaRPr/>
          </a:p>
        </p:txBody>
      </p:sp>
      <p:sp>
        <p:nvSpPr>
          <p:cNvPr id="48" name="Google Shape;48;p68">
            <a:extLst xmlns:a="http://schemas.openxmlformats.org/drawingml/2006/main">
              <a:ext uri="{FF2B5EF4-FFF2-40B4-BE49-F238E27FC236}">
                <a16:creationId xmlns:a16="http://schemas.microsoft.com/office/drawing/2014/main" id="{9E0437A0-B097-46E5-B700-AB6FE913190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Google Shape;50;p69">
            <a:extLst xmlns:a="http://schemas.openxmlformats.org/drawingml/2006/main">
              <a:ext uri="{FF2B5EF4-FFF2-40B4-BE49-F238E27FC236}">
                <a16:creationId xmlns:a16="http://schemas.microsoft.com/office/drawing/2014/main" id="{43C0E363-BD9C-4A8B-A20C-CD5E5F470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045700"/>
            <a:ext cx="91440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" name="Google Shape;51;p69">
            <a:extLst xmlns:a="http://schemas.openxmlformats.org/drawingml/2006/main">
              <a:ext uri="{FF2B5EF4-FFF2-40B4-BE49-F238E27FC236}">
                <a16:creationId xmlns:a16="http://schemas.microsoft.com/office/drawing/2014/main" id="{0EF7CB09-4B68-4634-B10E-48E39052382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700" y="991475"/>
            <a:ext cx="8520600" cy="191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52" name="Google Shape;52;p69">
            <a:extLst xmlns:a="http://schemas.openxmlformats.org/drawingml/2006/main">
              <a:ext uri="{FF2B5EF4-FFF2-40B4-BE49-F238E27FC236}">
                <a16:creationId xmlns:a16="http://schemas.microsoft.com/office/drawing/2014/main" id="{E02ADC6B-418F-4B78-82FC-5DDEB4F3DFD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3071300"/>
            <a:ext cx="8520600" cy="90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L="45720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3" name="Google Shape;53;p69">
            <a:extLst xmlns:a="http://schemas.openxmlformats.org/drawingml/2006/main">
              <a:ext uri="{FF2B5EF4-FFF2-40B4-BE49-F238E27FC236}">
                <a16:creationId xmlns:a16="http://schemas.microsoft.com/office/drawing/2014/main" id="{FE822D89-D5C5-4AA7-BBC1-5CFA411ADCD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Google Shape;55;p70">
            <a:extLst xmlns:a="http://schemas.openxmlformats.org/drawingml/2006/main">
              <a:ext uri="{FF2B5EF4-FFF2-40B4-BE49-F238E27FC236}">
                <a16:creationId xmlns:a16="http://schemas.microsoft.com/office/drawing/2014/main" id="{F46DB074-89C9-44A4-B45F-A67A7E0851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png" Id="R7c61e0e535284bd6" /><Relationship Type="http://schemas.openxmlformats.org/officeDocument/2006/relationships/theme" Target="/ppt/slideMasters/theme/theme2.xml" Id="Rab9ebeaccd29491d" /><Relationship Type="http://schemas.openxmlformats.org/officeDocument/2006/relationships/slideLayout" Target="/ppt/slideLayouts/slideLayout1.xml" Id="R1fdfe9f30bee4c86" /><Relationship Type="http://schemas.openxmlformats.org/officeDocument/2006/relationships/slideLayout" Target="/ppt/slideLayouts/slideLayout2.xml" Id="Reec2301748324145" /><Relationship Type="http://schemas.openxmlformats.org/officeDocument/2006/relationships/slideLayout" Target="/ppt/slideLayouts/slideLayout3.xml" Id="R158c43fb28d84600" /><Relationship Type="http://schemas.openxmlformats.org/officeDocument/2006/relationships/slideLayout" Target="/ppt/slideLayouts/slideLayout4.xml" Id="R4399522991164933" /><Relationship Type="http://schemas.openxmlformats.org/officeDocument/2006/relationships/slideLayout" Target="/ppt/slideLayouts/slideLayout5.xml" Id="Rf0b1ae4ee172489c" /><Relationship Type="http://schemas.openxmlformats.org/officeDocument/2006/relationships/slideLayout" Target="/ppt/slideLayouts/slideLayout6.xml" Id="Rf31d9c35d5234b8b" /><Relationship Type="http://schemas.openxmlformats.org/officeDocument/2006/relationships/slideLayout" Target="/ppt/slideLayouts/slideLayout7.xml" Id="R4f292a9e36ea41ee" /><Relationship Type="http://schemas.openxmlformats.org/officeDocument/2006/relationships/slideLayout" Target="/ppt/slideLayouts/slideLayout8.xml" Id="R53e29fd734e94c82" /><Relationship Type="http://schemas.openxmlformats.org/officeDocument/2006/relationships/slideLayout" Target="/ppt/slideLayouts/slideLayout9.xml" Id="R94916867f00e4a80" /><Relationship Type="http://schemas.openxmlformats.org/officeDocument/2006/relationships/slideLayout" Target="/ppt/slideLayouts/slideLayout10.xml" Id="Rcadee9bccae64a50" /><Relationship Type="http://schemas.openxmlformats.org/officeDocument/2006/relationships/slideLayout" Target="/ppt/slideLayouts/slideLayout11.xml" Id="R3617707f8cd84a10" /></Relationships>
</file>

<file path=ppt/slideMasters/slideMaster1.xml><?xml version="1.0" encoding="utf-8"?>
<p:sldMaster xmlns:p="http://schemas.openxmlformats.org/presentationml/2006/main">
  <p:cSld name="spearmint">
    <p:bg>
      <p:bgPr>
        <a:blipFill xmlns:a="http://schemas.openxmlformats.org/drawingml/2006/main">
          <a:blip xmlns:r="http://schemas.openxmlformats.org/officeDocument/2006/relationships" r:embed="R7c61e0e535284bd6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59">
            <a:extLst xmlns:a="http://schemas.openxmlformats.org/drawingml/2006/main">
              <a:ext uri="{FF2B5EF4-FFF2-40B4-BE49-F238E27FC236}">
                <a16:creationId xmlns:a16="http://schemas.microsoft.com/office/drawing/2014/main" id="{86F1DA4C-D030-409B-B26B-916646D4C9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7" name="Google Shape;7;p59">
            <a:extLst xmlns:a="http://schemas.openxmlformats.org/drawingml/2006/main">
              <a:ext uri="{FF2B5EF4-FFF2-40B4-BE49-F238E27FC236}">
                <a16:creationId xmlns:a16="http://schemas.microsoft.com/office/drawing/2014/main" id="{2B40A08E-A4D4-4899-B417-36A32ACA9E7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L="457200" marR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Proxima Nova"/>
              <a:buChar char="●"/>
              <a:defRPr sz="1800" b="0" i="0" u="non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</a:defRPr>
            </a:lvl1pPr>
            <a:lvl2pPr marL="914400" marR="0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 sz="1400" b="0" i="0" u="non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</a:defRPr>
            </a:lvl2pPr>
            <a:lvl3pPr marL="1371600" marR="0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 sz="1400" b="0" i="0" u="non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</a:defRPr>
            </a:lvl3pPr>
            <a:lvl4pPr marL="1828800" marR="0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  <a:defRPr sz="1400" b="0" i="0" u="non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</a:defRPr>
            </a:lvl4pPr>
            <a:lvl5pPr marL="2286000" marR="0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 sz="1400" b="0" i="0" u="non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</a:defRPr>
            </a:lvl5pPr>
            <a:lvl6pPr marL="2743200" marR="0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 sz="1400" b="0" i="0" u="non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</a:defRPr>
            </a:lvl6pPr>
            <a:lvl7pPr marL="3200400" marR="0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  <a:defRPr sz="1400" b="0" i="0" u="non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</a:defRPr>
            </a:lvl7pPr>
            <a:lvl8pPr marL="3657600" marR="0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 sz="1400" b="0" i="0" u="non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</a:defRPr>
            </a:lvl8pPr>
            <a:lvl9pPr marL="4114800" marR="0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accent3"/>
              </a:buClr>
              <a:buSzPts val="1400"/>
              <a:buFont typeface="Proxima Nova"/>
              <a:buChar char="■"/>
              <a:defRPr sz="1400" b="0" i="0" u="non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8" name="Google Shape;8;p59">
            <a:extLst xmlns:a="http://schemas.openxmlformats.org/drawingml/2006/main">
              <a:ext uri="{FF2B5EF4-FFF2-40B4-BE49-F238E27FC236}">
                <a16:creationId xmlns:a16="http://schemas.microsoft.com/office/drawing/2014/main" id="{07D9CC8C-0175-43C5-BCFA-7B59722563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fdfe9f30bee4c86"/>
    <p:sldLayoutId xmlns:r="http://schemas.openxmlformats.org/officeDocument/2006/relationships" id="2147483650" r:id="Reec2301748324145"/>
    <p:sldLayoutId xmlns:r="http://schemas.openxmlformats.org/officeDocument/2006/relationships" id="2147483651" r:id="R158c43fb28d84600"/>
    <p:sldLayoutId xmlns:r="http://schemas.openxmlformats.org/officeDocument/2006/relationships" id="2147483652" r:id="R4399522991164933"/>
    <p:sldLayoutId xmlns:r="http://schemas.openxmlformats.org/officeDocument/2006/relationships" id="2147483653" r:id="Rf0b1ae4ee172489c"/>
    <p:sldLayoutId xmlns:r="http://schemas.openxmlformats.org/officeDocument/2006/relationships" id="2147483654" r:id="Rf31d9c35d5234b8b"/>
    <p:sldLayoutId xmlns:r="http://schemas.openxmlformats.org/officeDocument/2006/relationships" id="2147483655" r:id="R4f292a9e36ea41ee"/>
    <p:sldLayoutId xmlns:r="http://schemas.openxmlformats.org/officeDocument/2006/relationships" id="2147483656" r:id="R53e29fd734e94c82"/>
    <p:sldLayoutId xmlns:r="http://schemas.openxmlformats.org/officeDocument/2006/relationships" id="2147483657" r:id="R94916867f00e4a80"/>
    <p:sldLayoutId xmlns:r="http://schemas.openxmlformats.org/officeDocument/2006/relationships" id="2147483658" r:id="Rcadee9bccae64a50"/>
    <p:sldLayoutId xmlns:r="http://schemas.openxmlformats.org/officeDocument/2006/relationships" id="2147483659" r:id="R3617707f8cd84a10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Spearmint">
  <a:themeElements>
    <a:clrScheme name="Spearmint">
      <a:dk1>
        <a:srgbClr val="202729"/>
      </a:dk1>
      <a:lt1>
        <a:srgbClr val="FFFFFF"/>
      </a:lt1>
      <a:dk2>
        <a:srgbClr val="4BA173"/>
      </a:dk2>
      <a:lt2>
        <a:srgbClr val="63D297"/>
      </a:lt2>
      <a:accent1>
        <a:srgbClr val="353744"/>
      </a:accent1>
      <a:accent2>
        <a:srgbClr val="424242"/>
      </a:accent2>
      <a:accent3>
        <a:srgbClr val="616161"/>
      </a:accent3>
      <a:accent4>
        <a:srgbClr val="999999"/>
      </a:accent4>
      <a:accent5>
        <a:srgbClr val="FF5252"/>
      </a:accent5>
      <a:accent6>
        <a:srgbClr val="FFF176"/>
      </a:accent6>
      <a:hlink>
        <a:srgbClr val="FF5252"/>
      </a:hlink>
      <a:folHlink>
        <a:srgbClr val="FF525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pearmin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a1483a2c6a4596" /><Relationship Type="http://schemas.openxmlformats.org/officeDocument/2006/relationships/image" Target="/ppt/media/image3.png" Id="R8f524face9e346d1" /><Relationship Type="http://schemas.openxmlformats.org/officeDocument/2006/relationships/notesSlide" Target="/ppt/notesSlides/notesSlide1.xml" Id="R83499433783b49c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d1465bb4f84297" /><Relationship Type="http://schemas.openxmlformats.org/officeDocument/2006/relationships/image" Target="/ppt/media/image4.png" Id="Recc072eaf0864907" /><Relationship Type="http://schemas.openxmlformats.org/officeDocument/2006/relationships/notesSlide" Target="/ppt/notesSlides/notesSlide2.xml" Id="R26c97aaa862f4f6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128982a11004bdc" /><Relationship Type="http://schemas.openxmlformats.org/officeDocument/2006/relationships/notesSlide" Target="/ppt/notesSlides/notesSlide3.xml" Id="R8a4467c6680d49e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9168511e509471d" /><Relationship Type="http://schemas.openxmlformats.org/officeDocument/2006/relationships/notesSlide" Target="/ppt/notesSlides/notesSlide4.xml" Id="R0fb0a40b44f8408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0f3f63de404acc" /><Relationship Type="http://schemas.openxmlformats.org/officeDocument/2006/relationships/notesSlide" Target="/ppt/notesSlides/notesSlide5.xml" Id="Rc37c796dafa14aa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c125582d1fd4d33" /><Relationship Type="http://schemas.openxmlformats.org/officeDocument/2006/relationships/image" Target="/ppt/media/image5.png" Id="R8465459356a940c5" /><Relationship Type="http://schemas.openxmlformats.org/officeDocument/2006/relationships/hyperlink" Target="https://github.com/flaviogckessler" TargetMode="External" Id="R87a3dbef8b554780" /><Relationship Type="http://schemas.openxmlformats.org/officeDocument/2006/relationships/hyperlink" Target="https://github.com/sysbiolab" TargetMode="External" Id="Re1277695d8774fcd" /><Relationship Type="http://schemas.openxmlformats.org/officeDocument/2006/relationships/image" Target="/ppt/media/image6.png" Id="R6af0116d1cb342c9" /><Relationship Type="http://schemas.openxmlformats.org/officeDocument/2006/relationships/image" Target="/ppt/media/image7.png" Id="Rbdd5244709f24026" /><Relationship Type="http://schemas.openxmlformats.org/officeDocument/2006/relationships/notesSlide" Target="/ppt/notesSlides/notesSlide6.xml" Id="R275a8557cf0e4be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4d76f7019e44210" /><Relationship Type="http://schemas.openxmlformats.org/officeDocument/2006/relationships/image" Target="/ppt/media/image8.png" Id="Rd2a4ddc6b76945eb" /><Relationship Type="http://schemas.openxmlformats.org/officeDocument/2006/relationships/notesSlide" Target="/ppt/notesSlides/notesSlide7.xml" Id="R89eef307c9f1406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c6937998b794b34" /><Relationship Type="http://schemas.openxmlformats.org/officeDocument/2006/relationships/image" Target="/ppt/media/image9.png" Id="R2b2ad888bf8444b1" /><Relationship Type="http://schemas.openxmlformats.org/officeDocument/2006/relationships/image" Target="/ppt/media/image10.png" Id="R5160cb23fc094515" /><Relationship Type="http://schemas.openxmlformats.org/officeDocument/2006/relationships/notesSlide" Target="/ppt/notesSlides/notesSlide8.xml" Id="Rf9609f1fa0aa4ea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6cdb5009c78415d" /><Relationship Type="http://schemas.openxmlformats.org/officeDocument/2006/relationships/image" Target="/ppt/media/image11.png" Id="Rfe87ebcb24f14330" /><Relationship Type="http://schemas.openxmlformats.org/officeDocument/2006/relationships/image" Target="/ppt/media/image12.png" Id="Rbc721e754e53484f" /><Relationship Type="http://schemas.openxmlformats.org/officeDocument/2006/relationships/image" Target="/ppt/media/image13.png" Id="R1721243c43d34969" /><Relationship Type="http://schemas.openxmlformats.org/officeDocument/2006/relationships/hyperlink" Target="https://www.datacamp.com/pt/tutorial/r-studio-tutorial" TargetMode="External" Id="R4049766afca5449a" /><Relationship Type="http://schemas.openxmlformats.org/officeDocument/2006/relationships/notesSlide" Target="/ppt/notesSlides/notesSlide9.xml" Id="Raa066738a6ed420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81b7bbea3f4d1c" /><Relationship Type="http://schemas.openxmlformats.org/officeDocument/2006/relationships/notesSlide" Target="/ppt/notesSlides/notesSlide10.xml" Id="R8fffe8f05395476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e125e240439f4b8b" /><Relationship Type="http://schemas.openxmlformats.org/officeDocument/2006/relationships/notesSlide" Target="/ppt/notesSlides/notesSlide11.xml" Id="R0ad3a184ed9f414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e4e3368e5f644e6" /><Relationship Type="http://schemas.openxmlformats.org/officeDocument/2006/relationships/image" Target="/ppt/media/image14.png" Id="Ra4117025633341d6" /><Relationship Type="http://schemas.openxmlformats.org/officeDocument/2006/relationships/image" Target="/ppt/media/image15.png" Id="R62286dce8b5d4be1" /><Relationship Type="http://schemas.openxmlformats.org/officeDocument/2006/relationships/image" Target="/ppt/media/image16.png" Id="Rb7442cde01f745db" /><Relationship Type="http://schemas.openxmlformats.org/officeDocument/2006/relationships/image" Target="/ppt/media/image17.png" Id="R8f4d6f4fe210436d" /><Relationship Type="http://schemas.openxmlformats.org/officeDocument/2006/relationships/image" Target="/ppt/media/image18.png" Id="R6678dfd2c24b4d3b" /><Relationship Type="http://schemas.openxmlformats.org/officeDocument/2006/relationships/notesSlide" Target="/ppt/notesSlides/notesSlide12.xml" Id="R6d045335a09a45b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62d87e8d11a4d10" /><Relationship Type="http://schemas.openxmlformats.org/officeDocument/2006/relationships/image" Target="/ppt/media/image19.png" Id="Rcd52d4afa9034530" /><Relationship Type="http://schemas.openxmlformats.org/officeDocument/2006/relationships/image" Target="/ppt/media/image20.png" Id="R5882453abc244d1d" /><Relationship Type="http://schemas.openxmlformats.org/officeDocument/2006/relationships/image" Target="/ppt/media/image21.png" Id="R2fce05d8f0e7448e" /><Relationship Type="http://schemas.openxmlformats.org/officeDocument/2006/relationships/image" Target="/ppt/media/image22.png" Id="R03b0ca9183aa4015" /><Relationship Type="http://schemas.openxmlformats.org/officeDocument/2006/relationships/notesSlide" Target="/ppt/notesSlides/notesSlide13.xml" Id="Ra048e0d5a393486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d4cc483b1734636" /><Relationship Type="http://schemas.openxmlformats.org/officeDocument/2006/relationships/image" Target="/ppt/media/image23.png" Id="Rac2a1a56701e4e2b" /><Relationship Type="http://schemas.openxmlformats.org/officeDocument/2006/relationships/image" Target="/ppt/media/image24.png" Id="R103ec05db18e4733" /><Relationship Type="http://schemas.openxmlformats.org/officeDocument/2006/relationships/image" Target="/ppt/media/image25.png" Id="R97c7670672414f16" /><Relationship Type="http://schemas.openxmlformats.org/officeDocument/2006/relationships/image" Target="/ppt/media/image26.png" Id="Rbe4bea0d69f14eb1" /><Relationship Type="http://schemas.openxmlformats.org/officeDocument/2006/relationships/notesSlide" Target="/ppt/notesSlides/notesSlide14.xml" Id="R68c095d26bf34f1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15dd76f2ea84d97" /><Relationship Type="http://schemas.openxmlformats.org/officeDocument/2006/relationships/image" Target="/ppt/media/image19.png" Id="R67ed87a166cf4321" /><Relationship Type="http://schemas.openxmlformats.org/officeDocument/2006/relationships/image" Target="/ppt/media/image20.png" Id="Rea7d848bcdb74065" /><Relationship Type="http://schemas.openxmlformats.org/officeDocument/2006/relationships/image" Target="/ppt/media/image21.png" Id="Rc046304cd1f8484c" /><Relationship Type="http://schemas.openxmlformats.org/officeDocument/2006/relationships/image" Target="/ppt/media/image22.png" Id="R30ead4de6f8148b6" /><Relationship Type="http://schemas.openxmlformats.org/officeDocument/2006/relationships/notesSlide" Target="/ppt/notesSlides/notesSlide15.xml" Id="R3847d22d369a4bf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74c6853e35a445a" /><Relationship Type="http://schemas.openxmlformats.org/officeDocument/2006/relationships/notesSlide" Target="/ppt/notesSlides/notesSlide16.xml" Id="R2a0efc75b0fa40e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685a7a98f3f74c21" /><Relationship Type="http://schemas.openxmlformats.org/officeDocument/2006/relationships/notesSlide" Target="/ppt/notesSlides/notesSlide17.xml" Id="R3d7b85b29381476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5ed53c088d94adf" /><Relationship Type="http://schemas.openxmlformats.org/officeDocument/2006/relationships/image" Target="/ppt/media/image27.png" Id="Rb765f9b6fc6e4946" /><Relationship Type="http://schemas.openxmlformats.org/officeDocument/2006/relationships/image" Target="/ppt/media/image28.png" Id="Rc218a6899bca45d1" /><Relationship Type="http://schemas.openxmlformats.org/officeDocument/2006/relationships/image" Target="/ppt/media/image29.png" Id="Rf5b357753e754906" /><Relationship Type="http://schemas.openxmlformats.org/officeDocument/2006/relationships/notesSlide" Target="/ppt/notesSlides/notesSlide18.xml" Id="R9e4e2b67572e489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884e9f1afe54002" /><Relationship Type="http://schemas.openxmlformats.org/officeDocument/2006/relationships/image" Target="/ppt/media/image30.png" Id="R05af19f9154e4067" /><Relationship Type="http://schemas.openxmlformats.org/officeDocument/2006/relationships/image" Target="/ppt/media/image31.png" Id="R2f2066bef70d4f01" /><Relationship Type="http://schemas.openxmlformats.org/officeDocument/2006/relationships/image" Target="/ppt/media/image32.png" Id="Rf5ab4d1c80a3480e" /><Relationship Type="http://schemas.openxmlformats.org/officeDocument/2006/relationships/notesSlide" Target="/ppt/notesSlides/notesSlide19.xml" Id="R137fb03c20be403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674689dc6da488b" /><Relationship Type="http://schemas.openxmlformats.org/officeDocument/2006/relationships/image" Target="/ppt/media/image33.png" Id="R73e1a5ba56ef4e34" /><Relationship Type="http://schemas.openxmlformats.org/officeDocument/2006/relationships/notesSlide" Target="/ppt/notesSlides/notesSlide20.xml" Id="R5b3a0b1ab0b3487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5dac027f2ac42cd" /><Relationship Type="http://schemas.openxmlformats.org/officeDocument/2006/relationships/image" Target="/ppt/media/image34.png" Id="R9b55aa4b91534fdf" /><Relationship Type="http://schemas.openxmlformats.org/officeDocument/2006/relationships/notesSlide" Target="/ppt/notesSlides/notesSlide21.xml" Id="R385a548a52e048b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ebcf55274314ee5" /><Relationship Type="http://schemas.openxmlformats.org/officeDocument/2006/relationships/image" Target="/ppt/media/image35.png" Id="R9b979119a0e74705" /><Relationship Type="http://schemas.openxmlformats.org/officeDocument/2006/relationships/image" Target="/ppt/media/image31.png" Id="Rf01ed0e6195a4413" /><Relationship Type="http://schemas.openxmlformats.org/officeDocument/2006/relationships/image" Target="/ppt/media/image36.png" Id="Rf69e73aed73847a2" /><Relationship Type="http://schemas.openxmlformats.org/officeDocument/2006/relationships/notesSlide" Target="/ppt/notesSlides/notesSlide22.xml" Id="Rcafb8c0516f441e1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974642d328d4e0c" /><Relationship Type="http://schemas.openxmlformats.org/officeDocument/2006/relationships/image" Target="/ppt/media/image37.png" Id="R64adadea2f9a403b" /><Relationship Type="http://schemas.openxmlformats.org/officeDocument/2006/relationships/image" Target="/ppt/media/image38.png" Id="R0132335a554b48ec" /><Relationship Type="http://schemas.openxmlformats.org/officeDocument/2006/relationships/image" Target="/ppt/media/image31.png" Id="R14def1b40c074250" /><Relationship Type="http://schemas.openxmlformats.org/officeDocument/2006/relationships/notesSlide" Target="/ppt/notesSlides/notesSlide23.xml" Id="R5d61993f075f441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ba8b5ce4704478a" /><Relationship Type="http://schemas.openxmlformats.org/officeDocument/2006/relationships/image" Target="/ppt/media/image39.png" Id="Rbe45afd7c75a40f2" /><Relationship Type="http://schemas.openxmlformats.org/officeDocument/2006/relationships/notesSlide" Target="/ppt/notesSlides/notesSlide24.xml" Id="R19c22780c09c4cdf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633ac75c5c04723" /><Relationship Type="http://schemas.openxmlformats.org/officeDocument/2006/relationships/image" Target="/ppt/media/image40.png" Id="Rddcbe0a1fd8b4ac7" /><Relationship Type="http://schemas.openxmlformats.org/officeDocument/2006/relationships/image" Target="/ppt/media/image41.png" Id="R595cdc6bb04a4503" /><Relationship Type="http://schemas.openxmlformats.org/officeDocument/2006/relationships/image" Target="/ppt/media/image34.png" Id="Rb95b9ec274da4866" /><Relationship Type="http://schemas.openxmlformats.org/officeDocument/2006/relationships/notesSlide" Target="/ppt/notesSlides/notesSlide25.xml" Id="R69aa6302484e4630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98ed2a4c28b4811" /><Relationship Type="http://schemas.openxmlformats.org/officeDocument/2006/relationships/image" Target="/ppt/media/image34.png" Id="R5ea41a4994e24a66" /><Relationship Type="http://schemas.openxmlformats.org/officeDocument/2006/relationships/image" Target="/ppt/media/image42.png" Id="R5c0790fe5dd448af" /><Relationship Type="http://schemas.openxmlformats.org/officeDocument/2006/relationships/notesSlide" Target="/ppt/notesSlides/notesSlide26.xml" Id="R9f79554edcd64064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886a07fb0424e96" /><Relationship Type="http://schemas.openxmlformats.org/officeDocument/2006/relationships/image" Target="/ppt/media/image43.png" Id="R4552ea8ed2b74823" /><Relationship Type="http://schemas.openxmlformats.org/officeDocument/2006/relationships/notesSlide" Target="/ppt/notesSlides/notesSlide27.xml" Id="R6bd666ec9e274644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d0237b33aa4749" /><Relationship Type="http://schemas.openxmlformats.org/officeDocument/2006/relationships/notesSlide" Target="/ppt/notesSlides/notesSlide28.xml" Id="R83723645c60a4967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8f89a29df2841a1" /><Relationship Type="http://schemas.openxmlformats.org/officeDocument/2006/relationships/image" Target="/ppt/media/image44.png" Id="Rea54121ed27e4ada" /><Relationship Type="http://schemas.openxmlformats.org/officeDocument/2006/relationships/image" Target="/ppt/media/image45.png" Id="R144a1acfc1dc43f3" /><Relationship Type="http://schemas.openxmlformats.org/officeDocument/2006/relationships/image" Target="/ppt/media/image46.png" Id="R657ec3cda15b4298" /><Relationship Type="http://schemas.openxmlformats.org/officeDocument/2006/relationships/notesSlide" Target="/ppt/notesSlides/notesSlide29.xml" Id="R979ad9cb1cc14d95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50b94141d0d4cad" /><Relationship Type="http://schemas.openxmlformats.org/officeDocument/2006/relationships/image" Target="/ppt/media/image47.png" Id="R5d907dd924a64714" /><Relationship Type="http://schemas.openxmlformats.org/officeDocument/2006/relationships/image" Target="/ppt/media/image48.png" Id="R354f92d97ee047cd" /><Relationship Type="http://schemas.openxmlformats.org/officeDocument/2006/relationships/image" Target="/ppt/media/image49.png" Id="Rf927b305d7ca4c24" /><Relationship Type="http://schemas.openxmlformats.org/officeDocument/2006/relationships/notesSlide" Target="/ppt/notesSlides/notesSlide30.xml" Id="Rcff691d560af4c8e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4aa42ea6e6c44fb" /><Relationship Type="http://schemas.openxmlformats.org/officeDocument/2006/relationships/image" Target="/ppt/media/image31.png" Id="Rb5e878e9fe03475e" /><Relationship Type="http://schemas.openxmlformats.org/officeDocument/2006/relationships/image" Target="/ppt/media/image32.png" Id="R7d1903a00e8d407f" /><Relationship Type="http://schemas.openxmlformats.org/officeDocument/2006/relationships/image" Target="/ppt/media/image50.png" Id="R72644d37ee90427d" /><Relationship Type="http://schemas.openxmlformats.org/officeDocument/2006/relationships/image" Target="/ppt/media/image51.png" Id="R6886e74e4b144e87" /><Relationship Type="http://schemas.openxmlformats.org/officeDocument/2006/relationships/notesSlide" Target="/ppt/notesSlides/notesSlide31.xml" Id="R4b28acc004fb4682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d134c315fb34f35" /><Relationship Type="http://schemas.openxmlformats.org/officeDocument/2006/relationships/image" Target="/ppt/media/image52.png" Id="Rd03fb0cc788f4818" /><Relationship Type="http://schemas.openxmlformats.org/officeDocument/2006/relationships/image" Target="/ppt/media/image53.png" Id="R867700c1b78942d5" /><Relationship Type="http://schemas.openxmlformats.org/officeDocument/2006/relationships/notesSlide" Target="/ppt/notesSlides/notesSlide32.xml" Id="R853c235c3b9c44e1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9cf5ae340ef4259" /><Relationship Type="http://schemas.openxmlformats.org/officeDocument/2006/relationships/image" Target="/ppt/media/image54.png" Id="R12b4e771f35e4b10" /><Relationship Type="http://schemas.openxmlformats.org/officeDocument/2006/relationships/image" Target="/ppt/media/image.jpeg" Id="R15210795130f4a4d" /><Relationship Type="http://schemas.openxmlformats.org/officeDocument/2006/relationships/image" Target="/ppt/media/image52.png" Id="Rfb3549a8709b4917" /><Relationship Type="http://schemas.openxmlformats.org/officeDocument/2006/relationships/notesSlide" Target="/ppt/notesSlides/notesSlide33.xml" Id="Re5b99153e3da4a35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c6d2ed606a640f2" /><Relationship Type="http://schemas.openxmlformats.org/officeDocument/2006/relationships/image" Target="/ppt/media/image55.png" Id="Rdbc3ea252c464da2" /><Relationship Type="http://schemas.openxmlformats.org/officeDocument/2006/relationships/image" Target="/ppt/media/image56.png" Id="R74e10ffdd3ae43ac" /><Relationship Type="http://schemas.openxmlformats.org/officeDocument/2006/relationships/image" Target="/ppt/media/image57.png" Id="Rcdaf129697b94332" /><Relationship Type="http://schemas.openxmlformats.org/officeDocument/2006/relationships/notesSlide" Target="/ppt/notesSlides/notesSlide34.xml" Id="R4c1f9fc160a94a9e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bf4426f1d0b49c3" /><Relationship Type="http://schemas.openxmlformats.org/officeDocument/2006/relationships/image" Target="/ppt/media/image58.png" Id="R1398e58a473b4034" /><Relationship Type="http://schemas.openxmlformats.org/officeDocument/2006/relationships/notesSlide" Target="/ppt/notesSlides/notesSlide35.xml" Id="R3c6987ae52de4497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1a6fe80c4574784" /><Relationship Type="http://schemas.openxmlformats.org/officeDocument/2006/relationships/image" Target="/ppt/media/image59.png" Id="R96df870f611e4ff0" /><Relationship Type="http://schemas.openxmlformats.org/officeDocument/2006/relationships/notesSlide" Target="/ppt/notesSlides/notesSlide36.xml" Id="R97d3f15f9cf34672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262943fcb5a4284" /><Relationship Type="http://schemas.openxmlformats.org/officeDocument/2006/relationships/hyperlink" Target="http://doi.org/10.1038/s41588-025-02193-3" TargetMode="External" Id="Rce684c1757ac4b2c" /><Relationship Type="http://schemas.openxmlformats.org/officeDocument/2006/relationships/image" Target="/ppt/media/image60.png" Id="Rb14d89664d5942db" /><Relationship Type="http://schemas.openxmlformats.org/officeDocument/2006/relationships/image" Target="/ppt/media/image61.png" Id="R0d5dcc8480d9422e" /><Relationship Type="http://schemas.openxmlformats.org/officeDocument/2006/relationships/notesSlide" Target="/ppt/notesSlides/notesSlide37.xml" Id="R9ab452e6118146a5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fb3446360844975" /><Relationship Type="http://schemas.openxmlformats.org/officeDocument/2006/relationships/image" Target="/ppt/media/image62.png" Id="Rbdced7c89b7948cb" /><Relationship Type="http://schemas.openxmlformats.org/officeDocument/2006/relationships/notesSlide" Target="/ppt/notesSlides/notesSlide38.xml" Id="R3a7c07c85889426c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68b451adcf84513" /><Relationship Type="http://schemas.openxmlformats.org/officeDocument/2006/relationships/image" Target="/ppt/media/image43.png" Id="R25903122e2a04aeb" /><Relationship Type="http://schemas.openxmlformats.org/officeDocument/2006/relationships/notesSlide" Target="/ppt/notesSlides/notesSlide39.xml" Id="R0cf5b0e156254aa7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8ee99df990524e4d" /><Relationship Type="http://schemas.openxmlformats.org/officeDocument/2006/relationships/notesSlide" Target="/ppt/notesSlides/notesSlide40.xml" Id="Rae969593cf7e4638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7dfa8e3edfc4db4" /><Relationship Type="http://schemas.openxmlformats.org/officeDocument/2006/relationships/image" Target="/ppt/media/image63.png" Id="Rfa9cd8ad5456461b" /><Relationship Type="http://schemas.openxmlformats.org/officeDocument/2006/relationships/image" Target="/ppt/media/image64.png" Id="Rb6c3ed80cae34690" /><Relationship Type="http://schemas.openxmlformats.org/officeDocument/2006/relationships/image" Target="/ppt/media/image65.png" Id="R7a070ca060be47ab" /><Relationship Type="http://schemas.openxmlformats.org/officeDocument/2006/relationships/image" Target="/ppt/media/image66.png" Id="Rdf126b62923142a8" /><Relationship Type="http://schemas.openxmlformats.org/officeDocument/2006/relationships/notesSlide" Target="/ppt/notesSlides/notesSlide41.xml" Id="Ra974ca84d7524a81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d6edf3a69d94c59" /><Relationship Type="http://schemas.openxmlformats.org/officeDocument/2006/relationships/image" Target="/ppt/media/image67.png" Id="R7a99000496334222" /><Relationship Type="http://schemas.openxmlformats.org/officeDocument/2006/relationships/image" Target="/ppt/media/image68.png" Id="R977ddb9efa724993" /><Relationship Type="http://schemas.openxmlformats.org/officeDocument/2006/relationships/hyperlink" Target="https://www.10xgenomics.com/support/software/space-ranger/latest/algorithms-overview/gene-expression" TargetMode="External" Id="Rd21265c6cd244adc" /><Relationship Type="http://schemas.openxmlformats.org/officeDocument/2006/relationships/notesSlide" Target="/ppt/notesSlides/notesSlide42.xml" Id="Rad3c39c6aa4447fd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b65c864c59140c4" /><Relationship Type="http://schemas.openxmlformats.org/officeDocument/2006/relationships/image" Target="/ppt/media/image58.png" Id="R1ad768bd046d49bd" /><Relationship Type="http://schemas.openxmlformats.org/officeDocument/2006/relationships/notesSlide" Target="/ppt/notesSlides/notesSlide43.xml" Id="Re19c1ec2bff4492c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d6a42171b5e4f49" /><Relationship Type="http://schemas.openxmlformats.org/officeDocument/2006/relationships/image" Target="/ppt/media/image43.png" Id="R7813bc64281d49b5" /><Relationship Type="http://schemas.openxmlformats.org/officeDocument/2006/relationships/image" Target="/ppt/media/image58.png" Id="R4a9afd340ffd445d" /><Relationship Type="http://schemas.openxmlformats.org/officeDocument/2006/relationships/notesSlide" Target="/ppt/notesSlides/notesSlide44.xml" Id="Rfa93aa84bd064c54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2b926cfefde487f" /><Relationship Type="http://schemas.openxmlformats.org/officeDocument/2006/relationships/image" Target="/ppt/media/image69.png" Id="Rb5cb206b509049e6" /><Relationship Type="http://schemas.openxmlformats.org/officeDocument/2006/relationships/image" Target="/ppt/media/image70.png" Id="Rbb9cb0a492bf4121" /><Relationship Type="http://schemas.openxmlformats.org/officeDocument/2006/relationships/image" Target="/ppt/media/image71.png" Id="R9fba771e7a7b42eb" /><Relationship Type="http://schemas.openxmlformats.org/officeDocument/2006/relationships/notesSlide" Target="/ppt/notesSlides/notesSlide45.xml" Id="Re549af38d36e4493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cef2d34c6184409" /><Relationship Type="http://schemas.openxmlformats.org/officeDocument/2006/relationships/image" Target="/ppt/media/image70.png" Id="R54671fdd58d44b85" /><Relationship Type="http://schemas.openxmlformats.org/officeDocument/2006/relationships/image" Target="/ppt/media/image71.png" Id="R416be1bc035048de" /><Relationship Type="http://schemas.openxmlformats.org/officeDocument/2006/relationships/image" Target="/ppt/media/image72.png" Id="R9978cbf497c3411e" /><Relationship Type="http://schemas.openxmlformats.org/officeDocument/2006/relationships/image" Target="/ppt/media/image73.png" Id="R8adaa6b1294e4807" /><Relationship Type="http://schemas.openxmlformats.org/officeDocument/2006/relationships/notesSlide" Target="/ppt/notesSlides/notesSlide46.xml" Id="R098f1a2e656b4e3a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05d4f729f274fe1" /><Relationship Type="http://schemas.openxmlformats.org/officeDocument/2006/relationships/notesSlide" Target="/ppt/notesSlides/notesSlide47.xml" Id="Rdb41b97145604187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0bd9f552a1b4274" /><Relationship Type="http://schemas.openxmlformats.org/officeDocument/2006/relationships/notesSlide" Target="/ppt/notesSlides/notesSlide48.xml" Id="R29f8218521224712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c4a00d588674155" /><Relationship Type="http://schemas.openxmlformats.org/officeDocument/2006/relationships/notesSlide" Target="/ppt/notesSlides/notesSlide49.xml" Id="R7216e3c748e64a1c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da30237211b4b6a" /><Relationship Type="http://schemas.openxmlformats.org/officeDocument/2006/relationships/notesSlide" Target="/ppt/notesSlides/notesSlide50.xml" Id="Redd6b13736c9430d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746e1f1094c41d2" /><Relationship Type="http://schemas.openxmlformats.org/officeDocument/2006/relationships/image" Target="/ppt/media/image74.png" Id="R80b86ca6ae244e04" /><Relationship Type="http://schemas.openxmlformats.org/officeDocument/2006/relationships/notesSlide" Target="/ppt/notesSlides/notesSlide51.xml" Id="Rc2d13646d66a42c6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f21ed9b35a54961" /><Relationship Type="http://schemas.openxmlformats.org/officeDocument/2006/relationships/image" Target="/ppt/media/image74.png" Id="R72abca3da44b4da5" /><Relationship Type="http://schemas.openxmlformats.org/officeDocument/2006/relationships/notesSlide" Target="/ppt/notesSlides/notesSlide52.xml" Id="R8d1ea6b874584534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0af5ae08bcb4a4c" /><Relationship Type="http://schemas.openxmlformats.org/officeDocument/2006/relationships/image" Target="/ppt/media/image75.png" Id="R9016128e909e4219" /><Relationship Type="http://schemas.openxmlformats.org/officeDocument/2006/relationships/notesSlide" Target="/ppt/notesSlides/notesSlide53.xml" Id="R21ed6f10ac1b48bc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d559b8d52aa4f66" /><Relationship Type="http://schemas.openxmlformats.org/officeDocument/2006/relationships/image" Target="/ppt/media/image75.png" Id="R4570f1c00fff4f14" /><Relationship Type="http://schemas.openxmlformats.org/officeDocument/2006/relationships/notesSlide" Target="/ppt/notesSlides/notesSlide54.xml" Id="R44c99bc0385140fc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cf94b8695b244e2" /><Relationship Type="http://schemas.openxmlformats.org/officeDocument/2006/relationships/image" Target="/ppt/media/image63.png" Id="Ref79b92ff6644757" /><Relationship Type="http://schemas.openxmlformats.org/officeDocument/2006/relationships/image" Target="/ppt/media/image64.png" Id="R7fc86c79fe724f7e" /><Relationship Type="http://schemas.openxmlformats.org/officeDocument/2006/relationships/image" Target="/ppt/media/image65.png" Id="Rdd45a2540f4343b7" /><Relationship Type="http://schemas.openxmlformats.org/officeDocument/2006/relationships/image" Target="/ppt/media/image66.png" Id="R4f75377c2807445e" /><Relationship Type="http://schemas.openxmlformats.org/officeDocument/2006/relationships/notesSlide" Target="/ppt/notesSlides/notesSlide55.xml" Id="R528bca96917c4657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c7b209b6cd374ecc" /><Relationship Type="http://schemas.openxmlformats.org/officeDocument/2006/relationships/image" Target="/ppt/media/image76.png" Id="R466f2e471a724096" /><Relationship Type="http://schemas.openxmlformats.org/officeDocument/2006/relationships/notesSlide" Target="/ppt/notesSlides/notesSlide56.xml" Id="Rac796bde2da04ce4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2211f0db754c39" /><Relationship Type="http://schemas.openxmlformats.org/officeDocument/2006/relationships/notesSlide" Target="/ppt/notesSlides/notesSlide57.xml" Id="R6168604cae3f4e9f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9fa82d557854503" /><Relationship Type="http://schemas.openxmlformats.org/officeDocument/2006/relationships/image" Target="/ppt/media/image11.png" Id="Rad164b68dd344b7d" /><Relationship Type="http://schemas.openxmlformats.org/officeDocument/2006/relationships/image" Target="/ppt/media/image12.png" Id="Re293b384263047cf" /><Relationship Type="http://schemas.openxmlformats.org/officeDocument/2006/relationships/notesSlide" Target="/ppt/notesSlides/notesSlide58.xml" Id="R79a71a8b53564b2e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f763d8373d44d84" /><Relationship Type="http://schemas.openxmlformats.org/officeDocument/2006/relationships/image" Target="/ppt/media/image77.png" Id="Rf01cf8031f174d3d" /><Relationship Type="http://schemas.openxmlformats.org/officeDocument/2006/relationships/image" Target="/ppt/media/image11.png" Id="Ra1babd63e09e42aa" /><Relationship Type="http://schemas.openxmlformats.org/officeDocument/2006/relationships/image" Target="/ppt/media/image12.png" Id="Re3fa9d41958d4d89" /><Relationship Type="http://schemas.openxmlformats.org/officeDocument/2006/relationships/notesSlide" Target="/ppt/notesSlides/notesSlide59.xml" Id="R4f8d99b4ef224e82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ea3d58dd96642e2" /><Relationship Type="http://schemas.openxmlformats.org/officeDocument/2006/relationships/image" Target="/ppt/media/image77.png" Id="R8aef5b1c3fbf4678" /><Relationship Type="http://schemas.openxmlformats.org/officeDocument/2006/relationships/image" Target="/ppt/media/image78.png" Id="R99132fb2aab24dbb" /><Relationship Type="http://schemas.openxmlformats.org/officeDocument/2006/relationships/image" Target="/ppt/media/image11.png" Id="R74a2b08c6e6f4cc4" /><Relationship Type="http://schemas.openxmlformats.org/officeDocument/2006/relationships/image" Target="/ppt/media/image12.png" Id="Rab92358820664cc4" /><Relationship Type="http://schemas.openxmlformats.org/officeDocument/2006/relationships/notesSlide" Target="/ppt/notesSlides/notesSlide60.xml" Id="R8f167a9d101b4c9c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bdb810e9e6540ea" /><Relationship Type="http://schemas.openxmlformats.org/officeDocument/2006/relationships/image" Target="/ppt/media/image79.png" Id="Ra3e652133dd14848" /><Relationship Type="http://schemas.openxmlformats.org/officeDocument/2006/relationships/image" Target="/ppt/media/image80.png" Id="R4a17614407ef46ed" /><Relationship Type="http://schemas.openxmlformats.org/officeDocument/2006/relationships/image" Target="/ppt/media/image81.png" Id="Rb11513fb8b41425a" /><Relationship Type="http://schemas.openxmlformats.org/officeDocument/2006/relationships/image" Target="/ppt/media/image82.png" Id="R9f1a0ef60e39411d" /><Relationship Type="http://schemas.openxmlformats.org/officeDocument/2006/relationships/notesSlide" Target="/ppt/notesSlides/notesSlide61.xml" Id="Rfdf8930e414c4d90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313cc45c94d4caa" /><Relationship Type="http://schemas.openxmlformats.org/officeDocument/2006/relationships/image" Target="/ppt/media/image83.png" Id="R977a64eac8634191" /><Relationship Type="http://schemas.openxmlformats.org/officeDocument/2006/relationships/image" Target="/ppt/media/image43.png" Id="R92c898d4258d402c" /><Relationship Type="http://schemas.openxmlformats.org/officeDocument/2006/relationships/hyperlink" Target="https://github.com/flaviogckessler/Curso_ST" TargetMode="External" Id="R4f60a6e390114683" /><Relationship Type="http://schemas.openxmlformats.org/officeDocument/2006/relationships/image" Target="/ppt/media/image84.png" Id="R780e5af637804546" /><Relationship Type="http://schemas.openxmlformats.org/officeDocument/2006/relationships/notesSlide" Target="/ppt/notesSlides/notesSlide62.xml" Id="Rdb70621125b2485e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cc69561791441a8" /><Relationship Type="http://schemas.openxmlformats.org/officeDocument/2006/relationships/hyperlink" Target="https://flaviogckessler.github.io/Curso_ST/vinhetas/Configuracao_do_ambiente_RStudio.html" TargetMode="External" Id="R1a83b34d42394ae8" /><Relationship Type="http://schemas.openxmlformats.org/officeDocument/2006/relationships/hyperlink" Target="https://flaviogckessler.github.io/Curso_ST/vinhetas/Configuracao_do_ambiente_RStudio.html" TargetMode="External" Id="R2c53e4148d724467" /><Relationship Type="http://schemas.openxmlformats.org/officeDocument/2006/relationships/image" Target="/ppt/media/image85.png" Id="Rdc40ad13ba6645f9" /><Relationship Type="http://schemas.openxmlformats.org/officeDocument/2006/relationships/notesSlide" Target="/ppt/notesSlides/notesSlide63.xml" Id="R33cd78bae1f34b35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12949d225e04806" /><Relationship Type="http://schemas.openxmlformats.org/officeDocument/2006/relationships/image" Target="/ppt/media/image86.png" Id="Rf1cfa39986c54429" /><Relationship Type="http://schemas.openxmlformats.org/officeDocument/2006/relationships/notesSlide" Target="/ppt/notesSlides/notesSlide64.xml" Id="Re8886dc8cf49428f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b6a3e136a854524" /><Relationship Type="http://schemas.openxmlformats.org/officeDocument/2006/relationships/image" Target="/ppt/media/image87.png" Id="R5cba8bd8c3634c6c" /><Relationship Type="http://schemas.openxmlformats.org/officeDocument/2006/relationships/image" Target="/ppt/media/image11.png" Id="Re78aab8e36fc4bcd" /><Relationship Type="http://schemas.openxmlformats.org/officeDocument/2006/relationships/image" Target="/ppt/media/image88.png" Id="R456d3b2e7c574ba1" /><Relationship Type="http://schemas.openxmlformats.org/officeDocument/2006/relationships/notesSlide" Target="/ppt/notesSlides/notesSlide65.xml" Id="Rc5656071d8c344f8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0a3effd6a184873" /><Relationship Type="http://schemas.openxmlformats.org/officeDocument/2006/relationships/image" Target="/ppt/media/image89.png" Id="Rcc32740365254547" /><Relationship Type="http://schemas.openxmlformats.org/officeDocument/2006/relationships/image" Target="/ppt/media/image90.png" Id="R8ca389fa0bd14012" /><Relationship Type="http://schemas.openxmlformats.org/officeDocument/2006/relationships/image" Target="/ppt/media/image91.png" Id="Re99e8a927f3c4604" /><Relationship Type="http://schemas.openxmlformats.org/officeDocument/2006/relationships/image" Target="/ppt/media/image92.png" Id="R1cce46f8ac7b4af6" /><Relationship Type="http://schemas.openxmlformats.org/officeDocument/2006/relationships/notesSlide" Target="/ppt/notesSlides/notesSlide66.xml" Id="R52a25d67f02448f4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6e3987b9e2f4647" /><Relationship Type="http://schemas.openxmlformats.org/officeDocument/2006/relationships/image" Target="/ppt/media/image43.png" Id="R42c363988c504ceb" /><Relationship Type="http://schemas.openxmlformats.org/officeDocument/2006/relationships/notesSlide" Target="/ppt/notesSlides/notesSlide67.xml" Id="R6d5d449f3c15415c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c6189af9620142f0" /><Relationship Type="http://schemas.openxmlformats.org/officeDocument/2006/relationships/notesSlide" Target="/ppt/notesSlides/notesSlide68.xml" Id="Ra65c7fd2e6bb4c4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Google Shape;60;g3f8c134e9bc_0_47">
            <a:extLst xmlns:a="http://schemas.openxmlformats.org/drawingml/2006/main">
              <a:ext uri="{FF2B5EF4-FFF2-40B4-BE49-F238E27FC236}">
                <a16:creationId xmlns:a16="http://schemas.microsoft.com/office/drawing/2014/main" id="{D86A7A23-C9B4-48B3-9229-69FBE19A576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519975" y="643075"/>
            <a:ext cx="4320000" cy="158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sz="3500"/>
              <a:t>Análise de Dados de </a:t>
            </a:r>
            <a:endParaRPr sz="3500"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sz="3500"/>
              <a:t>Transcriptômica Espacial</a:t>
            </a:r>
            <a:endParaRPr sz="2000" i="1">
              <a:solidFill>
                <a:schemeClr val="lt2"/>
              </a:solidFill>
            </a:endParaRPr>
          </a:p>
        </p:txBody>
      </p:sp>
      <p:sp>
        <p:nvSpPr>
          <p:cNvPr id="61" name="Google Shape;61;g3f8c134e9bc_0_47">
            <a:extLst xmlns:a="http://schemas.openxmlformats.org/drawingml/2006/main">
              <a:ext uri="{FF2B5EF4-FFF2-40B4-BE49-F238E27FC236}">
                <a16:creationId xmlns:a16="http://schemas.microsoft.com/office/drawing/2014/main" id="{3F6BCEE7-8F97-4CD0-8B47-34ED8887DBE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01618" y="3989475"/>
            <a:ext cx="3537900" cy="90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sz="1900"/>
              <a:t>Flávio Gabriel Carazza-Kessler</a:t>
            </a:r>
            <a:endParaRPr sz="1900"/>
          </a:p>
          <a:p xmlns:a="http://schemas.openxmlformats.org/drawingml/2006/main">
            <a: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sz="1200"/>
              <a:t>Mestre  em Bioquímica, UFRGS</a:t>
            </a:r>
            <a:endParaRPr sz="1200"/>
          </a:p>
          <a:p xmlns:a="http://schemas.openxmlformats.org/drawingml/2006/main">
            <a: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sz="1200"/>
              <a:t>Doutorando em Bioinformática, UFPR</a:t>
            </a:r>
            <a:endParaRPr sz="1200"/>
          </a:p>
        </p:txBody>
      </p:sp>
      <p:pic>
        <p:nvPicPr>
          <p:cNvPr id="65" name="Google Shape;62;g3f8c134e9bc_0_4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524face9e346d1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57875" y="4094375"/>
            <a:ext cx="1396599" cy="6983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44265880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Google Shape;67;p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c072eaf0864907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8964843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Google Shape;72;p2">
            <a:extLst xmlns:a="http://schemas.openxmlformats.org/drawingml/2006/main">
              <a:ext uri="{FF2B5EF4-FFF2-40B4-BE49-F238E27FC236}">
                <a16:creationId xmlns:a16="http://schemas.microsoft.com/office/drawing/2014/main" id="{0871A891-3842-442D-87B2-12250AAE0CD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2164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/>
              <a:t>Análise de Dados de Transcriptômica Espacial</a:t>
            </a:r>
            <a:endParaRPr b="1"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b="1"/>
          </a:p>
        </p:txBody>
      </p:sp>
      <p:sp>
        <p:nvSpPr>
          <p:cNvPr id="73" name="Google Shape;73;p2">
            <a:extLst xmlns:a="http://schemas.openxmlformats.org/drawingml/2006/main">
              <a:ext uri="{FF2B5EF4-FFF2-40B4-BE49-F238E27FC236}">
                <a16:creationId xmlns:a16="http://schemas.microsoft.com/office/drawing/2014/main" id="{BBD7263A-9A23-40E2-BE73-4551FE1749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714500" y="771475"/>
            <a:ext cx="7117800" cy="163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457200" lvl="0" indent="-31432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AutoNum type="arabicPeriod"/>
            </a:pPr>
            <a:r>
              <a:rPr sz="1350">
                <a:solidFill>
                  <a:schemeClr val="dk1"/>
                </a:solidFill>
              </a:rPr>
              <a:t>Apresentar os fundamentos teóricos relacionadas à transcriptômica de alta resolução, com foco em </a:t>
            </a:r>
            <a:r>
              <a:rPr sz="1350" b="1">
                <a:solidFill>
                  <a:schemeClr val="dk1"/>
                </a:solidFill>
              </a:rPr>
              <a:t>transcriptômica espacial</a:t>
            </a:r>
            <a:r>
              <a:rPr sz="1350">
                <a:solidFill>
                  <a:schemeClr val="dk1"/>
                </a:solidFill>
              </a:rPr>
              <a:t> </a:t>
            </a:r>
            <a:endParaRPr sz="1350">
              <a:solidFill>
                <a:schemeClr val="dk1"/>
              </a:solidFill>
            </a:endParaRPr>
          </a:p>
          <a:p xmlns:a="http://schemas.openxmlformats.org/drawingml/2006/main">
            <a:pPr marL="457200" lvl="0" indent="-31432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AutoNum type="arabicPeriod"/>
            </a:pPr>
            <a:r>
              <a:rPr sz="1350" b="1">
                <a:solidFill>
                  <a:schemeClr val="dk1"/>
                </a:solidFill>
              </a:rPr>
              <a:t>Treinamento prático</a:t>
            </a:r>
            <a:r>
              <a:rPr sz="1350">
                <a:solidFill>
                  <a:schemeClr val="dk1"/>
                </a:solidFill>
              </a:rPr>
              <a:t> com os passos fundamentais para a análise desse tipo de dado.</a:t>
            </a:r>
            <a:endParaRPr sz="1350">
              <a:solidFill>
                <a:schemeClr val="dk1"/>
              </a:solidFill>
            </a:endParaRPr>
          </a:p>
          <a:p xmlns:a="http://schemas.openxmlformats.org/drawingml/2006/main">
            <a:pPr marL="457200" lvl="0" indent="-31432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AutoNum type="arabicPeriod"/>
            </a:pPr>
            <a:r>
              <a:rPr sz="1350" b="1">
                <a:solidFill>
                  <a:schemeClr val="dk1"/>
                </a:solidFill>
              </a:rPr>
              <a:t>Capacitação para aplicação</a:t>
            </a:r>
            <a:r>
              <a:rPr sz="1350">
                <a:solidFill>
                  <a:schemeClr val="dk1"/>
                </a:solidFill>
              </a:rPr>
              <a:t> desses fundamentos nas áreas da Ciência da Saúde e Biológicas</a:t>
            </a:r>
            <a:endParaRPr sz="1350">
              <a:solidFill>
                <a:schemeClr val="dk1"/>
              </a:solidFill>
            </a:endParaRP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None/>
            </a:pPr>
            <a:endParaRPr sz="1350">
              <a:solidFill>
                <a:schemeClr val="dk1"/>
              </a:solidFill>
            </a:endParaRP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endParaRPr sz="1350">
              <a:solidFill>
                <a:schemeClr val="dk1"/>
              </a:solidFill>
            </a:endParaRPr>
          </a:p>
        </p:txBody>
      </p:sp>
      <p:sp>
        <p:nvSpPr>
          <p:cNvPr id="74" name="Google Shape;74;p2">
            <a:extLst xmlns:a="http://schemas.openxmlformats.org/drawingml/2006/main">
              <a:ext uri="{FF2B5EF4-FFF2-40B4-BE49-F238E27FC236}">
                <a16:creationId xmlns:a16="http://schemas.microsoft.com/office/drawing/2014/main" id="{5C3929A6-5434-4B66-BE8C-E4023A0A4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700" y="872025"/>
            <a:ext cx="11850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sz="1700" b="1" i="0" u="none" cap="none">
                <a:solidFill>
                  <a:schemeClr val="dk1"/>
                </a:solidFill>
                <a:highlight>
                  <a:srgbClr val="D9D9D9"/>
                </a:highlight>
                <a:latin typeface="Proxima Nova"/>
                <a:ea typeface="Proxima Nova"/>
                <a:cs typeface="Proxima Nova"/>
              </a:rPr>
              <a:t>Objetivo</a:t>
            </a:r>
            <a:endParaRPr sz="1700" b="1" i="0" u="none" cap="none">
              <a:solidFill>
                <a:schemeClr val="dk1"/>
              </a:solidFill>
              <a:highlight>
                <a:srgbClr val="D9D9D9"/>
              </a:highlight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700" b="1" i="0" u="none" cap="none">
              <a:solidFill>
                <a:schemeClr val="dk1"/>
              </a:solidFill>
              <a:highlight>
                <a:srgbClr val="D9D9D9"/>
              </a:highlight>
              <a:latin typeface="Proxima Nova"/>
              <a:ea typeface="Proxima Nova"/>
              <a:cs typeface="Proxima Nova"/>
            </a:endParaRPr>
          </a:p>
        </p:txBody>
      </p:sp>
      <p:sp>
        <p:nvSpPr>
          <p:cNvPr id="76" name="Google Shape;76;p2">
            <a:extLst xmlns:a="http://schemas.openxmlformats.org/drawingml/2006/main">
              <a:ext uri="{FF2B5EF4-FFF2-40B4-BE49-F238E27FC236}">
                <a16:creationId xmlns:a16="http://schemas.microsoft.com/office/drawing/2014/main" id="{7F6D0CDA-09BE-4E16-AD69-97ED9D092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 flipH="1" flipV="0">
            <a:off x="3874581" y="2069827"/>
            <a:ext cx="2220928" cy="2693120"/>
          </a:xfrm>
          <a:prstGeom xmlns:a="http://schemas.openxmlformats.org/drawingml/2006/main" prst="round2DiagRect">
            <a:avLst>
              <a:gd name="adj1" fmla="val 0"/>
              <a:gd name="adj2" fmla="val 17764"/>
            </a:avLst>
          </a:prstGeom>
          <a:solidFill xmlns:a="http://schemas.openxmlformats.org/drawingml/2006/main">
            <a:srgbClr val="0D5CD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04425" tIns="104425" rIns="104425" bIns="104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99"/>
              <a:buFont typeface="Arial"/>
              <a:buNone/>
            </a:pPr>
            <a:endParaRPr sz="1599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77" name="Google Shape;77;p2">
            <a:extLst xmlns:a="http://schemas.openxmlformats.org/drawingml/2006/main">
              <a:ext uri="{FF2B5EF4-FFF2-40B4-BE49-F238E27FC236}">
                <a16:creationId xmlns:a16="http://schemas.microsoft.com/office/drawing/2014/main" id="{10BD78AC-D1F1-408D-B4A2-B9F7F3AB1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53990" y="2207513"/>
            <a:ext cx="1657986" cy="7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04425" tIns="104425" rIns="104425" bIns="104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6"/>
              <a:buFont typeface="Arial"/>
              <a:buNone/>
            </a:pPr>
            <a:r>
              <a:rPr sz="1256" b="1" i="0" u="none" cap="none">
                <a:solidFill>
                  <a:srgbClr val="FFFFFF"/>
                </a:solidFill>
                <a:latin typeface="Proxima Nova"/>
                <a:ea typeface="Proxima Nova"/>
                <a:cs typeface="Proxima Nova"/>
              </a:rPr>
              <a:t>Aula 2</a:t>
            </a:r>
            <a:endParaRPr sz="1256" b="1" i="0" u="none" cap="none">
              <a:solidFill>
                <a:srgbClr val="FFFFFF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6"/>
              <a:buFont typeface="Arial"/>
              <a:buNone/>
            </a:pPr>
            <a:r>
              <a:rPr sz="1256" b="1" i="0" u="none" cap="none">
                <a:solidFill>
                  <a:srgbClr val="FFFFFF"/>
                </a:solidFill>
                <a:latin typeface="Proxima Nova"/>
                <a:ea typeface="Proxima Nova"/>
                <a:cs typeface="Proxima Nova"/>
              </a:rPr>
              <a:t>Pré-processamento + An</a:t>
            </a:r>
            <a:r>
              <a:rPr sz="1256" b="1">
                <a:solidFill>
                  <a:srgbClr val="FFFFFF"/>
                </a:solidFill>
                <a:latin typeface="Proxima Nova"/>
                <a:ea typeface="Proxima Nova"/>
                <a:cs typeface="Proxima Nova"/>
              </a:rPr>
              <a:t>álises iniciais</a:t>
            </a:r>
            <a:endParaRPr sz="1256" b="1" i="0" u="none" cap="none">
              <a:solidFill>
                <a:srgbClr val="FFFFFF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78" name="Google Shape;78;p2">
            <a:extLst xmlns:a="http://schemas.openxmlformats.org/drawingml/2006/main">
              <a:ext uri="{FF2B5EF4-FFF2-40B4-BE49-F238E27FC236}">
                <a16:creationId xmlns:a16="http://schemas.microsoft.com/office/drawing/2014/main" id="{28FF0DB7-7BF5-4A88-ACD7-4CD125179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152647" y="2996609"/>
            <a:ext cx="1657986" cy="879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04425" tIns="104425" rIns="104425" bIns="104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42"/>
              <a:buFont typeface="Arial"/>
              <a:buNone/>
            </a:pPr>
            <a:r>
              <a:rPr sz="1142">
                <a:solidFill>
                  <a:srgbClr val="FFFFFF"/>
                </a:solidFill>
                <a:latin typeface="Proxima Nova"/>
                <a:ea typeface="Proxima Nova"/>
                <a:cs typeface="Proxima Nova"/>
              </a:rPr>
              <a:t>Upload de dados</a:t>
            </a:r>
            <a:endParaRPr sz="1142">
              <a:solidFill>
                <a:srgbClr val="FFFFFF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42"/>
              <a:buFont typeface="Arial"/>
              <a:buNone/>
            </a:pPr>
            <a:endParaRPr sz="1142">
              <a:solidFill>
                <a:srgbClr val="FFFFFF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42"/>
              <a:buFont typeface="Arial"/>
              <a:buNone/>
            </a:pPr>
            <a:r>
              <a:rPr sz="1142" b="0" i="0" u="none" cap="none">
                <a:solidFill>
                  <a:srgbClr val="FFFFFF"/>
                </a:solidFill>
                <a:latin typeface="Proxima Nova"/>
                <a:ea typeface="Proxima Nova"/>
                <a:cs typeface="Proxima Nova"/>
              </a:rPr>
              <a:t>Etapas de pré-processamento</a:t>
            </a:r>
            <a:r>
              <a:rPr sz="1142">
                <a:solidFill>
                  <a:srgbClr val="FFFFFF"/>
                </a:solidFill>
                <a:latin typeface="Proxima Nova"/>
                <a:ea typeface="Proxima Nova"/>
                <a:cs typeface="Proxima Nova"/>
              </a:rPr>
              <a:t>,</a:t>
            </a:r>
            <a:r>
              <a:rPr sz="1142" b="0" i="0" u="none" cap="none">
                <a:solidFill>
                  <a:srgbClr val="FFFFFF"/>
                </a:solidFill>
                <a:latin typeface="Proxima Nova"/>
                <a:ea typeface="Proxima Nova"/>
                <a:cs typeface="Proxima Nova"/>
              </a:rPr>
              <a:t> clusterização</a:t>
            </a:r>
            <a:endParaRPr sz="1142">
              <a:solidFill>
                <a:srgbClr val="FFFFFF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42"/>
              <a:buFont typeface="Arial"/>
              <a:buNone/>
            </a:pPr>
            <a:endParaRPr sz="1142">
              <a:solidFill>
                <a:srgbClr val="FFFFFF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42"/>
              <a:buFont typeface="Arial"/>
              <a:buNone/>
            </a:pPr>
            <a:r>
              <a:rPr sz="1142">
                <a:solidFill>
                  <a:srgbClr val="FFFFFF"/>
                </a:solidFill>
                <a:latin typeface="Proxima Nova"/>
                <a:ea typeface="Proxima Nova"/>
                <a:cs typeface="Proxima Nova"/>
              </a:rPr>
              <a:t>Seurat</a:t>
            </a:r>
            <a:endParaRPr sz="1142">
              <a:solidFill>
                <a:srgbClr val="FFFFFF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80" name="Google Shape;80;p2">
            <a:extLst xmlns:a="http://schemas.openxmlformats.org/drawingml/2006/main">
              <a:ext uri="{FF2B5EF4-FFF2-40B4-BE49-F238E27FC236}">
                <a16:creationId xmlns:a16="http://schemas.microsoft.com/office/drawing/2014/main" id="{DEF7F9E7-EA00-4F0D-AE65-D4B532A29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56337" y="2069583"/>
            <a:ext cx="2220928" cy="2693120"/>
          </a:xfrm>
          <a:prstGeom xmlns:a="http://schemas.openxmlformats.org/drawingml/2006/main" prst="round2DiagRect">
            <a:avLst>
              <a:gd name="adj1" fmla="val 0"/>
              <a:gd name="adj2" fmla="val 17764"/>
            </a:avLst>
          </a:prstGeom>
          <a:solidFill xmlns:a="http://schemas.openxmlformats.org/drawingml/2006/main">
            <a:srgbClr val="307AF3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04425" tIns="104425" rIns="104425" bIns="104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99"/>
              <a:buFont typeface="Arial"/>
              <a:buNone/>
            </a:pPr>
            <a:endParaRPr sz="1599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81" name="Google Shape;81;p2">
            <a:extLst xmlns:a="http://schemas.openxmlformats.org/drawingml/2006/main">
              <a:ext uri="{FF2B5EF4-FFF2-40B4-BE49-F238E27FC236}">
                <a16:creationId xmlns:a16="http://schemas.microsoft.com/office/drawing/2014/main" id="{FFFFF802-7E27-4EA6-9724-23190DDAD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13040" y="2207269"/>
            <a:ext cx="1657986" cy="789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04425" tIns="104425" rIns="104425" bIns="104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6"/>
              <a:buFont typeface="Arial"/>
              <a:buNone/>
            </a:pPr>
            <a:r>
              <a:rPr sz="1256" b="1" i="0" u="none" cap="none">
                <a:solidFill>
                  <a:srgbClr val="FFFFFF"/>
                </a:solidFill>
                <a:latin typeface="Proxima Nova"/>
                <a:ea typeface="Proxima Nova"/>
                <a:cs typeface="Proxima Nova"/>
              </a:rPr>
              <a:t>Aula 1</a:t>
            </a:r>
            <a:endParaRPr sz="1256" b="1" i="0" u="none" cap="none">
              <a:solidFill>
                <a:srgbClr val="FFFFFF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6"/>
              <a:buFont typeface="Arial"/>
              <a:buNone/>
            </a:pPr>
            <a:r>
              <a:rPr sz="1256" b="1" i="0" u="none" cap="none">
                <a:solidFill>
                  <a:srgbClr val="FFFFFF"/>
                </a:solidFill>
                <a:latin typeface="Proxima Nova"/>
                <a:ea typeface="Proxima Nova"/>
                <a:cs typeface="Proxima Nova"/>
              </a:rPr>
              <a:t>Introdução à transcriptômica</a:t>
            </a:r>
            <a:r>
              <a:rPr sz="1256" b="1">
                <a:solidFill>
                  <a:srgbClr val="FFFFFF"/>
                </a:solidFill>
                <a:latin typeface="Proxima Nova"/>
                <a:ea typeface="Proxima Nova"/>
                <a:cs typeface="Proxima Nova"/>
              </a:rPr>
              <a:t> espacial</a:t>
            </a:r>
            <a:endParaRPr sz="1256" b="1" i="0" u="none" cap="none">
              <a:solidFill>
                <a:srgbClr val="FFFFFF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82" name="Google Shape;82;p2">
            <a:extLst xmlns:a="http://schemas.openxmlformats.org/drawingml/2006/main">
              <a:ext uri="{FF2B5EF4-FFF2-40B4-BE49-F238E27FC236}">
                <a16:creationId xmlns:a16="http://schemas.microsoft.com/office/drawing/2014/main" id="{52DB99D7-E249-4BA2-B214-43811B990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13052" y="3187855"/>
            <a:ext cx="1657986" cy="13743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04425" tIns="104425" rIns="104425" bIns="104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42"/>
              <a:buFont typeface="Arial"/>
              <a:buNone/>
            </a:pPr>
            <a:r>
              <a:rPr sz="1142" b="0" i="0" u="none" cap="none">
                <a:solidFill>
                  <a:srgbClr val="FFFFFF"/>
                </a:solidFill>
                <a:latin typeface="Proxima Nova"/>
                <a:ea typeface="Proxima Nova"/>
                <a:cs typeface="Proxima Nova"/>
              </a:rPr>
              <a:t>Fundamentos teóricos: metodologias e análise.</a:t>
            </a:r>
            <a:endParaRPr sz="1142" b="0" i="0" u="none" cap="none">
              <a:solidFill>
                <a:srgbClr val="FFFFFF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685"/>
              </a:spcBef>
              <a:spcAft>
                <a:spcPts val="685"/>
              </a:spcAft>
              <a:buClr>
                <a:srgbClr val="000000"/>
              </a:buClr>
              <a:buSzPts val="1142"/>
              <a:buFont typeface="Arial"/>
              <a:buNone/>
            </a:pPr>
            <a:r>
              <a:rPr sz="1142" b="0" i="0" u="none" cap="none">
                <a:solidFill>
                  <a:srgbClr val="FFFFFF"/>
                </a:solidFill>
                <a:latin typeface="Proxima Nova"/>
                <a:ea typeface="Proxima Nova"/>
                <a:cs typeface="Proxima Nova"/>
              </a:rPr>
              <a:t>Apresentação ao ambiente das aulas práticas.</a:t>
            </a:r>
            <a:endParaRPr sz="1142" b="0" i="0" u="none" cap="none">
              <a:solidFill>
                <a:srgbClr val="FFFFFF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84" name="Google Shape;84;p2">
            <a:extLst xmlns:a="http://schemas.openxmlformats.org/drawingml/2006/main">
              <a:ext uri="{FF2B5EF4-FFF2-40B4-BE49-F238E27FC236}">
                <a16:creationId xmlns:a16="http://schemas.microsoft.com/office/drawing/2014/main" id="{D67215BF-FF1B-4122-A165-FB7A71DCB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722405" y="3157631"/>
            <a:ext cx="297391" cy="2973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04425" tIns="104425" rIns="104425" bIns="104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99"/>
              <a:buFont typeface="Arial"/>
              <a:buNone/>
            </a:pPr>
            <a:endParaRPr sz="1599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85" name="Google Shape;85;p2">
            <a:extLst xmlns:a="http://schemas.openxmlformats.org/drawingml/2006/main">
              <a:ext uri="{FF2B5EF4-FFF2-40B4-BE49-F238E27FC236}">
                <a16:creationId xmlns:a16="http://schemas.microsoft.com/office/drawing/2014/main" id="{285B0FEA-B951-4F48-838B-E7B47C3DB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721044" y="3259530"/>
            <a:ext cx="225734" cy="93466"/>
          </a:xfrm>
          <a:prstGeom xmlns:a="http://schemas.openxmlformats.org/drawingml/2006/main" prst="rightArrow">
            <a:avLst>
              <a:gd name="adj1" fmla="val 32020"/>
              <a:gd name="adj2" fmla="val 66970"/>
            </a:avLst>
          </a:prstGeom>
          <a:solidFill xmlns:a="http://schemas.openxmlformats.org/drawingml/2006/main">
            <a:srgbClr val="0D5CD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04425" tIns="104425" rIns="104425" bIns="104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99"/>
              <a:buFont typeface="Arial"/>
              <a:buNone/>
            </a:pPr>
            <a:br/>
            <a:endParaRPr sz="1599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87" name="Google Shape;87;p2">
            <a:extLst xmlns:a="http://schemas.openxmlformats.org/drawingml/2006/main">
              <a:ext uri="{FF2B5EF4-FFF2-40B4-BE49-F238E27FC236}">
                <a16:creationId xmlns:a16="http://schemas.microsoft.com/office/drawing/2014/main" id="{B4F35C4D-3088-4A7C-BE87-DADEB5C27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5692" y="2069579"/>
            <a:ext cx="2220888" cy="2693267"/>
          </a:xfrm>
          <a:prstGeom xmlns:a="http://schemas.openxmlformats.org/drawingml/2006/main" prst="round2DiagRect">
            <a:avLst>
              <a:gd name="adj1" fmla="val 0"/>
              <a:gd name="adj2" fmla="val 17764"/>
            </a:avLst>
          </a:prstGeom>
          <a:solidFill xmlns:a="http://schemas.openxmlformats.org/drawingml/2006/main">
            <a:srgbClr val="0942A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04425" tIns="104425" rIns="104425" bIns="104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99"/>
              <a:buFont typeface="Arial"/>
              <a:buNone/>
            </a:pPr>
            <a:endParaRPr sz="1599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99"/>
              <a:buFont typeface="Arial"/>
              <a:buNone/>
            </a:pPr>
            <a:endParaRPr sz="1599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99"/>
              <a:buFont typeface="Arial"/>
              <a:buNone/>
            </a:pPr>
            <a:endParaRPr sz="1599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99"/>
              <a:buFont typeface="Arial"/>
              <a:buNone/>
            </a:pPr>
            <a:endParaRPr sz="1599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88" name="Google Shape;88;p2">
            <a:extLst xmlns:a="http://schemas.openxmlformats.org/drawingml/2006/main">
              <a:ext uri="{FF2B5EF4-FFF2-40B4-BE49-F238E27FC236}">
                <a16:creationId xmlns:a16="http://schemas.microsoft.com/office/drawing/2014/main" id="{5422FD87-E65E-4B7D-AB62-E7965ACC4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350457" y="2213092"/>
            <a:ext cx="1738482" cy="7176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04425" tIns="104425" rIns="104425" bIns="104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6"/>
              <a:buFont typeface="Arial"/>
              <a:buNone/>
            </a:pPr>
            <a:r>
              <a:rPr sz="1256" b="1" i="0" u="none" cap="none">
                <a:solidFill>
                  <a:srgbClr val="FFFFFF"/>
                </a:solidFill>
                <a:latin typeface="Proxima Nova"/>
                <a:ea typeface="Proxima Nova"/>
                <a:cs typeface="Proxima Nova"/>
              </a:rPr>
              <a:t>Aula 3</a:t>
            </a:r>
            <a:endParaRPr sz="1256" b="1" i="0" u="none" cap="none">
              <a:solidFill>
                <a:srgbClr val="FFFFFF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6"/>
              <a:buFont typeface="Arial"/>
              <a:buNone/>
            </a:pPr>
            <a:r>
              <a:rPr sz="1256" b="1" i="0" u="none" cap="none">
                <a:solidFill>
                  <a:srgbClr val="FFFFFF"/>
                </a:solidFill>
                <a:latin typeface="Proxima Nova"/>
                <a:ea typeface="Proxima Nova"/>
                <a:cs typeface="Proxima Nova"/>
              </a:rPr>
              <a:t>Análise Downstream</a:t>
            </a:r>
            <a:endParaRPr sz="1256" b="1" i="0" u="none" cap="none">
              <a:solidFill>
                <a:srgbClr val="FFFFFF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6"/>
              <a:buFont typeface="Arial"/>
              <a:buNone/>
            </a:pPr>
            <a:endParaRPr sz="1256" b="1" i="0" u="none" cap="none">
              <a:solidFill>
                <a:srgbClr val="FFFFFF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89" name="Google Shape;89;p2">
            <a:extLst xmlns:a="http://schemas.openxmlformats.org/drawingml/2006/main">
              <a:ext uri="{FF2B5EF4-FFF2-40B4-BE49-F238E27FC236}">
                <a16:creationId xmlns:a16="http://schemas.microsoft.com/office/drawing/2014/main" id="{1A213C71-47E7-4C70-A8ED-A4F0F143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350450" y="2930775"/>
            <a:ext cx="1738482" cy="15547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04425" tIns="104425" rIns="104425" bIns="104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343"/>
              </a:spcBef>
              <a:spcAft>
                <a:spcPts val="0"/>
              </a:spcAft>
              <a:buClr>
                <a:srgbClr val="000000"/>
              </a:buClr>
              <a:buSzPts val="1142"/>
              <a:buFont typeface="Arial"/>
              <a:buNone/>
            </a:pPr>
            <a:r>
              <a:rPr sz="1142">
                <a:solidFill>
                  <a:srgbClr val="FFFFFF"/>
                </a:solidFill>
                <a:latin typeface="Proxima Nova"/>
                <a:ea typeface="Proxima Nova"/>
                <a:cs typeface="Proxima Nova"/>
              </a:rPr>
              <a:t>Deconvolução</a:t>
            </a:r>
            <a:endParaRPr sz="1142">
              <a:solidFill>
                <a:srgbClr val="FFFFFF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343"/>
              </a:spcBef>
              <a:spcAft>
                <a:spcPts val="0"/>
              </a:spcAft>
              <a:buClr>
                <a:srgbClr val="000000"/>
              </a:buClr>
              <a:buSzPts val="1142"/>
              <a:buFont typeface="Arial"/>
              <a:buNone/>
            </a:pPr>
            <a:endParaRPr sz="1142">
              <a:solidFill>
                <a:srgbClr val="FFFFFF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343"/>
              </a:spcBef>
              <a:spcAft>
                <a:spcPts val="0"/>
              </a:spcAft>
              <a:buClr>
                <a:srgbClr val="000000"/>
              </a:buClr>
              <a:buSzPts val="1142"/>
              <a:buFont typeface="Arial"/>
              <a:buNone/>
            </a:pPr>
            <a:r>
              <a:rPr sz="1142">
                <a:solidFill>
                  <a:srgbClr val="FFFFFF"/>
                </a:solidFill>
                <a:latin typeface="Proxima Nova"/>
                <a:ea typeface="Proxima Nova"/>
                <a:cs typeface="Proxima Nova"/>
              </a:rPr>
              <a:t>Comunicação celular</a:t>
            </a:r>
            <a:endParaRPr sz="1142">
              <a:solidFill>
                <a:srgbClr val="FFFFFF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343"/>
              </a:spcBef>
              <a:spcAft>
                <a:spcPts val="0"/>
              </a:spcAft>
              <a:buClr>
                <a:srgbClr val="000000"/>
              </a:buClr>
              <a:buSzPts val="1142"/>
              <a:buFont typeface="Arial"/>
              <a:buNone/>
            </a:pPr>
            <a:endParaRPr sz="1142">
              <a:solidFill>
                <a:srgbClr val="FFFFFF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343"/>
              </a:spcBef>
              <a:spcAft>
                <a:spcPts val="0"/>
              </a:spcAft>
              <a:buClr>
                <a:srgbClr val="000000"/>
              </a:buClr>
              <a:buSzPts val="1142"/>
              <a:buFont typeface="Arial"/>
              <a:buNone/>
            </a:pPr>
            <a:r>
              <a:rPr sz="1142">
                <a:solidFill>
                  <a:srgbClr val="FFFFFF"/>
                </a:solidFill>
                <a:latin typeface="Proxima Nova"/>
                <a:ea typeface="Proxima Nova"/>
                <a:cs typeface="Proxima Nova"/>
              </a:rPr>
              <a:t>Visualização dos dados</a:t>
            </a:r>
            <a:endParaRPr sz="1142">
              <a:solidFill>
                <a:srgbClr val="FFFFFF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343"/>
              </a:spcBef>
              <a:spcAft>
                <a:spcPts val="0"/>
              </a:spcAft>
              <a:buClr>
                <a:srgbClr val="000000"/>
              </a:buClr>
              <a:buSzPts val="1142"/>
              <a:buFont typeface="Arial"/>
              <a:buNone/>
            </a:pPr>
            <a:endParaRPr sz="1142">
              <a:solidFill>
                <a:srgbClr val="FFFFFF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457200" marR="0" lvl="0" indent="-301124" algn="l">
              <a:lnSpc>
                <a:spcPct val="115000"/>
              </a:lnSpc>
              <a:spcBef>
                <a:spcPts val="343"/>
              </a:spcBef>
              <a:spcAft>
                <a:spcPts val="0"/>
              </a:spcAft>
              <a:buClr>
                <a:srgbClr val="FFFFFF"/>
              </a:buClr>
              <a:buSzPts val="1142"/>
              <a:buFont typeface="Proxima Nova"/>
              <a:buChar char="+"/>
            </a:pPr>
            <a:r>
              <a:rPr sz="1142">
                <a:solidFill>
                  <a:srgbClr val="FFFFFF"/>
                </a:solidFill>
                <a:latin typeface="Proxima Nova"/>
                <a:ea typeface="Proxima Nova"/>
                <a:cs typeface="Proxima Nova"/>
              </a:rPr>
              <a:t>Spin-off</a:t>
            </a:r>
            <a:endParaRPr sz="1142">
              <a:solidFill>
                <a:srgbClr val="FFFFFF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91" name="Google Shape;91;p2">
            <a:extLst xmlns:a="http://schemas.openxmlformats.org/drawingml/2006/main">
              <a:ext uri="{FF2B5EF4-FFF2-40B4-BE49-F238E27FC236}">
                <a16:creationId xmlns:a16="http://schemas.microsoft.com/office/drawing/2014/main" id="{15340A4F-B73B-4577-82F2-7615BAA72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962488" y="3157631"/>
            <a:ext cx="297391" cy="2973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04425" tIns="104425" rIns="104425" bIns="104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99"/>
              <a:buFont typeface="Arial"/>
              <a:buNone/>
            </a:pPr>
            <a:endParaRPr sz="1599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92" name="Google Shape;92;p2">
            <a:extLst xmlns:a="http://schemas.openxmlformats.org/drawingml/2006/main">
              <a:ext uri="{FF2B5EF4-FFF2-40B4-BE49-F238E27FC236}">
                <a16:creationId xmlns:a16="http://schemas.microsoft.com/office/drawing/2014/main" id="{035B8B0D-25AF-46B2-8FF0-88D95CFCA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961127" y="3259530"/>
            <a:ext cx="225734" cy="93466"/>
          </a:xfrm>
          <a:prstGeom xmlns:a="http://schemas.openxmlformats.org/drawingml/2006/main" prst="rightArrow">
            <a:avLst>
              <a:gd name="adj1" fmla="val 32020"/>
              <a:gd name="adj2" fmla="val 66970"/>
            </a:avLst>
          </a:prstGeom>
          <a:solidFill xmlns:a="http://schemas.openxmlformats.org/drawingml/2006/main">
            <a:srgbClr val="0D5CD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04425" tIns="104425" rIns="104425" bIns="104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99"/>
              <a:buFont typeface="Arial"/>
              <a:buNone/>
            </a:pPr>
            <a:br/>
            <a:endParaRPr sz="1599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</p:txBody>
      </p:sp>
    </p:spTree>
    <p:extLst>
      <p:ext uri="{BB962C8B-B14F-4D97-AF65-F5344CB8AC3E}">
        <p14:creationId xmlns:p14="http://schemas.microsoft.com/office/powerpoint/2010/main" val="3305269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7" name="Google Shape;97;p3">
            <a:extLst xmlns:a="http://schemas.openxmlformats.org/drawingml/2006/main">
              <a:ext uri="{FF2B5EF4-FFF2-40B4-BE49-F238E27FC236}">
                <a16:creationId xmlns:a16="http://schemas.microsoft.com/office/drawing/2014/main" id="{E4B40193-4B8B-4850-8E88-25AD7BD54A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5500" y="2425025"/>
            <a:ext cx="3938100" cy="15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sz="3900"/>
              <a:t>Introdução às transcriptômicas de alta resolução</a:t>
            </a:r>
            <a:endParaRPr sz="3900"/>
          </a:p>
        </p:txBody>
      </p:sp>
      <p:sp>
        <p:nvSpPr>
          <p:cNvPr id="98" name="Google Shape;98;p3">
            <a:extLst xmlns:a="http://schemas.openxmlformats.org/drawingml/2006/main">
              <a:ext uri="{FF2B5EF4-FFF2-40B4-BE49-F238E27FC236}">
                <a16:creationId xmlns:a16="http://schemas.microsoft.com/office/drawing/2014/main" id="{251D5E83-F3C8-4FB1-8B7D-305BC3FCF2B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38400" y="724200"/>
            <a:ext cx="3938100" cy="369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t>Apresentações</a:t>
            </a:r>
            <a:endParaRPr/>
          </a:p>
          <a:p xmlns:a="http://schemas.openxmlformats.org/drawingml/2006/main">
            <a: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t>Fundamentos teóricos</a:t>
            </a:r>
            <a:endParaRPr/>
          </a:p>
          <a:p xmlns:a="http://schemas.openxmlformats.org/drawingml/2006/main">
            <a:pPr marL="914400" lvl="1" indent="-314325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50"/>
              <a:buChar char="○"/>
            </a:pPr>
            <a:r>
              <a:rPr sz="1350"/>
              <a:t>Objetivo de transcriptômicas de alta resolução</a:t>
            </a:r>
            <a:endParaRPr sz="1350"/>
          </a:p>
          <a:p xmlns:a="http://schemas.openxmlformats.org/drawingml/2006/main">
            <a:pPr marL="914400" lvl="1" indent="-314325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50"/>
              <a:buChar char="○"/>
            </a:pPr>
            <a:r>
              <a:rPr sz="1350"/>
              <a:t>Métodos de transcriptômica de alta resolução</a:t>
            </a:r>
            <a:endParaRPr sz="1350"/>
          </a:p>
          <a:p xmlns:a="http://schemas.openxmlformats.org/drawingml/2006/main">
            <a:pPr marL="914400" lvl="1" indent="-314325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50"/>
              <a:buChar char="○"/>
            </a:pPr>
            <a:r>
              <a:rPr sz="1350"/>
              <a:t>Métodos de transcriptômica espacial</a:t>
            </a:r>
            <a:endParaRPr sz="1350"/>
          </a:p>
          <a:p xmlns:a="http://schemas.openxmlformats.org/drawingml/2006/main">
            <a:pPr marL="914400" lvl="1" indent="-314325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50"/>
              <a:buChar char="○"/>
            </a:pPr>
            <a:r>
              <a:rPr sz="1350"/>
              <a:t>Estrutura dos dados</a:t>
            </a:r>
            <a:endParaRPr sz="1350"/>
          </a:p>
          <a:p xmlns:a="http://schemas.openxmlformats.org/drawingml/2006/main">
            <a: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t>Preparação do ambiente para análise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39368795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Google Shape;103;p4">
            <a:extLst xmlns:a="http://schemas.openxmlformats.org/drawingml/2006/main">
              <a:ext uri="{FF2B5EF4-FFF2-40B4-BE49-F238E27FC236}">
                <a16:creationId xmlns:a16="http://schemas.microsoft.com/office/drawing/2014/main" id="{C7111092-E927-4520-8CB9-013DA28BA586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510450" y="381000"/>
            <a:ext cx="81231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sz="5000"/>
              <a:t>Apresentação</a:t>
            </a:r>
            <a:endParaRPr sz="5000" i="1">
              <a:solidFill>
                <a:schemeClr val="l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316395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8" name="Google Shape;108;p5">
            <a:extLst xmlns:a="http://schemas.openxmlformats.org/drawingml/2006/main">
              <a:ext uri="{FF2B5EF4-FFF2-40B4-BE49-F238E27FC236}">
                <a16:creationId xmlns:a16="http://schemas.microsoft.com/office/drawing/2014/main" id="{58ABFA87-D91E-41E5-B138-AD750EFC3C2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2164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3000" b="1"/>
              <a:t>Instrutor</a:t>
            </a:r>
            <a:endParaRPr sz="3000" b="1"/>
          </a:p>
        </p:txBody>
      </p:sp>
      <p:pic>
        <p:nvPicPr>
          <p:cNvPr id="117" name="Google Shape;109;p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465459356a940c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2512450" y="860476"/>
            <a:ext cx="1114500" cy="125489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0" name="Google Shape;110;p5">
            <a:extLst xmlns:a="http://schemas.openxmlformats.org/drawingml/2006/main">
              <a:ext uri="{FF2B5EF4-FFF2-40B4-BE49-F238E27FC236}">
                <a16:creationId xmlns:a16="http://schemas.microsoft.com/office/drawing/2014/main" id="{994E0BE3-6915-4ABC-84AB-28CF9937D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1975" y="860475"/>
            <a:ext cx="4558500" cy="125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3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Doutorando em Bioinformática na UFPR</a:t>
            </a:r>
            <a:endParaRPr sz="13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3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Mestre em Bioquímica </a:t>
            </a:r>
            <a:r>
              <a:rPr sz="1300">
                <a:solidFill>
                  <a:schemeClr val="dk1"/>
                </a:solidFill>
              </a:rPr>
              <a:t>pela </a:t>
            </a:r>
            <a:r>
              <a:rPr sz="13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UFRGS</a:t>
            </a:r>
            <a:endParaRPr sz="13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3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Bacharel em Biotecnologia pela UFRGS (Bioinformática)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111" name="Google Shape;111;p5">
            <a:extLst xmlns:a="http://schemas.openxmlformats.org/drawingml/2006/main">
              <a:ext uri="{FF2B5EF4-FFF2-40B4-BE49-F238E27FC236}">
                <a16:creationId xmlns:a16="http://schemas.microsoft.com/office/drawing/2014/main" id="{1216A3A6-A695-4531-B801-5DD1598A3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2450" y="2571750"/>
            <a:ext cx="5787900" cy="89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just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>
                <a:solidFill>
                  <a:schemeClr val="dk1"/>
                </a:solidFill>
              </a:rPr>
              <a:t>Recentemente, tenho atuado</a:t>
            </a:r>
            <a:r>
              <a:rPr b="1" i="0" u="none" cap="none">
                <a:solidFill>
                  <a:schemeClr val="dk1"/>
                </a:solidFill>
              </a:rPr>
              <a:t> no desenvolvimento de ferramentas de análise de dados de transcriptômica espacial. Associado ao grupo SysbioLab, PPG Bioinfo UFPR.</a:t>
            </a:r>
            <a:endParaRPr b="1" i="0" u="none" cap="none">
              <a:solidFill>
                <a:schemeClr val="dk1"/>
              </a:solidFill>
            </a:endParaRPr>
          </a:p>
        </p:txBody>
      </p:sp>
      <p:sp>
        <p:nvSpPr>
          <p:cNvPr id="112" name="Google Shape;112;p5">
            <a:extLst xmlns:a="http://schemas.openxmlformats.org/drawingml/2006/main">
              <a:ext uri="{FF2B5EF4-FFF2-40B4-BE49-F238E27FC236}">
                <a16:creationId xmlns:a16="http://schemas.microsoft.com/office/drawing/2014/main" id="{F61B8766-3087-4FD2-9D4B-78CB2E550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097" y="4331177"/>
            <a:ext cx="6877800" cy="4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u="sng">
                <a:solidFill>
                  <a:schemeClr val="hlink"/>
                </a:solidFill>
                <a:hlinkClick xmlns:r="http://schemas.openxmlformats.org/officeDocument/2006/relationships" r:id="R87a3dbef8b554780"/>
              </a:rPr>
              <a:t>github.com/flaviogckessler</a:t>
            </a:r>
            <a:r>
              <a:t>	</a:t>
            </a:r>
            <a:r>
              <a:rPr u="sng">
                <a:solidFill>
                  <a:schemeClr val="dk1"/>
                </a:solidFill>
                <a:hlinkClick xmlns:r="http://schemas.openxmlformats.org/officeDocument/2006/relationships" r:id="Re1277695d8774fcd"/>
              </a:rPr>
              <a:t>github.com/sysbiolab</a:t>
            </a:r>
            <a:r>
              <a:rPr>
                <a:solidFill>
                  <a:schemeClr val="dk1"/>
                </a:solidFill>
              </a:rPr>
              <a:t>	flaviogckessler@gmail.com</a:t>
            </a:r>
            <a:endParaRPr>
              <a:solidFill>
                <a:schemeClr val="dk1"/>
              </a:solidFill>
            </a:endParaRPr>
          </a:p>
        </p:txBody>
      </p:sp>
      <p:pic>
        <p:nvPicPr>
          <p:cNvPr id="121" name="Google Shape;113;p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af0116d1cb342c9">
            <a:alphaModFix/>
          </a:blip>
          <a:srcRect xmlns:a="http://schemas.openxmlformats.org/drawingml/2006/main" l="0" t="0" r="73206" b="14698"/>
          <a:stretch xmlns:a="http://schemas.openxmlformats.org/drawingml/2006/main"/>
        </p:blipFill>
        <p:spPr>
          <a:xfrm xmlns:a="http://schemas.openxmlformats.org/drawingml/2006/main">
            <a:off x="311700" y="860475"/>
            <a:ext cx="1883450" cy="28270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22" name="Google Shape;114;p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d5244709f24026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2725" y="4191099"/>
            <a:ext cx="680375" cy="6803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91939263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9" name="Google Shape;119;p6">
            <a:extLst xmlns:a="http://schemas.openxmlformats.org/drawingml/2006/main">
              <a:ext uri="{FF2B5EF4-FFF2-40B4-BE49-F238E27FC236}">
                <a16:creationId xmlns:a16="http://schemas.microsoft.com/office/drawing/2014/main" id="{EACB8E5C-67D2-4AD1-B86E-FE2AFA06A0F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2164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3000" b="1"/>
              <a:t>Participantes</a:t>
            </a:r>
            <a:endParaRPr sz="3000" b="1"/>
          </a:p>
        </p:txBody>
      </p:sp>
      <p:pic>
        <p:nvPicPr>
          <p:cNvPr id="124" name="Google Shape;120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2a4ddc6b76945eb">
            <a:alphaModFix/>
          </a:blip>
          <a:srcRect xmlns:a="http://schemas.openxmlformats.org/drawingml/2006/main" l="475" t="10294" r="603" b="1195"/>
          <a:stretch xmlns:a="http://schemas.openxmlformats.org/drawingml/2006/main"/>
        </p:blipFill>
        <p:spPr>
          <a:xfrm xmlns:a="http://schemas.openxmlformats.org/drawingml/2006/main">
            <a:off x="1098725" y="1009200"/>
            <a:ext cx="6946550" cy="363897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21" name="Google Shape;121;p6">
            <a:extLst xmlns:a="http://schemas.openxmlformats.org/drawingml/2006/main">
              <a:ext uri="{FF2B5EF4-FFF2-40B4-BE49-F238E27FC236}">
                <a16:creationId xmlns:a16="http://schemas.microsoft.com/office/drawing/2014/main" id="{F5D99455-A436-4798-B086-B6527A7C4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2750" y="4520800"/>
            <a:ext cx="4558500" cy="38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300">
                <a:solidFill>
                  <a:schemeClr val="dk1"/>
                </a:solidFill>
              </a:rPr>
              <a:t>curso semelhante anterior</a:t>
            </a:r>
            <a:endParaRPr sz="130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705823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6" name="Google Shape;126;p7">
            <a:extLst xmlns:a="http://schemas.openxmlformats.org/drawingml/2006/main">
              <a:ext uri="{FF2B5EF4-FFF2-40B4-BE49-F238E27FC236}">
                <a16:creationId xmlns:a16="http://schemas.microsoft.com/office/drawing/2014/main" id="{6754D648-BE12-4A96-B47B-ED1D27D5145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2164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3000" b="1"/>
              <a:t>Participantes</a:t>
            </a:r>
            <a:endParaRPr sz="3000" b="1"/>
          </a:p>
        </p:txBody>
      </p:sp>
      <p:pic>
        <p:nvPicPr>
          <p:cNvPr id="130" name="Google Shape;127;p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2ad888bf8444b1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916125" y="1687288"/>
            <a:ext cx="4805576" cy="17689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31" name="Google Shape;128;p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60cb23fc094515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36875" y="1226684"/>
            <a:ext cx="2690125" cy="26901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38631964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3" name="Google Shape;133;p8">
            <a:extLst xmlns:a="http://schemas.openxmlformats.org/drawingml/2006/main">
              <a:ext uri="{FF2B5EF4-FFF2-40B4-BE49-F238E27FC236}">
                <a16:creationId xmlns:a16="http://schemas.microsoft.com/office/drawing/2014/main" id="{C6291C20-89A7-4EB4-8116-ECB834FAD39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140225"/>
            <a:ext cx="84912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3000" b="1"/>
              <a:t>Ambiente do curso</a:t>
            </a:r>
            <a:endParaRPr sz="3000" b="1"/>
          </a:p>
        </p:txBody>
      </p:sp>
      <p:sp>
        <p:nvSpPr>
          <p:cNvPr id="134" name="Google Shape;134;p8">
            <a:extLst xmlns:a="http://schemas.openxmlformats.org/drawingml/2006/main">
              <a:ext uri="{FF2B5EF4-FFF2-40B4-BE49-F238E27FC236}">
                <a16:creationId xmlns:a16="http://schemas.microsoft.com/office/drawing/2014/main" id="{C01B1265-5039-406C-9968-2150B92175F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67388" y="787725"/>
            <a:ext cx="3750900" cy="344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sz="1400">
                <a:solidFill>
                  <a:schemeClr val="dk1"/>
                </a:solidFill>
              </a:rPr>
              <a:t>Atividades práticas: </a:t>
            </a:r>
            <a:r>
              <a:rPr sz="1400" b="1">
                <a:solidFill>
                  <a:schemeClr val="dk1"/>
                </a:solidFill>
              </a:rPr>
              <a:t>Google Classroom</a:t>
            </a:r>
            <a:endParaRPr sz="1400" b="1">
              <a:solidFill>
                <a:schemeClr val="dk1"/>
              </a:solidFill>
            </a:endParaRP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None/>
            </a:pPr>
            <a:endParaRPr sz="1400">
              <a:solidFill>
                <a:schemeClr val="dk1"/>
              </a:solidFill>
            </a:endParaRP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None/>
            </a:pPr>
            <a:endParaRPr sz="1400">
              <a:solidFill>
                <a:schemeClr val="dk1"/>
              </a:solidFill>
            </a:endParaRP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endParaRPr sz="1400">
              <a:solidFill>
                <a:schemeClr val="dk1"/>
              </a:solidFill>
            </a:endParaRPr>
          </a:p>
        </p:txBody>
      </p:sp>
      <p:pic>
        <p:nvPicPr>
          <p:cNvPr id="144" name="Google Shape;135;p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e87ebcb24f1433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33200" y="1207791"/>
            <a:ext cx="800050" cy="63893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45" name="Google Shape;136;p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c721e754e53484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732525" y="1207800"/>
            <a:ext cx="1820637" cy="6389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46" name="Google Shape;137;p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721243c43d3496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2202675" y="2539754"/>
            <a:ext cx="6003950" cy="18161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38" name="Google Shape;138;p8">
            <a:extLst xmlns:a="http://schemas.openxmlformats.org/drawingml/2006/main">
              <a:ext uri="{FF2B5EF4-FFF2-40B4-BE49-F238E27FC236}">
                <a16:creationId xmlns:a16="http://schemas.microsoft.com/office/drawing/2014/main" id="{CDED6F46-D29B-45CA-910D-93C7E2618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0950" y="2124350"/>
            <a:ext cx="3036600" cy="33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sng" cap="none">
                <a:solidFill>
                  <a:schemeClr val="hlink"/>
                </a:solidFill>
                <a:latin typeface="Proxima Nova"/>
                <a:ea typeface="Proxima Nova"/>
                <a:cs typeface="Proxima Nova"/>
                <a:hlinkClick xmlns:r="http://schemas.openxmlformats.org/officeDocument/2006/relationships" r:id="R4049766afca5449a"/>
              </a:rPr>
              <a:t>Tutorial do RStudio para iniciantes: Um guia completo | DataCamp</a:t>
            </a:r>
            <a:endParaRPr sz="1400" b="0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</p:spTree>
    <p:extLst>
      <p:ext uri="{BB962C8B-B14F-4D97-AF65-F5344CB8AC3E}">
        <p14:creationId xmlns:p14="http://schemas.microsoft.com/office/powerpoint/2010/main" val="60113997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3" name="Google Shape;143;p9">
            <a:extLst xmlns:a="http://schemas.openxmlformats.org/drawingml/2006/main">
              <a:ext uri="{FF2B5EF4-FFF2-40B4-BE49-F238E27FC236}">
                <a16:creationId xmlns:a16="http://schemas.microsoft.com/office/drawing/2014/main" id="{45D4484C-B2D8-47A5-9FF6-A45DE1C4684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510450" y="576957"/>
            <a:ext cx="8123100" cy="158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sz="5000"/>
              <a:t>Fundamentos </a:t>
            </a:r>
            <a:endParaRPr sz="5000"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sz="5000"/>
              <a:t>teóricos</a:t>
            </a:r>
            <a:endParaRPr sz="5000"/>
          </a:p>
        </p:txBody>
      </p:sp>
    </p:spTree>
    <p:extLst>
      <p:ext uri="{BB962C8B-B14F-4D97-AF65-F5344CB8AC3E}">
        <p14:creationId xmlns:p14="http://schemas.microsoft.com/office/powerpoint/2010/main" val="32273851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8" name="Google Shape;148;p10">
            <a:extLst xmlns:a="http://schemas.openxmlformats.org/drawingml/2006/main">
              <a:ext uri="{FF2B5EF4-FFF2-40B4-BE49-F238E27FC236}">
                <a16:creationId xmlns:a16="http://schemas.microsoft.com/office/drawing/2014/main" id="{FDDA01A8-9EE0-4624-89F6-841C57ED39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0250" y="526350"/>
            <a:ext cx="7180200" cy="40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sz="4200"/>
              <a:t>Objetivo de transcriptômicas de alta resolução</a:t>
            </a:r>
            <a:endParaRPr sz="4200"/>
          </a:p>
        </p:txBody>
      </p:sp>
    </p:spTree>
    <p:extLst>
      <p:ext uri="{BB962C8B-B14F-4D97-AF65-F5344CB8AC3E}">
        <p14:creationId xmlns:p14="http://schemas.microsoft.com/office/powerpoint/2010/main" val="1649277604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8" name="Google Shape;153;p1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4117025633341d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rot="2699988">
            <a:off x="508735" y="936610"/>
            <a:ext cx="1229580" cy="175830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54" name="Google Shape;154;p11">
            <a:extLst xmlns:a="http://schemas.openxmlformats.org/drawingml/2006/main">
              <a:ext uri="{FF2B5EF4-FFF2-40B4-BE49-F238E27FC236}">
                <a16:creationId xmlns:a16="http://schemas.microsoft.com/office/drawing/2014/main" id="{FEB5FBE4-C052-427E-946A-82AB9426CE5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292625"/>
            <a:ext cx="6888000" cy="70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1900" b="1"/>
              <a:t>Amostras biológicas têm diferentes níveis de complexidade</a:t>
            </a:r>
            <a:endParaRPr sz="2700" b="1"/>
          </a:p>
        </p:txBody>
      </p:sp>
      <p:pic>
        <p:nvPicPr>
          <p:cNvPr id="180" name="Google Shape;155;p1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2286dce8b5d4be1">
            <a:alphaModFix/>
          </a:blip>
          <a:srcRect xmlns:a="http://schemas.openxmlformats.org/drawingml/2006/main" l="2931" t="0" r="0" b="0"/>
          <a:stretch xmlns:a="http://schemas.openxmlformats.org/drawingml/2006/main"/>
        </p:blipFill>
        <p:spPr>
          <a:xfrm xmlns:a="http://schemas.openxmlformats.org/drawingml/2006/main">
            <a:off x="863900" y="2726800"/>
            <a:ext cx="2897775" cy="20349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81" name="Google Shape;156;p1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7442cde01f745d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328075" y="1015306"/>
            <a:ext cx="3235050" cy="160091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82" name="Google Shape;157;p1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f4d6f4fe210436d">
            <a:alphaModFix/>
          </a:blip>
          <a:srcRect xmlns:a="http://schemas.openxmlformats.org/drawingml/2006/main" l="0" t="0" r="0" b="21328"/>
          <a:stretch xmlns:a="http://schemas.openxmlformats.org/drawingml/2006/main"/>
        </p:blipFill>
        <p:spPr>
          <a:xfrm xmlns:a="http://schemas.openxmlformats.org/drawingml/2006/main">
            <a:off x="5108800" y="3073563"/>
            <a:ext cx="2034975" cy="16009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cxnSp>
        <p:nvCxnSpPr>
          <p:cNvPr id="183" name="Google Shape;158;p11"/>
          <p:cNvCxnSpPr/>
          <p:nvPr/>
        </p:nvCxnSpPr>
        <p:spPr>
          <a:xfrm xmlns:a="http://schemas.openxmlformats.org/drawingml/2006/main" rot="10800000" flipH="1">
            <a:off x="3625025" y="4669550"/>
            <a:ext cx="360000" cy="360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chemeClr val="dk2"/>
            </a:solidFill>
            <a:prstDash val="solid"/>
            <a:round/>
            <a:headEnd type="diamond" w="med" len="med"/>
            <a:tailEnd type="diamond" w="med" len="med"/>
          </a:ln>
        </p:spPr>
      </p:cxnSp>
      <p:cxnSp>
        <p:nvCxnSpPr>
          <p:cNvPr id="184" name="Google Shape;159;p11"/>
          <p:cNvCxnSpPr/>
          <p:nvPr/>
        </p:nvCxnSpPr>
        <p:spPr>
          <a:xfrm xmlns:a="http://schemas.openxmlformats.org/drawingml/2006/main">
            <a:off x="6789885" y="1075875"/>
            <a:ext cx="219900" cy="270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chemeClr val="dk2"/>
            </a:solidFill>
            <a:prstDash val="solid"/>
            <a:round/>
            <a:headEnd type="diamond" w="med" len="med"/>
            <a:tailEnd type="diamond" w="med" len="med"/>
          </a:ln>
        </p:spPr>
      </p:cxnSp>
      <p:cxnSp>
        <p:nvCxnSpPr>
          <p:cNvPr id="185" name="Google Shape;160;p11"/>
          <p:cNvCxnSpPr/>
          <p:nvPr/>
        </p:nvCxnSpPr>
        <p:spPr>
          <a:xfrm xmlns:a="http://schemas.openxmlformats.org/drawingml/2006/main">
            <a:off x="7252685" y="4650063"/>
            <a:ext cx="723600" cy="270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chemeClr val="dk2"/>
            </a:solidFill>
            <a:prstDash val="solid"/>
            <a:round/>
            <a:headEnd type="diamond" w="med" len="med"/>
            <a:tailEnd type="diamond" w="med" len="med"/>
          </a:ln>
        </p:spPr>
      </p:cxnSp>
      <p:pic>
        <p:nvPicPr>
          <p:cNvPr id="186" name="Google Shape;161;p1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678dfd2c24b4d3b">
            <a:alphaModFix/>
          </a:blip>
          <a:srcRect xmlns:a="http://schemas.openxmlformats.org/drawingml/2006/main" l="46324" t="3175" r="32243" b="46581"/>
          <a:stretch xmlns:a="http://schemas.openxmlformats.org/drawingml/2006/main"/>
        </p:blipFill>
        <p:spPr>
          <a:xfrm xmlns:a="http://schemas.openxmlformats.org/drawingml/2006/main">
            <a:off x="7067575" y="1261002"/>
            <a:ext cx="1770600" cy="1770600"/>
          </a:xfrm>
          <a:prstGeom xmlns:a="http://schemas.openxmlformats.org/drawingml/2006/main" prst="ellipse">
            <a:avLst/>
          </a:prstGeom>
          <a:ln xmlns:a="http://schemas.openxmlformats.org/drawingml/2006/main">
            <a:noFill/>
          </a:ln>
        </p:spPr>
      </p:pic>
      <p:cxnSp>
        <p:nvCxnSpPr>
          <p:cNvPr id="187" name="Google Shape;162;p11"/>
          <p:cNvCxnSpPr/>
          <p:nvPr/>
        </p:nvCxnSpPr>
        <p:spPr>
          <a:xfrm xmlns:a="http://schemas.openxmlformats.org/drawingml/2006/main">
            <a:off x="8458060" y="1309900"/>
            <a:ext cx="327600" cy="270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chemeClr val="dk2"/>
            </a:solidFill>
            <a:prstDash val="solid"/>
            <a:round/>
            <a:headEnd type="diamond" w="med" len="med"/>
            <a:tailEnd type="diamond" w="med" len="med"/>
          </a:ln>
        </p:spPr>
      </p:cxnSp>
      <p:cxnSp>
        <p:nvCxnSpPr>
          <p:cNvPr id="188" name="Google Shape;163;p11"/>
          <p:cNvCxnSpPr/>
          <p:nvPr/>
        </p:nvCxnSpPr>
        <p:spPr>
          <a:xfrm xmlns:a="http://schemas.openxmlformats.org/drawingml/2006/main" rot="10800000" flipH="1">
            <a:off x="1599200" y="2491950"/>
            <a:ext cx="270000" cy="360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chemeClr val="dk2"/>
            </a:solidFill>
            <a:prstDash val="solid"/>
            <a:round/>
            <a:headEnd type="diamond" w="med" len="med"/>
            <a:tailEnd type="diamond" w="med" len="med"/>
          </a:ln>
        </p:spPr>
      </p:cxnSp>
      <p:sp>
        <p:nvSpPr>
          <p:cNvPr id="164" name="Google Shape;164;p11">
            <a:extLst xmlns:a="http://schemas.openxmlformats.org/drawingml/2006/main">
              <a:ext uri="{FF2B5EF4-FFF2-40B4-BE49-F238E27FC236}">
                <a16:creationId xmlns:a16="http://schemas.microsoft.com/office/drawing/2014/main" id="{056FA8E2-70F1-4E00-8F57-0A5BFC0B9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125" y="647475"/>
            <a:ext cx="941400" cy="43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chemeClr val="dk2"/>
                </a:solidFill>
                <a:latin typeface="Proxima Nova"/>
                <a:ea typeface="Proxima Nova"/>
                <a:cs typeface="Proxima Nova"/>
              </a:rPr>
              <a:t>100µm</a:t>
            </a:r>
            <a:endParaRPr sz="1600" b="0" i="0" u="none" cap="none">
              <a:solidFill>
                <a:schemeClr val="dk2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165" name="Google Shape;165;p11">
            <a:extLst xmlns:a="http://schemas.openxmlformats.org/drawingml/2006/main">
              <a:ext uri="{FF2B5EF4-FFF2-40B4-BE49-F238E27FC236}">
                <a16:creationId xmlns:a16="http://schemas.microsoft.com/office/drawing/2014/main" id="{977A57F4-8EE5-47EF-9D6D-4E83B0769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75" y="4243400"/>
            <a:ext cx="941400" cy="43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chemeClr val="dk2"/>
                </a:solidFill>
                <a:latin typeface="Proxima Nova"/>
                <a:ea typeface="Proxima Nova"/>
                <a:cs typeface="Proxima Nova"/>
              </a:rPr>
              <a:t>100µm</a:t>
            </a:r>
            <a:endParaRPr sz="1600" b="0" i="0" u="none" cap="none">
              <a:solidFill>
                <a:schemeClr val="dk2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166" name="Google Shape;166;p11">
            <a:extLst xmlns:a="http://schemas.openxmlformats.org/drawingml/2006/main">
              <a:ext uri="{FF2B5EF4-FFF2-40B4-BE49-F238E27FC236}">
                <a16:creationId xmlns:a16="http://schemas.microsoft.com/office/drawing/2014/main" id="{8E6D986A-2195-40B6-8DA8-0A855CFF1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6400" y="862900"/>
            <a:ext cx="941400" cy="43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chemeClr val="dk2"/>
                </a:solidFill>
                <a:latin typeface="Proxima Nova"/>
                <a:ea typeface="Proxima Nova"/>
                <a:cs typeface="Proxima Nova"/>
              </a:rPr>
              <a:t>10µm</a:t>
            </a:r>
            <a:endParaRPr sz="1600" b="0" i="0" u="none" cap="none">
              <a:solidFill>
                <a:schemeClr val="dk2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167" name="Google Shape;167;p11">
            <a:extLst xmlns:a="http://schemas.openxmlformats.org/drawingml/2006/main">
              <a:ext uri="{FF2B5EF4-FFF2-40B4-BE49-F238E27FC236}">
                <a16:creationId xmlns:a16="http://schemas.microsoft.com/office/drawing/2014/main" id="{0A0AF46A-7B22-4C70-A841-C7A501823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475" y="4242050"/>
            <a:ext cx="989100" cy="43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chemeClr val="dk2"/>
                </a:solidFill>
                <a:latin typeface="Proxima Nova"/>
                <a:ea typeface="Proxima Nova"/>
                <a:cs typeface="Proxima Nova"/>
              </a:rPr>
              <a:t>1mm</a:t>
            </a:r>
            <a:endParaRPr sz="1600" b="0" i="0" u="none" cap="none">
              <a:solidFill>
                <a:schemeClr val="dk2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168" name="Google Shape;168;p11">
            <a:extLst xmlns:a="http://schemas.openxmlformats.org/drawingml/2006/main">
              <a:ext uri="{FF2B5EF4-FFF2-40B4-BE49-F238E27FC236}">
                <a16:creationId xmlns:a16="http://schemas.microsoft.com/office/drawing/2014/main" id="{7E14C30E-8CC3-48EB-BBB2-5BE24506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950" y="2064450"/>
            <a:ext cx="1108500" cy="43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chemeClr val="dk2"/>
                </a:solidFill>
                <a:latin typeface="Proxima Nova"/>
                <a:ea typeface="Proxima Nova"/>
                <a:cs typeface="Proxima Nova"/>
              </a:rPr>
              <a:t>2mm</a:t>
            </a:r>
            <a:endParaRPr sz="1600" b="0" i="0" u="none" cap="none">
              <a:solidFill>
                <a:schemeClr val="dk2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169" name="Google Shape;169;p11">
            <a:extLst xmlns:a="http://schemas.openxmlformats.org/drawingml/2006/main">
              <a:ext uri="{FF2B5EF4-FFF2-40B4-BE49-F238E27FC236}">
                <a16:creationId xmlns:a16="http://schemas.microsoft.com/office/drawing/2014/main" id="{01B49196-BA22-4C7E-BF93-B53D909FA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35347">
            <a:off x="1869197" y="1791234"/>
            <a:ext cx="674780" cy="935582"/>
          </a:xfrm>
          <a:custGeom xmlns:a="http://schemas.openxmlformats.org/drawingml/2006/main">
            <a:rect l="l" t="t" r="r" b="b"/>
            <a:pathLst>
              <a:path w="26991" h="37423">
                <a:moveTo>
                  <a:pt x="0" y="211"/>
                </a:moveTo>
                <a:cubicBezTo>
                  <a:pt x="8811" y="211"/>
                  <a:pt x="22117" y="-1639"/>
                  <a:pt x="25695" y="6413"/>
                </a:cubicBezTo>
                <a:cubicBezTo>
                  <a:pt x="29921" y="15921"/>
                  <a:pt x="22151" y="27020"/>
                  <a:pt x="22151" y="37424"/>
                </a:cubicBezTo>
              </a:path>
            </a:pathLst>
          </a:custGeom>
          <a:noFill xmlns:a="http://schemas.openxmlformats.org/drawingml/2006/main"/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11">
            <a:extLst xmlns:a="http://schemas.openxmlformats.org/drawingml/2006/main">
              <a:ext uri="{FF2B5EF4-FFF2-40B4-BE49-F238E27FC236}">
                <a16:creationId xmlns:a16="http://schemas.microsoft.com/office/drawing/2014/main" id="{E5476CAE-DA87-41F4-8D31-8E104A579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5991" y="2750300"/>
            <a:ext cx="324775" cy="1118625"/>
          </a:xfrm>
          <a:custGeom xmlns:a="http://schemas.openxmlformats.org/drawingml/2006/main">
            <a:rect l="l" t="t" r="r" b="b"/>
            <a:pathLst>
              <a:path w="12991" h="44745">
                <a:moveTo>
                  <a:pt x="5903" y="0"/>
                </a:moveTo>
                <a:cubicBezTo>
                  <a:pt x="8751" y="9970"/>
                  <a:pt x="1083" y="20242"/>
                  <a:pt x="144" y="30568"/>
                </a:cubicBezTo>
                <a:cubicBezTo>
                  <a:pt x="-433" y="36919"/>
                  <a:pt x="6614" y="44745"/>
                  <a:pt x="12991" y="44745"/>
                </a:cubicBezTo>
              </a:path>
            </a:pathLst>
          </a:custGeom>
          <a:noFill xmlns:a="http://schemas.openxmlformats.org/drawingml/2006/main"/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11">
            <a:extLst xmlns:a="http://schemas.openxmlformats.org/drawingml/2006/main">
              <a:ext uri="{FF2B5EF4-FFF2-40B4-BE49-F238E27FC236}">
                <a16:creationId xmlns:a16="http://schemas.microsoft.com/office/drawing/2014/main" id="{D888F919-BC2D-48DA-A4BA-82F0B0145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739225"/>
            <a:ext cx="487800" cy="603850"/>
          </a:xfrm>
          <a:custGeom xmlns:a="http://schemas.openxmlformats.org/drawingml/2006/main">
            <a:rect l="l" t="t" r="r" b="b"/>
            <a:pathLst>
              <a:path w="19512" h="24154">
                <a:moveTo>
                  <a:pt x="0" y="23923"/>
                </a:moveTo>
                <a:cubicBezTo>
                  <a:pt x="5783" y="24749"/>
                  <a:pt x="13296" y="22675"/>
                  <a:pt x="16392" y="17720"/>
                </a:cubicBezTo>
                <a:cubicBezTo>
                  <a:pt x="19569" y="12635"/>
                  <a:pt x="19493" y="5996"/>
                  <a:pt x="19493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11">
            <a:extLst xmlns:a="http://schemas.openxmlformats.org/drawingml/2006/main">
              <a:ext uri="{FF2B5EF4-FFF2-40B4-BE49-F238E27FC236}">
                <a16:creationId xmlns:a16="http://schemas.microsoft.com/office/drawing/2014/main" id="{3D30FA91-E2E4-4C32-86AA-D4AF5D0FE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14644">
            <a:off x="7323016" y="3153882"/>
            <a:ext cx="573903" cy="697809"/>
          </a:xfrm>
          <a:custGeom xmlns:a="http://schemas.openxmlformats.org/drawingml/2006/main">
            <a:rect l="l" t="t" r="r" b="b"/>
            <a:pathLst>
              <a:path w="22955" h="27911">
                <a:moveTo>
                  <a:pt x="21708" y="0"/>
                </a:moveTo>
                <a:cubicBezTo>
                  <a:pt x="21708" y="6800"/>
                  <a:pt x="24900" y="14939"/>
                  <a:pt x="20822" y="20380"/>
                </a:cubicBezTo>
                <a:cubicBezTo>
                  <a:pt x="16395" y="26286"/>
                  <a:pt x="7381" y="27911"/>
                  <a:pt x="0" y="27911"/>
                </a:cubicBezTo>
              </a:path>
            </a:pathLst>
          </a:custGeom>
          <a:noFill xmlns:a="http://schemas.openxmlformats.org/drawingml/2006/main"/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33979167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7" name="Google Shape;177;p12">
            <a:extLst xmlns:a="http://schemas.openxmlformats.org/drawingml/2006/main">
              <a:ext uri="{FF2B5EF4-FFF2-40B4-BE49-F238E27FC236}">
                <a16:creationId xmlns:a16="http://schemas.microsoft.com/office/drawing/2014/main" id="{8E6877AE-E523-42B4-8A38-3CD25258F71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292625"/>
            <a:ext cx="5615400" cy="70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1900" b="1"/>
              <a:t>Lisados celulares mascaram essa complexidade</a:t>
            </a:r>
            <a:endParaRPr sz="2700" b="1"/>
          </a:p>
        </p:txBody>
      </p:sp>
      <p:pic>
        <p:nvPicPr>
          <p:cNvPr id="196" name="Google Shape;178;p1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d52d4afa903453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69700" y="1901725"/>
            <a:ext cx="3991775" cy="16018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97" name="Google Shape;179;p1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882453abc244d1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rot="5400000">
            <a:off x="6524025" y="1874862"/>
            <a:ext cx="1601075" cy="1655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98" name="Google Shape;180;p1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fce05d8f0e7448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670000" y="442648"/>
            <a:ext cx="1525250" cy="14348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99" name="Google Shape;181;p1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3b0ca9183aa401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683975" y="3448350"/>
            <a:ext cx="1377925" cy="14348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82" name="Google Shape;182;p12">
            <a:extLst xmlns:a="http://schemas.openxmlformats.org/drawingml/2006/main">
              <a:ext uri="{FF2B5EF4-FFF2-40B4-BE49-F238E27FC236}">
                <a16:creationId xmlns:a16="http://schemas.microsoft.com/office/drawing/2014/main" id="{F46A687D-5710-40D6-9AA4-7FD2AC91C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825" y="1112325"/>
            <a:ext cx="1377900" cy="67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Amostra complexa</a:t>
            </a:r>
            <a:endParaRPr sz="1600" b="0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183" name="Google Shape;183;p12">
            <a:extLst xmlns:a="http://schemas.openxmlformats.org/drawingml/2006/main">
              <a:ext uri="{FF2B5EF4-FFF2-40B4-BE49-F238E27FC236}">
                <a16:creationId xmlns:a16="http://schemas.microsoft.com/office/drawing/2014/main" id="{4C6E4C06-BF22-44C4-979F-B0E9A2AA6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7175" y="1358325"/>
            <a:ext cx="1815900" cy="43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Heterogeneidade</a:t>
            </a:r>
            <a:endParaRPr sz="1600" b="0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184" name="Google Shape;184;p12">
            <a:extLst xmlns:a="http://schemas.openxmlformats.org/drawingml/2006/main">
              <a:ext uri="{FF2B5EF4-FFF2-40B4-BE49-F238E27FC236}">
                <a16:creationId xmlns:a16="http://schemas.microsoft.com/office/drawing/2014/main" id="{0B9B9C8D-7A3C-4ABA-879F-C0C927D8E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1075" y="2433878"/>
            <a:ext cx="874975" cy="360700"/>
          </a:xfrm>
          <a:custGeom xmlns:a="http://schemas.openxmlformats.org/drawingml/2006/main">
            <a:rect l="l" t="t" r="r" b="b"/>
            <a:pathLst>
              <a:path w="34999" h="14428">
                <a:moveTo>
                  <a:pt x="0" y="6011"/>
                </a:moveTo>
                <a:cubicBezTo>
                  <a:pt x="3251" y="1677"/>
                  <a:pt x="10997" y="-1866"/>
                  <a:pt x="15506" y="1138"/>
                </a:cubicBezTo>
                <a:cubicBezTo>
                  <a:pt x="22051" y="5498"/>
                  <a:pt x="27135" y="14429"/>
                  <a:pt x="34999" y="14429"/>
                </a:cubicBezTo>
              </a:path>
            </a:pathLst>
          </a:custGeom>
          <a:noFill xmlns:a="http://schemas.openxmlformats.org/drawingml/2006/main"/>
          <a:ln xmlns:a="http://schemas.openxmlformats.org/drawingml/2006/main" w="19050" cmpd="sng">
            <a:solidFill>
              <a:schemeClr val="accent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12">
            <a:extLst xmlns:a="http://schemas.openxmlformats.org/drawingml/2006/main">
              <a:ext uri="{FF2B5EF4-FFF2-40B4-BE49-F238E27FC236}">
                <a16:creationId xmlns:a16="http://schemas.microsoft.com/office/drawing/2014/main" id="{0D0BF7FB-C33E-4890-A3F5-0E757FEB0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800" y="2493199"/>
            <a:ext cx="1528425" cy="322225"/>
          </a:xfrm>
          <a:custGeom xmlns:a="http://schemas.openxmlformats.org/drawingml/2006/main">
            <a:rect l="l" t="t" r="r" b="b"/>
            <a:pathLst>
              <a:path w="61137" h="12889">
                <a:moveTo>
                  <a:pt x="0" y="12889"/>
                </a:moveTo>
                <a:cubicBezTo>
                  <a:pt x="10065" y="12889"/>
                  <a:pt x="18146" y="3811"/>
                  <a:pt x="27910" y="1370"/>
                </a:cubicBezTo>
                <a:cubicBezTo>
                  <a:pt x="38656" y="-1316"/>
                  <a:pt x="50060" y="927"/>
                  <a:pt x="61137" y="927"/>
                </a:cubicBezTo>
              </a:path>
            </a:pathLst>
          </a:custGeom>
          <a:noFill xmlns:a="http://schemas.openxmlformats.org/drawingml/2006/main"/>
          <a:ln xmlns:a="http://schemas.openxmlformats.org/drawingml/2006/main" w="19050" cmpd="sng">
            <a:solidFill>
              <a:schemeClr val="accent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12">
            <a:extLst xmlns:a="http://schemas.openxmlformats.org/drawingml/2006/main">
              <a:ext uri="{FF2B5EF4-FFF2-40B4-BE49-F238E27FC236}">
                <a16:creationId xmlns:a16="http://schemas.microsoft.com/office/drawing/2014/main" id="{7644EEB6-D985-44D6-BD60-C4653BFAD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800" y="1618225"/>
            <a:ext cx="859225" cy="874975"/>
          </a:xfrm>
          <a:custGeom xmlns:a="http://schemas.openxmlformats.org/drawingml/2006/main">
            <a:rect l="l" t="t" r="r" b="b"/>
            <a:pathLst>
              <a:path w="31897" h="34999">
                <a:moveTo>
                  <a:pt x="31897" y="0"/>
                </a:moveTo>
                <a:cubicBezTo>
                  <a:pt x="23294" y="0"/>
                  <a:pt x="20667" y="13053"/>
                  <a:pt x="15505" y="19936"/>
                </a:cubicBezTo>
                <a:cubicBezTo>
                  <a:pt x="11182" y="25701"/>
                  <a:pt x="6445" y="31777"/>
                  <a:pt x="0" y="34999"/>
                </a:cubicBezTo>
              </a:path>
            </a:pathLst>
          </a:custGeom>
          <a:noFill xmlns:a="http://schemas.openxmlformats.org/drawingml/2006/main"/>
          <a:ln xmlns:a="http://schemas.openxmlformats.org/drawingml/2006/main" w="19050" cmpd="sng">
            <a:solidFill>
              <a:schemeClr val="accent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12">
            <a:extLst xmlns:a="http://schemas.openxmlformats.org/drawingml/2006/main">
              <a:ext uri="{FF2B5EF4-FFF2-40B4-BE49-F238E27FC236}">
                <a16:creationId xmlns:a16="http://schemas.microsoft.com/office/drawing/2014/main" id="{04215CDA-4C74-4198-AD26-AC3019073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0525" y="3158750"/>
            <a:ext cx="731000" cy="1063250"/>
          </a:xfrm>
          <a:custGeom xmlns:a="http://schemas.openxmlformats.org/drawingml/2006/main">
            <a:rect l="l" t="t" r="r" b="b"/>
            <a:pathLst>
              <a:path w="29240" h="42530">
                <a:moveTo>
                  <a:pt x="0" y="0"/>
                </a:moveTo>
                <a:cubicBezTo>
                  <a:pt x="7219" y="7215"/>
                  <a:pt x="12365" y="16582"/>
                  <a:pt x="15949" y="26139"/>
                </a:cubicBezTo>
                <a:cubicBezTo>
                  <a:pt x="18419" y="32725"/>
                  <a:pt x="22206" y="42530"/>
                  <a:pt x="29240" y="42530"/>
                </a:cubicBezTo>
              </a:path>
            </a:pathLst>
          </a:custGeom>
          <a:noFill xmlns:a="http://schemas.openxmlformats.org/drawingml/2006/main"/>
          <a:ln xmlns:a="http://schemas.openxmlformats.org/drawingml/2006/main" w="19050" cmpd="sng">
            <a:solidFill>
              <a:schemeClr val="accent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12">
            <a:extLst xmlns:a="http://schemas.openxmlformats.org/drawingml/2006/main">
              <a:ext uri="{FF2B5EF4-FFF2-40B4-BE49-F238E27FC236}">
                <a16:creationId xmlns:a16="http://schemas.microsoft.com/office/drawing/2014/main" id="{2A8362C8-1BD6-42E2-93B3-00AE671EA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1175" y="2569388"/>
            <a:ext cx="1331100" cy="43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Lisado</a:t>
            </a:r>
            <a:endParaRPr sz="1600" b="0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189" name="Google Shape;189;p12">
            <a:extLst xmlns:a="http://schemas.openxmlformats.org/drawingml/2006/main">
              <a:ext uri="{FF2B5EF4-FFF2-40B4-BE49-F238E27FC236}">
                <a16:creationId xmlns:a16="http://schemas.microsoft.com/office/drawing/2014/main" id="{5B8933BA-BFC8-4126-B539-6FB11FFF3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6525" y="184625"/>
            <a:ext cx="1815900" cy="92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Manutenção de informações célula-específicas</a:t>
            </a:r>
            <a:endParaRPr sz="1600" b="0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190" name="Google Shape;190;p12">
            <a:extLst xmlns:a="http://schemas.openxmlformats.org/drawingml/2006/main">
              <a:ext uri="{FF2B5EF4-FFF2-40B4-BE49-F238E27FC236}">
                <a16:creationId xmlns:a16="http://schemas.microsoft.com/office/drawing/2014/main" id="{AD297EFF-F2DE-49A0-9B90-6C418A543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5700" y="3883625"/>
            <a:ext cx="1815900" cy="92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Manutenção de informações local-específicas</a:t>
            </a:r>
            <a:endParaRPr sz="1600" b="0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</p:spTree>
    <p:extLst>
      <p:ext uri="{BB962C8B-B14F-4D97-AF65-F5344CB8AC3E}">
        <p14:creationId xmlns:p14="http://schemas.microsoft.com/office/powerpoint/2010/main" val="202362162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5" name="Google Shape;195;p13">
            <a:extLst xmlns:a="http://schemas.openxmlformats.org/drawingml/2006/main">
              <a:ext uri="{FF2B5EF4-FFF2-40B4-BE49-F238E27FC236}">
                <a16:creationId xmlns:a16="http://schemas.microsoft.com/office/drawing/2014/main" id="{80398B85-23BF-442E-B8E1-D4AFAFD7DBA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292625"/>
            <a:ext cx="5615400" cy="70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1900" b="1"/>
              <a:t>Essa complexidade tem relevância clínica</a:t>
            </a:r>
            <a:endParaRPr sz="2700"/>
          </a:p>
        </p:txBody>
      </p:sp>
      <p:pic>
        <p:nvPicPr>
          <p:cNvPr id="201" name="Google Shape;196;p1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c2a1a56701e4e2b">
            <a:alphaModFix/>
          </a:blip>
          <a:srcRect xmlns:a="http://schemas.openxmlformats.org/drawingml/2006/main" l="0" t="0" r="0" b="52676"/>
          <a:stretch xmlns:a="http://schemas.openxmlformats.org/drawingml/2006/main"/>
        </p:blipFill>
        <p:spPr>
          <a:xfrm xmlns:a="http://schemas.openxmlformats.org/drawingml/2006/main">
            <a:off x="311702" y="900350"/>
            <a:ext cx="4348899" cy="122104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02" name="Google Shape;197;p1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03ec05db18e473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11700" y="2296546"/>
            <a:ext cx="4348898" cy="236887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03" name="Google Shape;198;p1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7c7670672414f16">
            <a:alphaModFix/>
          </a:blip>
          <a:srcRect xmlns:a="http://schemas.openxmlformats.org/drawingml/2006/main" l="14557" t="0" r="14050" b="0"/>
          <a:stretch xmlns:a="http://schemas.openxmlformats.org/drawingml/2006/main"/>
        </p:blipFill>
        <p:spPr>
          <a:xfrm xmlns:a="http://schemas.openxmlformats.org/drawingml/2006/main">
            <a:off x="4815250" y="840572"/>
            <a:ext cx="3271925" cy="376507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04" name="Google Shape;199;p1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e4bea0d69f14eb1">
            <a:alphaModFix/>
          </a:blip>
          <a:srcRect xmlns:a="http://schemas.openxmlformats.org/drawingml/2006/main" l="61614" t="0" r="2744" b="68654"/>
          <a:stretch xmlns:a="http://schemas.openxmlformats.org/drawingml/2006/main"/>
        </p:blipFill>
        <p:spPr>
          <a:xfrm xmlns:a="http://schemas.openxmlformats.org/drawingml/2006/main">
            <a:off x="5466200" y="2770075"/>
            <a:ext cx="2962811" cy="1957699"/>
          </a:xfrm>
          <a:prstGeom xmlns:a="http://schemas.openxmlformats.org/drawingml/2006/main" prst="rect">
            <a:avLst/>
          </a:prstGeom>
          <a:ln xmlns:a="http://schemas.openxmlformats.org/drawingml/2006/main" w="9525" cap="flat" cmpd="sng">
            <a:solidFill>
              <a:srgbClr val="000000"/>
            </a:solidFill>
            <a:prstDash val="solid"/>
            <a:round/>
          </a:ln>
        </p:spPr>
      </p:pic>
    </p:spTree>
    <p:extLst>
      <p:ext uri="{BB962C8B-B14F-4D97-AF65-F5344CB8AC3E}">
        <p14:creationId xmlns:p14="http://schemas.microsoft.com/office/powerpoint/2010/main" val="1924254421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5" name="Google Shape;204;p1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7ed87a166cf432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69700" y="1901725"/>
            <a:ext cx="3991775" cy="16018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26" name="Google Shape;205;p1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a7d848bcdb7406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rot="5400000">
            <a:off x="6524025" y="1874862"/>
            <a:ext cx="1601075" cy="1655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27" name="Google Shape;206;p1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046304cd1f8484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670000" y="442648"/>
            <a:ext cx="1525250" cy="14348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28" name="Google Shape;207;p1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0ead4de6f8148b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683975" y="3448350"/>
            <a:ext cx="1377925" cy="14348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08" name="Google Shape;208;p14">
            <a:extLst xmlns:a="http://schemas.openxmlformats.org/drawingml/2006/main">
              <a:ext uri="{FF2B5EF4-FFF2-40B4-BE49-F238E27FC236}">
                <a16:creationId xmlns:a16="http://schemas.microsoft.com/office/drawing/2014/main" id="{059321B4-B57C-4C26-8F93-3C7DFE96D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825" y="1112325"/>
            <a:ext cx="1377900" cy="67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Amostra complexa</a:t>
            </a:r>
            <a:endParaRPr sz="1600" b="0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209" name="Google Shape;209;p14">
            <a:extLst xmlns:a="http://schemas.openxmlformats.org/drawingml/2006/main">
              <a:ext uri="{FF2B5EF4-FFF2-40B4-BE49-F238E27FC236}">
                <a16:creationId xmlns:a16="http://schemas.microsoft.com/office/drawing/2014/main" id="{BC10F1F6-6C47-4827-9123-3435AC641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7175" y="1358325"/>
            <a:ext cx="1815900" cy="43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Heterogeneidade</a:t>
            </a:r>
            <a:endParaRPr sz="1600" b="0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210" name="Google Shape;210;p14">
            <a:extLst xmlns:a="http://schemas.openxmlformats.org/drawingml/2006/main">
              <a:ext uri="{FF2B5EF4-FFF2-40B4-BE49-F238E27FC236}">
                <a16:creationId xmlns:a16="http://schemas.microsoft.com/office/drawing/2014/main" id="{150A628E-2D27-4E54-863B-A4BE8E180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1075" y="2433878"/>
            <a:ext cx="874975" cy="360700"/>
          </a:xfrm>
          <a:custGeom xmlns:a="http://schemas.openxmlformats.org/drawingml/2006/main">
            <a:rect l="l" t="t" r="r" b="b"/>
            <a:pathLst>
              <a:path w="34999" h="14428">
                <a:moveTo>
                  <a:pt x="0" y="6011"/>
                </a:moveTo>
                <a:cubicBezTo>
                  <a:pt x="3251" y="1677"/>
                  <a:pt x="10997" y="-1866"/>
                  <a:pt x="15506" y="1138"/>
                </a:cubicBezTo>
                <a:cubicBezTo>
                  <a:pt x="22051" y="5498"/>
                  <a:pt x="27135" y="14429"/>
                  <a:pt x="34999" y="14429"/>
                </a:cubicBezTo>
              </a:path>
            </a:pathLst>
          </a:custGeom>
          <a:noFill xmlns:a="http://schemas.openxmlformats.org/drawingml/2006/main"/>
          <a:ln xmlns:a="http://schemas.openxmlformats.org/drawingml/2006/main" w="19050" cmpd="sng">
            <a:solidFill>
              <a:schemeClr val="accent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14">
            <a:extLst xmlns:a="http://schemas.openxmlformats.org/drawingml/2006/main">
              <a:ext uri="{FF2B5EF4-FFF2-40B4-BE49-F238E27FC236}">
                <a16:creationId xmlns:a16="http://schemas.microsoft.com/office/drawing/2014/main" id="{7E82D797-235C-4D28-9F3C-926410797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800" y="2493199"/>
            <a:ext cx="1528425" cy="322225"/>
          </a:xfrm>
          <a:custGeom xmlns:a="http://schemas.openxmlformats.org/drawingml/2006/main">
            <a:rect l="l" t="t" r="r" b="b"/>
            <a:pathLst>
              <a:path w="61137" h="12889">
                <a:moveTo>
                  <a:pt x="0" y="12889"/>
                </a:moveTo>
                <a:cubicBezTo>
                  <a:pt x="10065" y="12889"/>
                  <a:pt x="18146" y="3811"/>
                  <a:pt x="27910" y="1370"/>
                </a:cubicBezTo>
                <a:cubicBezTo>
                  <a:pt x="38656" y="-1316"/>
                  <a:pt x="50060" y="927"/>
                  <a:pt x="61137" y="927"/>
                </a:cubicBezTo>
              </a:path>
            </a:pathLst>
          </a:custGeom>
          <a:noFill xmlns:a="http://schemas.openxmlformats.org/drawingml/2006/main"/>
          <a:ln xmlns:a="http://schemas.openxmlformats.org/drawingml/2006/main" w="19050" cmpd="sng">
            <a:solidFill>
              <a:schemeClr val="accent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14">
            <a:extLst xmlns:a="http://schemas.openxmlformats.org/drawingml/2006/main">
              <a:ext uri="{FF2B5EF4-FFF2-40B4-BE49-F238E27FC236}">
                <a16:creationId xmlns:a16="http://schemas.microsoft.com/office/drawing/2014/main" id="{A5A8328D-A295-4160-8504-D12AB09B9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800" y="1618225"/>
            <a:ext cx="859225" cy="874975"/>
          </a:xfrm>
          <a:custGeom xmlns:a="http://schemas.openxmlformats.org/drawingml/2006/main">
            <a:rect l="l" t="t" r="r" b="b"/>
            <a:pathLst>
              <a:path w="31897" h="34999">
                <a:moveTo>
                  <a:pt x="31897" y="0"/>
                </a:moveTo>
                <a:cubicBezTo>
                  <a:pt x="23294" y="0"/>
                  <a:pt x="20667" y="13053"/>
                  <a:pt x="15505" y="19936"/>
                </a:cubicBezTo>
                <a:cubicBezTo>
                  <a:pt x="11182" y="25701"/>
                  <a:pt x="6445" y="31777"/>
                  <a:pt x="0" y="34999"/>
                </a:cubicBezTo>
              </a:path>
            </a:pathLst>
          </a:custGeom>
          <a:noFill xmlns:a="http://schemas.openxmlformats.org/drawingml/2006/main"/>
          <a:ln xmlns:a="http://schemas.openxmlformats.org/drawingml/2006/main" w="19050" cmpd="sng">
            <a:solidFill>
              <a:schemeClr val="accent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14">
            <a:extLst xmlns:a="http://schemas.openxmlformats.org/drawingml/2006/main">
              <a:ext uri="{FF2B5EF4-FFF2-40B4-BE49-F238E27FC236}">
                <a16:creationId xmlns:a16="http://schemas.microsoft.com/office/drawing/2014/main" id="{5F1F8CB6-05AC-4BE7-97F0-C465190DE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0525" y="3158750"/>
            <a:ext cx="731000" cy="1063250"/>
          </a:xfrm>
          <a:custGeom xmlns:a="http://schemas.openxmlformats.org/drawingml/2006/main">
            <a:rect l="l" t="t" r="r" b="b"/>
            <a:pathLst>
              <a:path w="29240" h="42530">
                <a:moveTo>
                  <a:pt x="0" y="0"/>
                </a:moveTo>
                <a:cubicBezTo>
                  <a:pt x="7219" y="7215"/>
                  <a:pt x="12365" y="16582"/>
                  <a:pt x="15949" y="26139"/>
                </a:cubicBezTo>
                <a:cubicBezTo>
                  <a:pt x="18419" y="32725"/>
                  <a:pt x="22206" y="42530"/>
                  <a:pt x="29240" y="42530"/>
                </a:cubicBezTo>
              </a:path>
            </a:pathLst>
          </a:custGeom>
          <a:noFill xmlns:a="http://schemas.openxmlformats.org/drawingml/2006/main"/>
          <a:ln xmlns:a="http://schemas.openxmlformats.org/drawingml/2006/main" w="19050" cmpd="sng">
            <a:solidFill>
              <a:schemeClr val="accent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14">
            <a:extLst xmlns:a="http://schemas.openxmlformats.org/drawingml/2006/main">
              <a:ext uri="{FF2B5EF4-FFF2-40B4-BE49-F238E27FC236}">
                <a16:creationId xmlns:a16="http://schemas.microsoft.com/office/drawing/2014/main" id="{C4287B44-6503-4402-A17F-9DAF80F9D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1175" y="2569388"/>
            <a:ext cx="1331100" cy="43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Lisado</a:t>
            </a:r>
            <a:endParaRPr sz="1600" b="0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215" name="Google Shape;215;p14">
            <a:extLst xmlns:a="http://schemas.openxmlformats.org/drawingml/2006/main">
              <a:ext uri="{FF2B5EF4-FFF2-40B4-BE49-F238E27FC236}">
                <a16:creationId xmlns:a16="http://schemas.microsoft.com/office/drawing/2014/main" id="{F64150DB-0AF2-40B0-B324-3262EBD38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6525" y="184625"/>
            <a:ext cx="1815900" cy="92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Manutenção de informações célula-específicas</a:t>
            </a:r>
            <a:endParaRPr sz="1600" b="0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216" name="Google Shape;216;p14">
            <a:extLst xmlns:a="http://schemas.openxmlformats.org/drawingml/2006/main">
              <a:ext uri="{FF2B5EF4-FFF2-40B4-BE49-F238E27FC236}">
                <a16:creationId xmlns:a16="http://schemas.microsoft.com/office/drawing/2014/main" id="{5056C700-B36A-45E1-BAC7-6D488EC0A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5700" y="3883625"/>
            <a:ext cx="1815900" cy="92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Manutenção de informações local-específicas</a:t>
            </a:r>
            <a:endParaRPr sz="1600" b="0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217" name="Google Shape;217;p14">
            <a:extLst xmlns:a="http://schemas.openxmlformats.org/drawingml/2006/main">
              <a:ext uri="{FF2B5EF4-FFF2-40B4-BE49-F238E27FC236}">
                <a16:creationId xmlns:a16="http://schemas.microsoft.com/office/drawing/2014/main" id="{B5F2E373-9852-4E46-BF72-6BB19A897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175" y="2794575"/>
            <a:ext cx="16554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chemeClr val="lt1"/>
                </a:solidFill>
                <a:highlight>
                  <a:schemeClr val="dk2"/>
                </a:highlight>
                <a:latin typeface="Proxima Nova"/>
                <a:ea typeface="Proxima Nova"/>
                <a:cs typeface="Proxima Nova"/>
              </a:rPr>
              <a:t>Bulk RNA-seq</a:t>
            </a:r>
            <a:endParaRPr sz="1600" b="0" i="0" u="none" cap="none">
              <a:solidFill>
                <a:schemeClr val="lt1"/>
              </a:solidFill>
              <a:highlight>
                <a:schemeClr val="dk2"/>
              </a:highlight>
              <a:latin typeface="Proxima Nova"/>
              <a:ea typeface="Proxima Nova"/>
              <a:cs typeface="Proxima Nova"/>
            </a:endParaRPr>
          </a:p>
        </p:txBody>
      </p:sp>
      <p:sp>
        <p:nvSpPr>
          <p:cNvPr id="218" name="Google Shape;218;p14">
            <a:extLst xmlns:a="http://schemas.openxmlformats.org/drawingml/2006/main">
              <a:ext uri="{FF2B5EF4-FFF2-40B4-BE49-F238E27FC236}">
                <a16:creationId xmlns:a16="http://schemas.microsoft.com/office/drawing/2014/main" id="{34D91AF0-CD43-4DD7-AED5-9DF88CAD8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050" y="4235975"/>
            <a:ext cx="18159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chemeClr val="lt1"/>
                </a:solidFill>
                <a:highlight>
                  <a:schemeClr val="dk2"/>
                </a:highlight>
                <a:latin typeface="Proxima Nova"/>
                <a:ea typeface="Proxima Nova"/>
                <a:cs typeface="Proxima Nova"/>
              </a:rPr>
              <a:t>Transcriptômica espacial</a:t>
            </a:r>
            <a:endParaRPr sz="1600" b="0" i="0" u="none" cap="none">
              <a:solidFill>
                <a:schemeClr val="lt1"/>
              </a:solidFill>
              <a:highlight>
                <a:schemeClr val="dk2"/>
              </a:highlight>
              <a:latin typeface="Proxima Nova"/>
              <a:ea typeface="Proxima Nova"/>
              <a:cs typeface="Proxima Nova"/>
            </a:endParaRPr>
          </a:p>
        </p:txBody>
      </p:sp>
      <p:sp>
        <p:nvSpPr>
          <p:cNvPr id="219" name="Google Shape;219;p14">
            <a:extLst xmlns:a="http://schemas.openxmlformats.org/drawingml/2006/main">
              <a:ext uri="{FF2B5EF4-FFF2-40B4-BE49-F238E27FC236}">
                <a16:creationId xmlns:a16="http://schemas.microsoft.com/office/drawing/2014/main" id="{962B1706-8F95-43BE-B893-3286F4CED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0525" y="442650"/>
            <a:ext cx="19743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chemeClr val="lt1"/>
                </a:solidFill>
                <a:highlight>
                  <a:schemeClr val="dk2"/>
                </a:highlight>
                <a:latin typeface="Proxima Nova"/>
                <a:ea typeface="Proxima Nova"/>
                <a:cs typeface="Proxima Nova"/>
              </a:rPr>
              <a:t>RNA-seq de células individuais</a:t>
            </a:r>
            <a:endParaRPr sz="1600" b="0" i="0" u="none" cap="none">
              <a:solidFill>
                <a:schemeClr val="lt1"/>
              </a:solidFill>
              <a:highlight>
                <a:schemeClr val="dk2"/>
              </a:highlight>
              <a:latin typeface="Proxima Nova"/>
              <a:ea typeface="Proxima Nova"/>
              <a:cs typeface="Proxima Nova"/>
            </a:endParaRPr>
          </a:p>
        </p:txBody>
      </p:sp>
      <p:sp>
        <p:nvSpPr>
          <p:cNvPr id="220" name="Google Shape;220;p14">
            <a:extLst xmlns:a="http://schemas.openxmlformats.org/drawingml/2006/main">
              <a:ext uri="{FF2B5EF4-FFF2-40B4-BE49-F238E27FC236}">
                <a16:creationId xmlns:a16="http://schemas.microsoft.com/office/drawing/2014/main" id="{0BBC1475-AD29-4120-84CE-D3CB1C255A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292625"/>
            <a:ext cx="5615400" cy="70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1900" b="1"/>
              <a:t>Transcriptômicas de alta resolução</a:t>
            </a:r>
            <a:endParaRPr sz="1900" b="1"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1600"/>
              <a:t>vs. RNA-seq clássico (</a:t>
            </a:r>
            <a:r>
              <a:rPr sz="1600" i="1"/>
              <a:t>bulk</a:t>
            </a:r>
            <a:r>
              <a:rPr sz="1600"/>
              <a:t>)</a:t>
            </a:r>
            <a:endParaRPr sz="1600"/>
          </a:p>
        </p:txBody>
      </p:sp>
    </p:spTree>
    <p:extLst>
      <p:ext uri="{BB962C8B-B14F-4D97-AF65-F5344CB8AC3E}">
        <p14:creationId xmlns:p14="http://schemas.microsoft.com/office/powerpoint/2010/main" val="178577478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43" name="Google Shape;225;p15"/>
          <p:cNvCxnSpPr/>
          <p:nvPr/>
        </p:nvCxnSpPr>
        <p:spPr>
          <a:xfrm xmlns:a="http://schemas.openxmlformats.org/drawingml/2006/main" rot="10800000" flipH="1">
            <a:off x="2157025" y="3893375"/>
            <a:ext cx="6041100" cy="1080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lt2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44" name="Google Shape;226;p15"/>
          <p:cNvCxnSpPr>
            <a:stCxn xmlns:a="http://schemas.openxmlformats.org/drawingml/2006/main" id="227" idx="1"/>
          </p:cNvCxnSpPr>
          <p:nvPr/>
        </p:nvCxnSpPr>
        <p:spPr>
          <a:xfrm xmlns:a="http://schemas.openxmlformats.org/drawingml/2006/main" rot="10800000" flipH="1">
            <a:off x="2157025" y="1956300"/>
            <a:ext cx="6041100" cy="1080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lt2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228" name="Google Shape;228;p15">
            <a:extLst xmlns:a="http://schemas.openxmlformats.org/drawingml/2006/main">
              <a:ext uri="{FF2B5EF4-FFF2-40B4-BE49-F238E27FC236}">
                <a16:creationId xmlns:a16="http://schemas.microsoft.com/office/drawing/2014/main" id="{500DA272-A486-4DAC-B44C-476752318CA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140225"/>
            <a:ext cx="84912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2000"/>
              <a:t>Transcriptômica com Sequenciamento de Nova Geração (NGS)</a:t>
            </a:r>
            <a:endParaRPr/>
          </a:p>
        </p:txBody>
      </p:sp>
      <p:sp>
        <p:nvSpPr>
          <p:cNvPr id="230" name="Google Shape;230;p15">
            <a:extLst xmlns:a="http://schemas.openxmlformats.org/drawingml/2006/main">
              <a:ext uri="{FF2B5EF4-FFF2-40B4-BE49-F238E27FC236}">
                <a16:creationId xmlns:a16="http://schemas.microsoft.com/office/drawing/2014/main" id="{FCAED433-AC48-4ACA-A16A-3710E903A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46701" y="1645300"/>
            <a:ext cx="2004300" cy="62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1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Preparo de biblioteca</a:t>
            </a:r>
            <a:endParaRPr sz="1600" b="1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231" name="Google Shape;231;p15">
            <a:extLst xmlns:a="http://schemas.openxmlformats.org/drawingml/2006/main">
              <a:ext uri="{FF2B5EF4-FFF2-40B4-BE49-F238E27FC236}">
                <a16:creationId xmlns:a16="http://schemas.microsoft.com/office/drawing/2014/main" id="{A2B39624-7003-4D7D-A98A-BF7509825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032402" y="1595125"/>
            <a:ext cx="4161000" cy="7317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227" name="Google Shape;227;p15">
            <a:extLst xmlns:a="http://schemas.openxmlformats.org/drawingml/2006/main">
              <a:ext uri="{FF2B5EF4-FFF2-40B4-BE49-F238E27FC236}">
                <a16:creationId xmlns:a16="http://schemas.microsoft.com/office/drawing/2014/main" id="{E5CE2117-5F51-4069-8AAF-2EF23FF66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57025" y="1679400"/>
            <a:ext cx="4036500" cy="57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Síntese de cDNA, fragmentação, adição de adaptadores</a:t>
            </a:r>
            <a:endParaRPr sz="1600" b="0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233" name="Google Shape;233;p15">
            <a:extLst xmlns:a="http://schemas.openxmlformats.org/drawingml/2006/main">
              <a:ext uri="{FF2B5EF4-FFF2-40B4-BE49-F238E27FC236}">
                <a16:creationId xmlns:a16="http://schemas.microsoft.com/office/drawing/2014/main" id="{DE72A828-C1FD-489F-8132-4B03B6A43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757368" y="2529675"/>
            <a:ext cx="2715300" cy="62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1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Sequenciamento</a:t>
            </a:r>
            <a:endParaRPr sz="1600" b="1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234" name="Google Shape;234;p15">
            <a:extLst xmlns:a="http://schemas.openxmlformats.org/drawingml/2006/main">
              <a:ext uri="{FF2B5EF4-FFF2-40B4-BE49-F238E27FC236}">
                <a16:creationId xmlns:a16="http://schemas.microsoft.com/office/drawing/2014/main" id="{0CCDF550-85F5-403D-8C82-440CAFCB2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032402" y="2479475"/>
            <a:ext cx="3877800" cy="7317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235" name="Google Shape;235;p15">
            <a:extLst xmlns:a="http://schemas.openxmlformats.org/drawingml/2006/main">
              <a:ext uri="{FF2B5EF4-FFF2-40B4-BE49-F238E27FC236}">
                <a16:creationId xmlns:a16="http://schemas.microsoft.com/office/drawing/2014/main" id="{8D9C7307-4549-402E-96BF-7F5945B56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57002" y="2686050"/>
            <a:ext cx="3753300" cy="33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Amplificação e sequenciamento em si</a:t>
            </a:r>
            <a:endParaRPr sz="1600" b="0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237" name="Google Shape;237;p15">
            <a:extLst xmlns:a="http://schemas.openxmlformats.org/drawingml/2006/main">
              <a:ext uri="{FF2B5EF4-FFF2-40B4-BE49-F238E27FC236}">
                <a16:creationId xmlns:a16="http://schemas.microsoft.com/office/drawing/2014/main" id="{D452AD24-EA95-4D2A-82F2-3DF584632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2270" y="3563175"/>
            <a:ext cx="1959900" cy="62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1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Análise</a:t>
            </a:r>
            <a:endParaRPr sz="1600" b="1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238" name="Google Shape;238;p15">
            <a:extLst xmlns:a="http://schemas.openxmlformats.org/drawingml/2006/main">
              <a:ext uri="{FF2B5EF4-FFF2-40B4-BE49-F238E27FC236}">
                <a16:creationId xmlns:a16="http://schemas.microsoft.com/office/drawing/2014/main" id="{B244BCAA-8E32-45D4-901A-BEEDFACFC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032400" y="3360575"/>
            <a:ext cx="3568800" cy="1016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239" name="Google Shape;239;p15">
            <a:extLst xmlns:a="http://schemas.openxmlformats.org/drawingml/2006/main">
              <a:ext uri="{FF2B5EF4-FFF2-40B4-BE49-F238E27FC236}">
                <a16:creationId xmlns:a16="http://schemas.microsoft.com/office/drawing/2014/main" id="{727589A8-F38D-408D-820F-D7671A0C7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57024" y="3719525"/>
            <a:ext cx="3444300" cy="33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Controle de qualidade, alinhamento, quantificação, normalização e expressão diferencial</a:t>
            </a:r>
            <a:endParaRPr sz="1600" b="0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240" name="Google Shape;240;p15">
            <a:extLst xmlns:a="http://schemas.openxmlformats.org/drawingml/2006/main">
              <a:ext uri="{FF2B5EF4-FFF2-40B4-BE49-F238E27FC236}">
                <a16:creationId xmlns:a16="http://schemas.microsoft.com/office/drawing/2014/main" id="{7BD9DE64-4E5A-4F16-9F10-D62D791644B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626900" y="815375"/>
            <a:ext cx="4176000" cy="981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sz="1700">
                <a:solidFill>
                  <a:schemeClr val="dk1"/>
                </a:solidFill>
                <a:highlight>
                  <a:schemeClr val="lt2"/>
                </a:highlight>
              </a:rPr>
              <a:t>Transcriptômica de alta resolução:</a:t>
            </a:r>
            <a:endParaRPr sz="1700">
              <a:solidFill>
                <a:schemeClr val="dk1"/>
              </a:solidFill>
              <a:highlight>
                <a:schemeClr val="lt2"/>
              </a:highlight>
            </a:endParaRPr>
          </a:p>
          <a:p xmlns:a="http://schemas.openxmlformats.org/drawingml/2006/main">
            <a:pPr marL="0" lvl="0" indent="457200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endParaRPr sz="1700">
              <a:solidFill>
                <a:schemeClr val="dk1"/>
              </a:solidFill>
            </a:endParaRPr>
          </a:p>
        </p:txBody>
      </p:sp>
      <p:sp>
        <p:nvSpPr>
          <p:cNvPr id="241" name="Google Shape;241;p15">
            <a:extLst xmlns:a="http://schemas.openxmlformats.org/drawingml/2006/main">
              <a:ext uri="{FF2B5EF4-FFF2-40B4-BE49-F238E27FC236}">
                <a16:creationId xmlns:a16="http://schemas.microsoft.com/office/drawing/2014/main" id="{EF254548-8C8E-4923-B267-939B3CADB92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351000" y="1393825"/>
            <a:ext cx="2451900" cy="981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sz="1600">
                <a:solidFill>
                  <a:schemeClr val="dk1"/>
                </a:solidFill>
                <a:highlight>
                  <a:schemeClr val="lt2"/>
                </a:highlight>
              </a:rPr>
              <a:t>Manutenção da informação célula-específica ou espaço-específica </a:t>
            </a:r>
            <a:endParaRPr sz="1600">
              <a:solidFill>
                <a:schemeClr val="dk1"/>
              </a:solidFill>
              <a:highlight>
                <a:schemeClr val="lt2"/>
              </a:highlight>
            </a:endParaRPr>
          </a:p>
          <a:p xmlns:a="http://schemas.openxmlformats.org/drawingml/2006/main">
            <a:pPr marL="0" lvl="0" indent="457200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endParaRPr sz="1600">
              <a:solidFill>
                <a:schemeClr val="dk1"/>
              </a:solidFill>
            </a:endParaRPr>
          </a:p>
        </p:txBody>
      </p:sp>
      <p:sp>
        <p:nvSpPr>
          <p:cNvPr id="242" name="Google Shape;242;p15">
            <a:extLst xmlns:a="http://schemas.openxmlformats.org/drawingml/2006/main">
              <a:ext uri="{FF2B5EF4-FFF2-40B4-BE49-F238E27FC236}">
                <a16:creationId xmlns:a16="http://schemas.microsoft.com/office/drawing/2014/main" id="{712EED69-8841-484A-9C01-C231216D1CD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351000" y="3284375"/>
            <a:ext cx="2451900" cy="981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sz="1600">
                <a:solidFill>
                  <a:schemeClr val="dk1"/>
                </a:solidFill>
                <a:highlight>
                  <a:schemeClr val="lt2"/>
                </a:highlight>
              </a:rPr>
              <a:t>Análise de um conjunto de dados de alta heterogeneidade e dimensionalidade </a:t>
            </a:r>
            <a:endParaRPr sz="1600">
              <a:solidFill>
                <a:schemeClr val="dk1"/>
              </a:solidFill>
              <a:highlight>
                <a:schemeClr val="lt2"/>
              </a:highlight>
            </a:endParaRPr>
          </a:p>
          <a:p xmlns:a="http://schemas.openxmlformats.org/drawingml/2006/main">
            <a:pPr marL="0" lvl="0" indent="457200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endParaRPr sz="160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4982116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7" name="Google Shape;247;p16">
            <a:extLst xmlns:a="http://schemas.openxmlformats.org/drawingml/2006/main">
              <a:ext uri="{FF2B5EF4-FFF2-40B4-BE49-F238E27FC236}">
                <a16:creationId xmlns:a16="http://schemas.microsoft.com/office/drawing/2014/main" id="{0E777B11-2EAC-45DC-B511-1CC81EA9C83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15525" y="526350"/>
            <a:ext cx="8299500" cy="40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sz="4200"/>
              <a:t>Métodos de transcriptômica de células individuais</a:t>
            </a:r>
            <a:endParaRPr sz="5700"/>
          </a:p>
        </p:txBody>
      </p:sp>
    </p:spTree>
    <p:extLst>
      <p:ext uri="{BB962C8B-B14F-4D97-AF65-F5344CB8AC3E}">
        <p14:creationId xmlns:p14="http://schemas.microsoft.com/office/powerpoint/2010/main" val="365758532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2" name="Google Shape;252;p17">
            <a:extLst xmlns:a="http://schemas.openxmlformats.org/drawingml/2006/main">
              <a:ext uri="{FF2B5EF4-FFF2-40B4-BE49-F238E27FC236}">
                <a16:creationId xmlns:a16="http://schemas.microsoft.com/office/drawing/2014/main" id="{1AE5511B-028D-4A64-83E6-DF304E9CA44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5615400" cy="70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1800" b="1"/>
              <a:t>Single-cell RNA-seq (scRNA-seq)</a:t>
            </a:r>
            <a:endParaRPr sz="1800" b="1"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1800"/>
              <a:t>Evolução de tecnologias</a:t>
            </a:r>
            <a:endParaRPr sz="1800"/>
          </a:p>
        </p:txBody>
      </p:sp>
      <p:pic>
        <p:nvPicPr>
          <p:cNvPr id="267" name="Google Shape;254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765f9b6fc6e494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rot="0" flipH="0" flipV="0">
            <a:off x="3814720" y="928664"/>
            <a:ext cx="4933741" cy="225268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68" name="Google Shape;255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218a6899bca45d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rot="5400000" flipH="0" flipV="0">
            <a:off x="4762084" y="865186"/>
            <a:ext cx="266177" cy="21116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cxnSp>
        <p:nvCxnSpPr>
          <p:cNvPr id="269" name="Google Shape;256;p17"/>
          <p:cNvCxnSpPr/>
          <p:nvPr/>
        </p:nvCxnSpPr>
        <p:spPr>
          <a:xfrm xmlns:a="http://schemas.openxmlformats.org/drawingml/2006/main">
            <a:off x="596025" y="2774750"/>
            <a:ext cx="19206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flat">
            <a:solidFill>
              <a:schemeClr val="dk2"/>
            </a:solidFill>
            <a:prstDash val="solid"/>
            <a:round/>
            <a:headEnd type="oval" w="med" len="med"/>
            <a:tailEnd type="oval" w="med" len="med"/>
          </a:ln>
        </p:spPr>
      </p:cxnSp>
      <p:pic>
        <p:nvPicPr>
          <p:cNvPr id="270" name="Google Shape;257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5b357753e75490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214925" y="3339488"/>
            <a:ext cx="2262300" cy="112403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58" name="Google Shape;258;p17">
            <a:extLst xmlns:a="http://schemas.openxmlformats.org/drawingml/2006/main">
              <a:ext uri="{FF2B5EF4-FFF2-40B4-BE49-F238E27FC236}">
                <a16:creationId xmlns:a16="http://schemas.microsoft.com/office/drawing/2014/main" id="{BB328D54-A70F-4ECA-B0F3-D3126E824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5" y="1572388"/>
            <a:ext cx="22623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sz="1500" b="1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Métodos baseados em poços (</a:t>
            </a:r>
            <a:r>
              <a:rPr sz="1500" b="1" i="1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plate-based</a:t>
            </a:r>
            <a:r>
              <a:rPr sz="1500" b="1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)</a:t>
            </a:r>
            <a:endParaRPr sz="1500" b="1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259" name="Google Shape;259;p17">
            <a:extLst xmlns:a="http://schemas.openxmlformats.org/drawingml/2006/main">
              <a:ext uri="{FF2B5EF4-FFF2-40B4-BE49-F238E27FC236}">
                <a16:creationId xmlns:a16="http://schemas.microsoft.com/office/drawing/2014/main" id="{C0132D9E-B28C-4ECD-B2A2-62D1C30F9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200" y="2344250"/>
            <a:ext cx="825900" cy="38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lt1"/>
                </a:solidFill>
                <a:highlight>
                  <a:schemeClr val="dk2"/>
                </a:highlight>
                <a:latin typeface="Proxima Nova"/>
                <a:ea typeface="Proxima Nova"/>
                <a:cs typeface="Proxima Nova"/>
              </a:rPr>
              <a:t>2009</a:t>
            </a:r>
            <a:endParaRPr sz="1200" b="0" i="0" u="none" cap="none">
              <a:solidFill>
                <a:schemeClr val="lt1"/>
              </a:solidFill>
              <a:highlight>
                <a:schemeClr val="dk2"/>
              </a:highlight>
              <a:latin typeface="Proxima Nova"/>
              <a:ea typeface="Proxima Nova"/>
              <a:cs typeface="Proxima Nova"/>
            </a:endParaRPr>
          </a:p>
        </p:txBody>
      </p:sp>
      <p:sp>
        <p:nvSpPr>
          <p:cNvPr id="260" name="Google Shape;260;p17">
            <a:extLst xmlns:a="http://schemas.openxmlformats.org/drawingml/2006/main">
              <a:ext uri="{FF2B5EF4-FFF2-40B4-BE49-F238E27FC236}">
                <a16:creationId xmlns:a16="http://schemas.microsoft.com/office/drawing/2014/main" id="{273700DC-E05C-4EA9-B541-18F3730A6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1025" y="2344250"/>
            <a:ext cx="825900" cy="38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lt1"/>
                </a:solidFill>
                <a:highlight>
                  <a:schemeClr val="dk2"/>
                </a:highlight>
                <a:latin typeface="Proxima Nova"/>
                <a:ea typeface="Proxima Nova"/>
                <a:cs typeface="Proxima Nova"/>
              </a:rPr>
              <a:t>2012</a:t>
            </a:r>
            <a:endParaRPr sz="1200" b="0" i="0" u="none" cap="none">
              <a:solidFill>
                <a:schemeClr val="lt1"/>
              </a:solidFill>
              <a:highlight>
                <a:schemeClr val="dk2"/>
              </a:highlight>
              <a:latin typeface="Proxima Nova"/>
              <a:ea typeface="Proxima Nova"/>
              <a:cs typeface="Proxima Nova"/>
            </a:endParaRPr>
          </a:p>
        </p:txBody>
      </p:sp>
      <p:sp>
        <p:nvSpPr>
          <p:cNvPr id="261" name="Google Shape;261;p17">
            <a:extLst xmlns:a="http://schemas.openxmlformats.org/drawingml/2006/main">
              <a:ext uri="{FF2B5EF4-FFF2-40B4-BE49-F238E27FC236}">
                <a16:creationId xmlns:a16="http://schemas.microsoft.com/office/drawing/2014/main" id="{6FA7FB56-2AD7-4CA7-A3B5-F35BACFD5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4025" y="3154150"/>
            <a:ext cx="12399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chemeClr val="lt1"/>
                </a:solidFill>
                <a:highlight>
                  <a:schemeClr val="accent5"/>
                </a:highlight>
                <a:latin typeface="Proxima Nova"/>
                <a:ea typeface="Proxima Nova"/>
                <a:cs typeface="Proxima Nova"/>
              </a:rPr>
              <a:t>SMART-Seq </a:t>
            </a:r>
            <a:endParaRPr sz="1400" b="0" i="0" u="none" cap="none">
              <a:solidFill>
                <a:schemeClr val="lt1"/>
              </a:solidFill>
              <a:highlight>
                <a:schemeClr val="accent5"/>
              </a:highlight>
              <a:latin typeface="Proxima Nova"/>
              <a:ea typeface="Proxima Nova"/>
              <a:cs typeface="Proxima Nova"/>
            </a:endParaRPr>
          </a:p>
        </p:txBody>
      </p:sp>
      <p:cxnSp>
        <p:nvCxnSpPr>
          <p:cNvPr id="275" name="Google Shape;262;p17"/>
          <p:cNvCxnSpPr/>
          <p:nvPr/>
        </p:nvCxnSpPr>
        <p:spPr>
          <a:xfrm xmlns:a="http://schemas.openxmlformats.org/drawingml/2006/main">
            <a:off x="2432175" y="2874350"/>
            <a:ext cx="3600" cy="32400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chemeClr val="accent5"/>
            </a:solidFill>
            <a:prstDash val="dash"/>
            <a:round/>
            <a:headEnd type="none" w="sm" len="sm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1494203986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87" name="Google Shape;267;p18"/>
          <p:cNvCxnSpPr/>
          <p:nvPr/>
        </p:nvCxnSpPr>
        <p:spPr>
          <a:xfrm xmlns:a="http://schemas.openxmlformats.org/drawingml/2006/main">
            <a:off x="596025" y="2774750"/>
            <a:ext cx="19206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flat">
            <a:solidFill>
              <a:schemeClr val="dk2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288" name="Google Shape;268;p18"/>
          <p:cNvCxnSpPr/>
          <p:nvPr/>
        </p:nvCxnSpPr>
        <p:spPr>
          <a:xfrm xmlns:a="http://schemas.openxmlformats.org/drawingml/2006/main">
            <a:off x="2516625" y="2774750"/>
            <a:ext cx="1335600" cy="360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flat">
            <a:solidFill>
              <a:schemeClr val="dk2"/>
            </a:solidFill>
            <a:prstDash val="solid"/>
            <a:round/>
            <a:headEnd type="none" w="sm" len="sm"/>
            <a:tailEnd type="oval" w="med" len="med"/>
          </a:ln>
        </p:spPr>
      </p:cxnSp>
      <p:sp>
        <p:nvSpPr>
          <p:cNvPr id="269" name="Google Shape;269;p18">
            <a:extLst xmlns:a="http://schemas.openxmlformats.org/drawingml/2006/main">
              <a:ext uri="{FF2B5EF4-FFF2-40B4-BE49-F238E27FC236}">
                <a16:creationId xmlns:a16="http://schemas.microsoft.com/office/drawing/2014/main" id="{89F7FA27-4766-481D-B70D-3503FE5FC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1025" y="2344250"/>
            <a:ext cx="825900" cy="38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lt1"/>
                </a:solidFill>
                <a:highlight>
                  <a:schemeClr val="dk2"/>
                </a:highlight>
                <a:latin typeface="Proxima Nova"/>
                <a:ea typeface="Proxima Nova"/>
                <a:cs typeface="Proxima Nova"/>
              </a:rPr>
              <a:t>2012</a:t>
            </a:r>
            <a:endParaRPr sz="1200" b="0" i="0" u="none" cap="none">
              <a:solidFill>
                <a:schemeClr val="lt1"/>
              </a:solidFill>
              <a:highlight>
                <a:schemeClr val="dk2"/>
              </a:highlight>
              <a:latin typeface="Proxima Nova"/>
              <a:ea typeface="Proxima Nova"/>
              <a:cs typeface="Proxima Nova"/>
            </a:endParaRPr>
          </a:p>
        </p:txBody>
      </p:sp>
      <p:sp>
        <p:nvSpPr>
          <p:cNvPr id="270" name="Google Shape;270;p18">
            <a:extLst xmlns:a="http://schemas.openxmlformats.org/drawingml/2006/main">
              <a:ext uri="{FF2B5EF4-FFF2-40B4-BE49-F238E27FC236}">
                <a16:creationId xmlns:a16="http://schemas.microsoft.com/office/drawing/2014/main" id="{AD395393-DA8C-4B1D-BA77-096C396AD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4025" y="3154150"/>
            <a:ext cx="12399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chemeClr val="lt1"/>
                </a:solidFill>
                <a:highlight>
                  <a:schemeClr val="accent5"/>
                </a:highlight>
                <a:latin typeface="Proxima Nova"/>
                <a:ea typeface="Proxima Nova"/>
                <a:cs typeface="Proxima Nova"/>
              </a:rPr>
              <a:t>SMART-Seq </a:t>
            </a:r>
            <a:endParaRPr sz="1400" b="0" i="0" u="none" cap="none">
              <a:solidFill>
                <a:schemeClr val="lt1"/>
              </a:solidFill>
              <a:highlight>
                <a:schemeClr val="accent5"/>
              </a:highlight>
              <a:latin typeface="Proxima Nova"/>
              <a:ea typeface="Proxima Nova"/>
              <a:cs typeface="Proxima Nova"/>
            </a:endParaRPr>
          </a:p>
        </p:txBody>
      </p:sp>
      <p:sp>
        <p:nvSpPr>
          <p:cNvPr id="271" name="Google Shape;271;p18">
            <a:extLst xmlns:a="http://schemas.openxmlformats.org/drawingml/2006/main">
              <a:ext uri="{FF2B5EF4-FFF2-40B4-BE49-F238E27FC236}">
                <a16:creationId xmlns:a16="http://schemas.microsoft.com/office/drawing/2014/main" id="{AB43EB5D-13E3-4346-AB58-2067404F3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5900" y="1504150"/>
            <a:ext cx="2262300" cy="794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sz="1500" b="1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Métodos baseados em gotículas (</a:t>
            </a:r>
            <a:r>
              <a:rPr sz="1500" b="1" i="1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droplet-based</a:t>
            </a:r>
            <a:r>
              <a:rPr sz="1500" b="1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)</a:t>
            </a:r>
            <a:endParaRPr sz="1500" b="1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272" name="Google Shape;272;p18">
            <a:extLst xmlns:a="http://schemas.openxmlformats.org/drawingml/2006/main">
              <a:ext uri="{FF2B5EF4-FFF2-40B4-BE49-F238E27FC236}">
                <a16:creationId xmlns:a16="http://schemas.microsoft.com/office/drawing/2014/main" id="{C0C762B3-99CC-4AE1-864D-67E8047C1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200" y="2344250"/>
            <a:ext cx="825900" cy="38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lt1"/>
                </a:solidFill>
                <a:highlight>
                  <a:schemeClr val="dk2"/>
                </a:highlight>
                <a:latin typeface="Proxima Nova"/>
                <a:ea typeface="Proxima Nova"/>
                <a:cs typeface="Proxima Nova"/>
              </a:rPr>
              <a:t>2009</a:t>
            </a:r>
            <a:endParaRPr sz="1200" b="0" i="0" u="none" cap="none">
              <a:solidFill>
                <a:schemeClr val="lt1"/>
              </a:solidFill>
              <a:highlight>
                <a:schemeClr val="dk2"/>
              </a:highlight>
              <a:latin typeface="Proxima Nova"/>
              <a:ea typeface="Proxima Nova"/>
              <a:cs typeface="Proxima Nova"/>
            </a:endParaRPr>
          </a:p>
        </p:txBody>
      </p:sp>
      <p:pic>
        <p:nvPicPr>
          <p:cNvPr id="293" name="Google Shape;273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5af19f9154e406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764175" y="188675"/>
            <a:ext cx="4379826" cy="27627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74" name="Google Shape;274;p18">
            <a:extLst xmlns:a="http://schemas.openxmlformats.org/drawingml/2006/main">
              <a:ext uri="{FF2B5EF4-FFF2-40B4-BE49-F238E27FC236}">
                <a16:creationId xmlns:a16="http://schemas.microsoft.com/office/drawing/2014/main" id="{0BA9A792-99D2-4340-8BF7-D42DEA982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9050" y="2344250"/>
            <a:ext cx="825900" cy="38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lt1"/>
                </a:solidFill>
                <a:highlight>
                  <a:schemeClr val="dk2"/>
                </a:highlight>
                <a:latin typeface="Proxima Nova"/>
                <a:ea typeface="Proxima Nova"/>
                <a:cs typeface="Proxima Nova"/>
              </a:rPr>
              <a:t>2016</a:t>
            </a:r>
            <a:endParaRPr sz="1200" b="0" i="0" u="none" cap="none">
              <a:solidFill>
                <a:schemeClr val="lt1"/>
              </a:solidFill>
              <a:highlight>
                <a:schemeClr val="dk2"/>
              </a:highlight>
              <a:latin typeface="Proxima Nova"/>
              <a:ea typeface="Proxima Nova"/>
              <a:cs typeface="Proxima Nova"/>
            </a:endParaRPr>
          </a:p>
        </p:txBody>
      </p:sp>
      <p:pic>
        <p:nvPicPr>
          <p:cNvPr id="295" name="Google Shape;275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f2066bef70d4f0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038225" y="3162350"/>
            <a:ext cx="1819468" cy="1169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cxnSp>
        <p:nvCxnSpPr>
          <p:cNvPr id="296" name="Google Shape;276;p18"/>
          <p:cNvCxnSpPr/>
          <p:nvPr/>
        </p:nvCxnSpPr>
        <p:spPr>
          <a:xfrm xmlns:a="http://schemas.openxmlformats.org/drawingml/2006/main" rot="10800000" flipH="1">
            <a:off x="3855600" y="2774750"/>
            <a:ext cx="792600" cy="360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flat">
            <a:solidFill>
              <a:schemeClr val="dk2"/>
            </a:solidFill>
            <a:prstDash val="solid"/>
            <a:round/>
            <a:headEnd type="none" w="sm" len="sm"/>
            <a:tailEnd type="oval" w="med" len="med"/>
          </a:ln>
        </p:spPr>
      </p:cxnSp>
      <p:sp>
        <p:nvSpPr>
          <p:cNvPr id="277" name="Google Shape;277;p18">
            <a:extLst xmlns:a="http://schemas.openxmlformats.org/drawingml/2006/main">
              <a:ext uri="{FF2B5EF4-FFF2-40B4-BE49-F238E27FC236}">
                <a16:creationId xmlns:a16="http://schemas.microsoft.com/office/drawing/2014/main" id="{6FEFEC1C-4543-4B95-A3B4-FCDE30F5E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588" y="2344250"/>
            <a:ext cx="825900" cy="38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lt1"/>
                </a:solidFill>
                <a:highlight>
                  <a:schemeClr val="dk2"/>
                </a:highlight>
                <a:latin typeface="Proxima Nova"/>
                <a:ea typeface="Proxima Nova"/>
                <a:cs typeface="Proxima Nova"/>
              </a:rPr>
              <a:t>2015</a:t>
            </a:r>
            <a:endParaRPr sz="1200" b="0" i="0" u="none" cap="none">
              <a:solidFill>
                <a:schemeClr val="lt1"/>
              </a:solidFill>
              <a:highlight>
                <a:schemeClr val="dk2"/>
              </a:highlight>
              <a:latin typeface="Proxima Nova"/>
              <a:ea typeface="Proxima Nova"/>
              <a:cs typeface="Proxima Nova"/>
            </a:endParaRPr>
          </a:p>
        </p:txBody>
      </p:sp>
      <p:sp>
        <p:nvSpPr>
          <p:cNvPr id="278" name="Google Shape;278;p18">
            <a:extLst xmlns:a="http://schemas.openxmlformats.org/drawingml/2006/main">
              <a:ext uri="{FF2B5EF4-FFF2-40B4-BE49-F238E27FC236}">
                <a16:creationId xmlns:a16="http://schemas.microsoft.com/office/drawing/2014/main" id="{E1C5DA2C-7511-4DB4-B73C-79F047684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5600" y="3863750"/>
            <a:ext cx="12399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chemeClr val="lt1"/>
                </a:solidFill>
                <a:highlight>
                  <a:schemeClr val="accent5"/>
                </a:highlight>
                <a:latin typeface="Proxima Nova"/>
                <a:ea typeface="Proxima Nova"/>
                <a:cs typeface="Proxima Nova"/>
              </a:rPr>
              <a:t>Drop-seq</a:t>
            </a:r>
            <a:endParaRPr sz="1400" b="0" i="0" u="none" cap="none">
              <a:solidFill>
                <a:schemeClr val="lt1"/>
              </a:solidFill>
              <a:highlight>
                <a:schemeClr val="accent5"/>
              </a:highlight>
              <a:latin typeface="Proxima Nova"/>
              <a:ea typeface="Proxima Nova"/>
              <a:cs typeface="Proxima Nova"/>
            </a:endParaRPr>
          </a:p>
        </p:txBody>
      </p:sp>
      <p:cxnSp>
        <p:nvCxnSpPr>
          <p:cNvPr id="299" name="Google Shape;279;p18"/>
          <p:cNvCxnSpPr/>
          <p:nvPr/>
        </p:nvCxnSpPr>
        <p:spPr>
          <a:xfrm xmlns:a="http://schemas.openxmlformats.org/drawingml/2006/main">
            <a:off x="2432175" y="2874350"/>
            <a:ext cx="3600" cy="32400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chemeClr val="accent5"/>
            </a:solidFill>
            <a:prstDash val="dash"/>
            <a:round/>
            <a:headEnd type="none" w="sm" len="sm"/>
            <a:tailEnd type="triangle" w="med" len="med"/>
          </a:ln>
        </p:spPr>
      </p:cxnSp>
      <p:cxnSp>
        <p:nvCxnSpPr>
          <p:cNvPr id="300" name="Google Shape;280;p18"/>
          <p:cNvCxnSpPr/>
          <p:nvPr/>
        </p:nvCxnSpPr>
        <p:spPr>
          <a:xfrm xmlns:a="http://schemas.openxmlformats.org/drawingml/2006/main">
            <a:off x="3796950" y="2910350"/>
            <a:ext cx="3600" cy="97200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chemeClr val="accent5"/>
            </a:solidFill>
            <a:prstDash val="dash"/>
            <a:round/>
            <a:headEnd type="none" w="sm" len="sm"/>
            <a:tailEnd type="triangle" w="med" len="med"/>
          </a:ln>
        </p:spPr>
      </p:cxnSp>
      <p:cxnSp>
        <p:nvCxnSpPr>
          <p:cNvPr id="301" name="Google Shape;281;p18"/>
          <p:cNvCxnSpPr/>
          <p:nvPr/>
        </p:nvCxnSpPr>
        <p:spPr>
          <a:xfrm xmlns:a="http://schemas.openxmlformats.org/drawingml/2006/main">
            <a:off x="4570200" y="2910350"/>
            <a:ext cx="3600" cy="25200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chemeClr val="accent5"/>
            </a:solidFill>
            <a:prstDash val="dash"/>
            <a:round/>
            <a:headEnd type="none" w="sm" len="sm"/>
            <a:tailEnd type="triangle" w="med" len="med"/>
          </a:ln>
        </p:spPr>
      </p:cxnSp>
      <p:sp>
        <p:nvSpPr>
          <p:cNvPr id="282" name="Google Shape;282;p18">
            <a:extLst xmlns:a="http://schemas.openxmlformats.org/drawingml/2006/main">
              <a:ext uri="{FF2B5EF4-FFF2-40B4-BE49-F238E27FC236}">
                <a16:creationId xmlns:a16="http://schemas.microsoft.com/office/drawing/2014/main" id="{F4F1677C-52E6-4EA2-98D9-ADFED1F79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050" y="3129300"/>
            <a:ext cx="12399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chemeClr val="lt1"/>
                </a:solidFill>
                <a:highlight>
                  <a:schemeClr val="accent5"/>
                </a:highlight>
                <a:latin typeface="Proxima Nova"/>
                <a:ea typeface="Proxima Nova"/>
                <a:cs typeface="Proxima Nova"/>
              </a:rPr>
              <a:t>Chromium (GemCode)</a:t>
            </a:r>
            <a:endParaRPr sz="1400" b="0" i="0" u="none" cap="none">
              <a:solidFill>
                <a:schemeClr val="lt1"/>
              </a:solidFill>
              <a:highlight>
                <a:schemeClr val="accent5"/>
              </a:highlight>
              <a:latin typeface="Proxima Nova"/>
              <a:ea typeface="Proxima Nova"/>
              <a:cs typeface="Proxima Nova"/>
            </a:endParaRPr>
          </a:p>
        </p:txBody>
      </p:sp>
      <p:sp>
        <p:nvSpPr>
          <p:cNvPr id="283" name="Google Shape;283;p18">
            <a:extLst xmlns:a="http://schemas.openxmlformats.org/drawingml/2006/main">
              <a:ext uri="{FF2B5EF4-FFF2-40B4-BE49-F238E27FC236}">
                <a16:creationId xmlns:a16="http://schemas.microsoft.com/office/drawing/2014/main" id="{9A8CA328-902D-4A2E-87F2-9E1D6BF507A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5615400" cy="70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1800" b="1"/>
              <a:t>Single-cell RNA-seq (scRNA-seq)</a:t>
            </a:r>
            <a:endParaRPr sz="1800" b="1"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1800"/>
              <a:t>Evolução de tecnologias</a:t>
            </a:r>
            <a:endParaRPr sz="1800"/>
          </a:p>
        </p:txBody>
      </p:sp>
      <p:pic>
        <p:nvPicPr>
          <p:cNvPr id="304" name="Google Shape;284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5ab4d1c80a3480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303975" y="3198350"/>
            <a:ext cx="1622225" cy="12900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669836246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17" name="Google Shape;289;p19"/>
          <p:cNvCxnSpPr/>
          <p:nvPr/>
        </p:nvCxnSpPr>
        <p:spPr>
          <a:xfrm xmlns:a="http://schemas.openxmlformats.org/drawingml/2006/main" rot="10800000" flipH="1">
            <a:off x="4437225" y="2771150"/>
            <a:ext cx="4139100" cy="360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flat">
            <a:solidFill>
              <a:schemeClr val="dk2"/>
            </a:solidFill>
            <a:prstDash val="solid"/>
            <a:round/>
            <a:headEnd type="none" w="sm" len="sm"/>
            <a:tailEnd type="oval" w="med" len="med"/>
          </a:ln>
        </p:spPr>
      </p:cxnSp>
      <p:sp>
        <p:nvSpPr>
          <p:cNvPr id="290" name="Google Shape;290;p19">
            <a:extLst xmlns:a="http://schemas.openxmlformats.org/drawingml/2006/main">
              <a:ext uri="{FF2B5EF4-FFF2-40B4-BE49-F238E27FC236}">
                <a16:creationId xmlns:a16="http://schemas.microsoft.com/office/drawing/2014/main" id="{165293C5-5D31-4E87-9055-593B222E2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8900" y="2344250"/>
            <a:ext cx="825900" cy="38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lt1"/>
                </a:solidFill>
                <a:highlight>
                  <a:schemeClr val="dk2"/>
                </a:highlight>
                <a:latin typeface="Proxima Nova"/>
                <a:ea typeface="Proxima Nova"/>
                <a:cs typeface="Proxima Nova"/>
              </a:rPr>
              <a:t>2026</a:t>
            </a:r>
            <a:endParaRPr sz="1200" b="0" i="0" u="none" cap="none">
              <a:solidFill>
                <a:schemeClr val="lt1"/>
              </a:solidFill>
              <a:highlight>
                <a:schemeClr val="dk2"/>
              </a:highlight>
              <a:latin typeface="Proxima Nova"/>
              <a:ea typeface="Proxima Nova"/>
              <a:cs typeface="Proxima Nova"/>
            </a:endParaRPr>
          </a:p>
        </p:txBody>
      </p:sp>
      <p:cxnSp>
        <p:nvCxnSpPr>
          <p:cNvPr id="319" name="Google Shape;291;p19"/>
          <p:cNvCxnSpPr/>
          <p:nvPr/>
        </p:nvCxnSpPr>
        <p:spPr>
          <a:xfrm xmlns:a="http://schemas.openxmlformats.org/drawingml/2006/main">
            <a:off x="596025" y="2774750"/>
            <a:ext cx="19206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flat">
            <a:solidFill>
              <a:schemeClr val="dk2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320" name="Google Shape;292;p19"/>
          <p:cNvCxnSpPr/>
          <p:nvPr/>
        </p:nvCxnSpPr>
        <p:spPr>
          <a:xfrm xmlns:a="http://schemas.openxmlformats.org/drawingml/2006/main">
            <a:off x="2516625" y="2774750"/>
            <a:ext cx="1335600" cy="360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flat">
            <a:solidFill>
              <a:schemeClr val="dk2"/>
            </a:solidFill>
            <a:prstDash val="solid"/>
            <a:round/>
            <a:headEnd type="none" w="sm" len="sm"/>
            <a:tailEnd type="oval" w="med" len="med"/>
          </a:ln>
        </p:spPr>
      </p:cxnSp>
      <p:sp>
        <p:nvSpPr>
          <p:cNvPr id="293" name="Google Shape;293;p19">
            <a:extLst xmlns:a="http://schemas.openxmlformats.org/drawingml/2006/main">
              <a:ext uri="{FF2B5EF4-FFF2-40B4-BE49-F238E27FC236}">
                <a16:creationId xmlns:a16="http://schemas.microsoft.com/office/drawing/2014/main" id="{CB835AB8-62D8-4286-9DA3-DB091CF0B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200" y="2344250"/>
            <a:ext cx="825900" cy="38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lt1"/>
                </a:solidFill>
                <a:highlight>
                  <a:schemeClr val="dk2"/>
                </a:highlight>
                <a:latin typeface="Proxima Nova"/>
                <a:ea typeface="Proxima Nova"/>
                <a:cs typeface="Proxima Nova"/>
              </a:rPr>
              <a:t>2009</a:t>
            </a:r>
            <a:endParaRPr sz="1200" b="0" i="0" u="none" cap="none">
              <a:solidFill>
                <a:schemeClr val="lt1"/>
              </a:solidFill>
              <a:highlight>
                <a:schemeClr val="dk2"/>
              </a:highlight>
              <a:latin typeface="Proxima Nova"/>
              <a:ea typeface="Proxima Nova"/>
              <a:cs typeface="Proxima Nova"/>
            </a:endParaRPr>
          </a:p>
        </p:txBody>
      </p:sp>
      <p:sp>
        <p:nvSpPr>
          <p:cNvPr id="294" name="Google Shape;294;p19">
            <a:extLst xmlns:a="http://schemas.openxmlformats.org/drawingml/2006/main">
              <a:ext uri="{FF2B5EF4-FFF2-40B4-BE49-F238E27FC236}">
                <a16:creationId xmlns:a16="http://schemas.microsoft.com/office/drawing/2014/main" id="{FACEA9B3-9652-4FA0-9B14-C823A4BE0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9050" y="2344250"/>
            <a:ext cx="825900" cy="38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lt1"/>
                </a:solidFill>
                <a:highlight>
                  <a:schemeClr val="dk2"/>
                </a:highlight>
                <a:latin typeface="Proxima Nova"/>
                <a:ea typeface="Proxima Nova"/>
                <a:cs typeface="Proxima Nova"/>
              </a:rPr>
              <a:t>2016</a:t>
            </a:r>
            <a:endParaRPr sz="1200" b="0" i="0" u="none" cap="none">
              <a:solidFill>
                <a:schemeClr val="lt1"/>
              </a:solidFill>
              <a:highlight>
                <a:schemeClr val="dk2"/>
              </a:highlight>
              <a:latin typeface="Proxima Nova"/>
              <a:ea typeface="Proxima Nova"/>
              <a:cs typeface="Proxima Nova"/>
            </a:endParaRPr>
          </a:p>
        </p:txBody>
      </p:sp>
      <p:sp>
        <p:nvSpPr>
          <p:cNvPr id="295" name="Google Shape;295;p19">
            <a:extLst xmlns:a="http://schemas.openxmlformats.org/drawingml/2006/main">
              <a:ext uri="{FF2B5EF4-FFF2-40B4-BE49-F238E27FC236}">
                <a16:creationId xmlns:a16="http://schemas.microsoft.com/office/drawing/2014/main" id="{30A06CA6-A8AF-4EE4-A54D-EE863546F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050" y="3129300"/>
            <a:ext cx="12399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chemeClr val="lt1"/>
                </a:solidFill>
                <a:highlight>
                  <a:schemeClr val="accent5"/>
                </a:highlight>
                <a:latin typeface="Proxima Nova"/>
                <a:ea typeface="Proxima Nova"/>
                <a:cs typeface="Proxima Nova"/>
              </a:rPr>
              <a:t>Chromium (GemCode)</a:t>
            </a:r>
            <a:endParaRPr sz="1400" b="0" i="0" u="none" cap="none">
              <a:solidFill>
                <a:schemeClr val="lt1"/>
              </a:solidFill>
              <a:highlight>
                <a:schemeClr val="accent5"/>
              </a:highlight>
              <a:latin typeface="Proxima Nova"/>
              <a:ea typeface="Proxima Nova"/>
              <a:cs typeface="Proxima Nova"/>
            </a:endParaRPr>
          </a:p>
        </p:txBody>
      </p:sp>
      <p:cxnSp>
        <p:nvCxnSpPr>
          <p:cNvPr id="324" name="Google Shape;296;p19"/>
          <p:cNvCxnSpPr/>
          <p:nvPr/>
        </p:nvCxnSpPr>
        <p:spPr>
          <a:xfrm xmlns:a="http://schemas.openxmlformats.org/drawingml/2006/main" rot="10800000" flipH="1">
            <a:off x="3855600" y="2774750"/>
            <a:ext cx="792600" cy="360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flat">
            <a:solidFill>
              <a:schemeClr val="dk2"/>
            </a:solidFill>
            <a:prstDash val="solid"/>
            <a:round/>
            <a:headEnd type="none" w="sm" len="sm"/>
            <a:tailEnd type="oval" w="med" len="med"/>
          </a:ln>
        </p:spPr>
      </p:cxnSp>
      <p:sp>
        <p:nvSpPr>
          <p:cNvPr id="297" name="Google Shape;297;p19">
            <a:extLst xmlns:a="http://schemas.openxmlformats.org/drawingml/2006/main">
              <a:ext uri="{FF2B5EF4-FFF2-40B4-BE49-F238E27FC236}">
                <a16:creationId xmlns:a16="http://schemas.microsoft.com/office/drawing/2014/main" id="{BE585DC5-BC0B-4008-88D3-51B60C000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588" y="2344250"/>
            <a:ext cx="825900" cy="38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lt1"/>
                </a:solidFill>
                <a:highlight>
                  <a:schemeClr val="dk2"/>
                </a:highlight>
                <a:latin typeface="Proxima Nova"/>
                <a:ea typeface="Proxima Nova"/>
                <a:cs typeface="Proxima Nova"/>
              </a:rPr>
              <a:t>2015</a:t>
            </a:r>
            <a:endParaRPr sz="1200" b="0" i="0" u="none" cap="none">
              <a:solidFill>
                <a:schemeClr val="lt1"/>
              </a:solidFill>
              <a:highlight>
                <a:schemeClr val="dk2"/>
              </a:highlight>
              <a:latin typeface="Proxima Nova"/>
              <a:ea typeface="Proxima Nova"/>
              <a:cs typeface="Proxima Nova"/>
            </a:endParaRPr>
          </a:p>
        </p:txBody>
      </p:sp>
      <p:cxnSp>
        <p:nvCxnSpPr>
          <p:cNvPr id="326" name="Google Shape;298;p19"/>
          <p:cNvCxnSpPr/>
          <p:nvPr/>
        </p:nvCxnSpPr>
        <p:spPr>
          <a:xfrm xmlns:a="http://schemas.openxmlformats.org/drawingml/2006/main">
            <a:off x="4570200" y="2910350"/>
            <a:ext cx="3600" cy="25200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chemeClr val="accent5"/>
            </a:solidFill>
            <a:prstDash val="dash"/>
            <a:round/>
            <a:headEnd type="none" w="sm" len="sm"/>
            <a:tailEnd type="triangle" w="med" len="med"/>
          </a:ln>
        </p:spPr>
      </p:cxnSp>
      <p:sp>
        <p:nvSpPr>
          <p:cNvPr id="299" name="Google Shape;299;p19">
            <a:extLst xmlns:a="http://schemas.openxmlformats.org/drawingml/2006/main">
              <a:ext uri="{FF2B5EF4-FFF2-40B4-BE49-F238E27FC236}">
                <a16:creationId xmlns:a16="http://schemas.microsoft.com/office/drawing/2014/main" id="{D1B50B03-1524-424B-BA0E-C49F3FC6B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3300" y="4181950"/>
            <a:ext cx="13356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chemeClr val="lt1"/>
                </a:solidFill>
                <a:highlight>
                  <a:schemeClr val="accent5"/>
                </a:highlight>
                <a:latin typeface="Proxima Nova"/>
                <a:ea typeface="Proxima Nova"/>
                <a:cs typeface="Proxima Nova"/>
              </a:rPr>
              <a:t>Microwell-seq</a:t>
            </a:r>
            <a:endParaRPr sz="1400" b="0" i="0" u="none" cap="none">
              <a:solidFill>
                <a:schemeClr val="lt1"/>
              </a:solidFill>
              <a:highlight>
                <a:schemeClr val="accent5"/>
              </a:highlight>
              <a:latin typeface="Proxima Nova"/>
              <a:ea typeface="Proxima Nova"/>
              <a:cs typeface="Proxima Nova"/>
            </a:endParaRPr>
          </a:p>
        </p:txBody>
      </p:sp>
      <p:sp>
        <p:nvSpPr>
          <p:cNvPr id="300" name="Google Shape;300;p19">
            <a:extLst xmlns:a="http://schemas.openxmlformats.org/drawingml/2006/main">
              <a:ext uri="{FF2B5EF4-FFF2-40B4-BE49-F238E27FC236}">
                <a16:creationId xmlns:a16="http://schemas.microsoft.com/office/drawing/2014/main" id="{F1C561F4-75B4-405C-A2AB-991EE3FD8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4775" y="3104900"/>
            <a:ext cx="12399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chemeClr val="lt1"/>
                </a:solidFill>
                <a:highlight>
                  <a:schemeClr val="accent5"/>
                </a:highlight>
                <a:latin typeface="Proxima Nova"/>
                <a:ea typeface="Proxima Nova"/>
                <a:cs typeface="Proxima Nova"/>
              </a:rPr>
              <a:t>Sci-seq</a:t>
            </a:r>
            <a:endParaRPr sz="1400" b="0" i="0" u="none" cap="none">
              <a:solidFill>
                <a:schemeClr val="lt1"/>
              </a:solidFill>
              <a:highlight>
                <a:schemeClr val="accent5"/>
              </a:highlight>
              <a:latin typeface="Proxima Nova"/>
              <a:ea typeface="Proxima Nova"/>
              <a:cs typeface="Proxima Nova"/>
            </a:endParaRPr>
          </a:p>
        </p:txBody>
      </p:sp>
      <p:sp>
        <p:nvSpPr>
          <p:cNvPr id="301" name="Google Shape;301;p19">
            <a:extLst xmlns:a="http://schemas.openxmlformats.org/drawingml/2006/main">
              <a:ext uri="{FF2B5EF4-FFF2-40B4-BE49-F238E27FC236}">
                <a16:creationId xmlns:a16="http://schemas.microsoft.com/office/drawing/2014/main" id="{919BB036-9473-4AB2-B581-0F52CFDE5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0725" y="3458350"/>
            <a:ext cx="12399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chemeClr val="lt1"/>
                </a:solidFill>
                <a:highlight>
                  <a:schemeClr val="accent5"/>
                </a:highlight>
                <a:latin typeface="Proxima Nova"/>
                <a:ea typeface="Proxima Nova"/>
                <a:cs typeface="Proxima Nova"/>
              </a:rPr>
              <a:t>Rhapsody</a:t>
            </a:r>
            <a:endParaRPr sz="1400" b="0" i="0" u="none" cap="none">
              <a:solidFill>
                <a:schemeClr val="lt1"/>
              </a:solidFill>
              <a:highlight>
                <a:schemeClr val="accent5"/>
              </a:highlight>
              <a:latin typeface="Proxima Nova"/>
              <a:ea typeface="Proxima Nova"/>
              <a:cs typeface="Proxima Nova"/>
            </a:endParaRPr>
          </a:p>
        </p:txBody>
      </p:sp>
      <p:cxnSp>
        <p:nvCxnSpPr>
          <p:cNvPr id="330" name="Google Shape;302;p19"/>
          <p:cNvCxnSpPr/>
          <p:nvPr/>
        </p:nvCxnSpPr>
        <p:spPr>
          <a:xfrm xmlns:a="http://schemas.openxmlformats.org/drawingml/2006/main">
            <a:off x="5679300" y="2849950"/>
            <a:ext cx="3600" cy="133200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chemeClr val="accent5"/>
            </a:solidFill>
            <a:prstDash val="dash"/>
            <a:round/>
            <a:headEnd type="none" w="sm" len="sm"/>
            <a:tailEnd type="triangle" w="med" len="med"/>
          </a:ln>
        </p:spPr>
      </p:cxnSp>
      <p:cxnSp>
        <p:nvCxnSpPr>
          <p:cNvPr id="331" name="Google Shape;303;p19"/>
          <p:cNvCxnSpPr/>
          <p:nvPr/>
        </p:nvCxnSpPr>
        <p:spPr>
          <a:xfrm xmlns:a="http://schemas.openxmlformats.org/drawingml/2006/main">
            <a:off x="6282075" y="2885950"/>
            <a:ext cx="3600" cy="61200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chemeClr val="accent5"/>
            </a:solidFill>
            <a:prstDash val="dash"/>
            <a:round/>
            <a:headEnd type="none" w="sm" len="sm"/>
            <a:tailEnd type="triangle" w="med" len="med"/>
          </a:ln>
        </p:spPr>
      </p:cxnSp>
      <p:cxnSp>
        <p:nvCxnSpPr>
          <p:cNvPr id="332" name="Google Shape;304;p19"/>
          <p:cNvCxnSpPr/>
          <p:nvPr/>
        </p:nvCxnSpPr>
        <p:spPr>
          <a:xfrm xmlns:a="http://schemas.openxmlformats.org/drawingml/2006/main">
            <a:off x="6902925" y="2885950"/>
            <a:ext cx="3600" cy="25200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chemeClr val="accent5"/>
            </a:solidFill>
            <a:prstDash val="dash"/>
            <a:round/>
            <a:headEnd type="none" w="sm" len="sm"/>
            <a:tailEnd type="triangle" w="med" len="med"/>
          </a:ln>
        </p:spPr>
      </p:cxnSp>
      <p:sp>
        <p:nvSpPr>
          <p:cNvPr id="305" name="Google Shape;305;p19">
            <a:extLst xmlns:a="http://schemas.openxmlformats.org/drawingml/2006/main">
              <a:ext uri="{FF2B5EF4-FFF2-40B4-BE49-F238E27FC236}">
                <a16:creationId xmlns:a16="http://schemas.microsoft.com/office/drawing/2014/main" id="{4989972C-1530-484E-9C13-1A7C7D372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5600" y="3863750"/>
            <a:ext cx="12399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chemeClr val="lt1"/>
                </a:solidFill>
                <a:highlight>
                  <a:schemeClr val="accent5"/>
                </a:highlight>
                <a:latin typeface="Proxima Nova"/>
                <a:ea typeface="Proxima Nova"/>
                <a:cs typeface="Proxima Nova"/>
              </a:rPr>
              <a:t>Drop-seq</a:t>
            </a:r>
            <a:endParaRPr sz="1400" b="0" i="0" u="none" cap="none">
              <a:solidFill>
                <a:schemeClr val="lt1"/>
              </a:solidFill>
              <a:highlight>
                <a:schemeClr val="accent5"/>
              </a:highlight>
              <a:latin typeface="Proxima Nova"/>
              <a:ea typeface="Proxima Nova"/>
              <a:cs typeface="Proxima Nova"/>
            </a:endParaRPr>
          </a:p>
        </p:txBody>
      </p:sp>
      <p:cxnSp>
        <p:nvCxnSpPr>
          <p:cNvPr id="334" name="Google Shape;306;p19"/>
          <p:cNvCxnSpPr/>
          <p:nvPr/>
        </p:nvCxnSpPr>
        <p:spPr>
          <a:xfrm xmlns:a="http://schemas.openxmlformats.org/drawingml/2006/main">
            <a:off x="3796950" y="2910350"/>
            <a:ext cx="3600" cy="97200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chemeClr val="accent5"/>
            </a:solidFill>
            <a:prstDash val="dash"/>
            <a:round/>
            <a:headEnd type="none" w="sm" len="sm"/>
            <a:tailEnd type="triangle" w="med" len="med"/>
          </a:ln>
        </p:spPr>
      </p:cxnSp>
      <p:sp>
        <p:nvSpPr>
          <p:cNvPr id="307" name="Google Shape;307;p19">
            <a:extLst xmlns:a="http://schemas.openxmlformats.org/drawingml/2006/main">
              <a:ext uri="{FF2B5EF4-FFF2-40B4-BE49-F238E27FC236}">
                <a16:creationId xmlns:a16="http://schemas.microsoft.com/office/drawing/2014/main" id="{9BFA694C-75FA-476F-89EF-8E3D8E6C7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777050"/>
            <a:ext cx="12399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chemeClr val="lt1"/>
                </a:solidFill>
                <a:highlight>
                  <a:schemeClr val="accent5"/>
                </a:highlight>
                <a:latin typeface="Proxima Nova"/>
                <a:ea typeface="Proxima Nova"/>
                <a:cs typeface="Proxima Nova"/>
              </a:rPr>
              <a:t>Seq-well</a:t>
            </a:r>
            <a:endParaRPr sz="1400" b="0" i="0" u="none" cap="none">
              <a:solidFill>
                <a:schemeClr val="lt1"/>
              </a:solidFill>
              <a:highlight>
                <a:schemeClr val="accent5"/>
              </a:highlight>
              <a:latin typeface="Proxima Nova"/>
              <a:ea typeface="Proxima Nova"/>
              <a:cs typeface="Proxima Nova"/>
            </a:endParaRPr>
          </a:p>
        </p:txBody>
      </p:sp>
      <p:cxnSp>
        <p:nvCxnSpPr>
          <p:cNvPr id="336" name="Google Shape;308;p19"/>
          <p:cNvCxnSpPr/>
          <p:nvPr/>
        </p:nvCxnSpPr>
        <p:spPr>
          <a:xfrm xmlns:a="http://schemas.openxmlformats.org/drawingml/2006/main">
            <a:off x="5183350" y="2823650"/>
            <a:ext cx="3600" cy="97200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chemeClr val="accent5"/>
            </a:solidFill>
            <a:prstDash val="dash"/>
            <a:round/>
            <a:headEnd type="none" w="sm" len="sm"/>
            <a:tailEnd type="triangle" w="med" len="med"/>
          </a:ln>
        </p:spPr>
      </p:cxnSp>
      <p:sp>
        <p:nvSpPr>
          <p:cNvPr id="309" name="Google Shape;309;p19">
            <a:extLst xmlns:a="http://schemas.openxmlformats.org/drawingml/2006/main">
              <a:ext uri="{FF2B5EF4-FFF2-40B4-BE49-F238E27FC236}">
                <a16:creationId xmlns:a16="http://schemas.microsoft.com/office/drawing/2014/main" id="{F840CC1C-9696-466C-B002-CE4E31F8A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4300" y="3440350"/>
            <a:ext cx="12399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chemeClr val="lt1"/>
                </a:solidFill>
                <a:highlight>
                  <a:schemeClr val="accent5"/>
                </a:highlight>
                <a:latin typeface="Proxima Nova"/>
                <a:ea typeface="Proxima Nova"/>
                <a:cs typeface="Proxima Nova"/>
              </a:rPr>
              <a:t>Split-seq</a:t>
            </a:r>
            <a:endParaRPr sz="1400" b="0" i="0" u="none" cap="none">
              <a:solidFill>
                <a:schemeClr val="lt1"/>
              </a:solidFill>
              <a:highlight>
                <a:schemeClr val="accent5"/>
              </a:highlight>
              <a:latin typeface="Proxima Nova"/>
              <a:ea typeface="Proxima Nova"/>
              <a:cs typeface="Proxima Nova"/>
            </a:endParaRPr>
          </a:p>
        </p:txBody>
      </p:sp>
      <p:cxnSp>
        <p:nvCxnSpPr>
          <p:cNvPr id="338" name="Google Shape;310;p19"/>
          <p:cNvCxnSpPr/>
          <p:nvPr/>
        </p:nvCxnSpPr>
        <p:spPr>
          <a:xfrm xmlns:a="http://schemas.openxmlformats.org/drawingml/2006/main">
            <a:off x="7395650" y="2867950"/>
            <a:ext cx="3600" cy="61200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chemeClr val="accent5"/>
            </a:solidFill>
            <a:prstDash val="dash"/>
            <a:round/>
            <a:headEnd type="none" w="sm" len="sm"/>
            <a:tailEnd type="triangle" w="med" len="med"/>
          </a:ln>
        </p:spPr>
      </p:cxnSp>
      <p:sp>
        <p:nvSpPr>
          <p:cNvPr id="311" name="Google Shape;311;p19">
            <a:extLst xmlns:a="http://schemas.openxmlformats.org/drawingml/2006/main">
              <a:ext uri="{FF2B5EF4-FFF2-40B4-BE49-F238E27FC236}">
                <a16:creationId xmlns:a16="http://schemas.microsoft.com/office/drawing/2014/main" id="{DAA95AE4-4FC8-4C9D-8B99-B791799EF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0525" y="1737463"/>
            <a:ext cx="22623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sz="1500" b="1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Outros métodos…</a:t>
            </a:r>
            <a:endParaRPr sz="1500" b="1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312" name="Google Shape;312;p19">
            <a:extLst xmlns:a="http://schemas.openxmlformats.org/drawingml/2006/main">
              <a:ext uri="{FF2B5EF4-FFF2-40B4-BE49-F238E27FC236}">
                <a16:creationId xmlns:a16="http://schemas.microsoft.com/office/drawing/2014/main" id="{04D6954A-6530-4431-8BC0-96073265F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1025" y="2344250"/>
            <a:ext cx="825900" cy="38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lt1"/>
                </a:solidFill>
                <a:highlight>
                  <a:schemeClr val="dk2"/>
                </a:highlight>
                <a:latin typeface="Proxima Nova"/>
                <a:ea typeface="Proxima Nova"/>
                <a:cs typeface="Proxima Nova"/>
              </a:rPr>
              <a:t>2012</a:t>
            </a:r>
            <a:endParaRPr sz="1200" b="0" i="0" u="none" cap="none">
              <a:solidFill>
                <a:schemeClr val="lt1"/>
              </a:solidFill>
              <a:highlight>
                <a:schemeClr val="dk2"/>
              </a:highlight>
              <a:latin typeface="Proxima Nova"/>
              <a:ea typeface="Proxima Nova"/>
              <a:cs typeface="Proxima Nova"/>
            </a:endParaRPr>
          </a:p>
        </p:txBody>
      </p:sp>
      <p:sp>
        <p:nvSpPr>
          <p:cNvPr id="313" name="Google Shape;313;p19">
            <a:extLst xmlns:a="http://schemas.openxmlformats.org/drawingml/2006/main">
              <a:ext uri="{FF2B5EF4-FFF2-40B4-BE49-F238E27FC236}">
                <a16:creationId xmlns:a16="http://schemas.microsoft.com/office/drawing/2014/main" id="{B87D70DF-B195-4D42-BCBE-534FDB601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4025" y="3154150"/>
            <a:ext cx="12399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chemeClr val="lt1"/>
                </a:solidFill>
                <a:highlight>
                  <a:schemeClr val="accent5"/>
                </a:highlight>
                <a:latin typeface="Proxima Nova"/>
                <a:ea typeface="Proxima Nova"/>
                <a:cs typeface="Proxima Nova"/>
              </a:rPr>
              <a:t>SMART-Seq </a:t>
            </a:r>
            <a:endParaRPr sz="1400" b="0" i="0" u="none" cap="none">
              <a:solidFill>
                <a:schemeClr val="lt1"/>
              </a:solidFill>
              <a:highlight>
                <a:schemeClr val="accent5"/>
              </a:highlight>
              <a:latin typeface="Proxima Nova"/>
              <a:ea typeface="Proxima Nova"/>
              <a:cs typeface="Proxima Nova"/>
            </a:endParaRPr>
          </a:p>
        </p:txBody>
      </p:sp>
      <p:cxnSp>
        <p:nvCxnSpPr>
          <p:cNvPr id="342" name="Google Shape;314;p19"/>
          <p:cNvCxnSpPr/>
          <p:nvPr/>
        </p:nvCxnSpPr>
        <p:spPr>
          <a:xfrm xmlns:a="http://schemas.openxmlformats.org/drawingml/2006/main">
            <a:off x="2432175" y="2874350"/>
            <a:ext cx="3600" cy="32400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chemeClr val="accent5"/>
            </a:solidFill>
            <a:prstDash val="dash"/>
            <a:round/>
            <a:headEnd type="none" w="sm" len="sm"/>
            <a:tailEnd type="triangle" w="med" len="med"/>
          </a:ln>
        </p:spPr>
      </p:cxnSp>
      <p:sp>
        <p:nvSpPr>
          <p:cNvPr id="315" name="Google Shape;315;p19">
            <a:extLst xmlns:a="http://schemas.openxmlformats.org/drawingml/2006/main">
              <a:ext uri="{FF2B5EF4-FFF2-40B4-BE49-F238E27FC236}">
                <a16:creationId xmlns:a16="http://schemas.microsoft.com/office/drawing/2014/main" id="{C9B39EC5-B288-42BA-B4C1-F4E23F0E61E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5615400" cy="70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1800" b="1"/>
              <a:t>Single-cell RNA-seq (scRNA-seq)</a:t>
            </a:r>
            <a:endParaRPr sz="1800" b="1"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1800"/>
              <a:t>Evolução de tecnologias</a:t>
            </a:r>
            <a:endParaRPr sz="1800"/>
          </a:p>
        </p:txBody>
      </p:sp>
      <p:pic>
        <p:nvPicPr>
          <p:cNvPr id="344" name="Google Shape;316;p1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3e1a5ba56ef4e3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610700" y="185363"/>
            <a:ext cx="2324100" cy="18383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471114693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27" name="Google Shape;321;p2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b55aa4b91534fd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231150" y="1152425"/>
            <a:ext cx="4695500" cy="308462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22" name="Google Shape;322;p20">
            <a:extLst xmlns:a="http://schemas.openxmlformats.org/drawingml/2006/main">
              <a:ext uri="{FF2B5EF4-FFF2-40B4-BE49-F238E27FC236}">
                <a16:creationId xmlns:a16="http://schemas.microsoft.com/office/drawing/2014/main" id="{AB330A42-FFA1-4EFD-939D-75A9D383388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33200" y="1324600"/>
            <a:ext cx="3431100" cy="339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sz="1500">
                <a:solidFill>
                  <a:schemeClr val="dk1"/>
                </a:solidFill>
              </a:rPr>
              <a:t>As técnicas de transcriptômica de células individuais envolvem alguns desafios:</a:t>
            </a:r>
            <a:endParaRPr sz="1500">
              <a:solidFill>
                <a:schemeClr val="dk1"/>
              </a:solidFill>
            </a:endParaRPr>
          </a:p>
          <a:p xmlns:a="http://schemas.openxmlformats.org/drawingml/2006/main">
            <a:pPr marL="457200" lvl="0" indent="-3238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500"/>
              <a:buAutoNum type="arabicPeriod"/>
            </a:pPr>
            <a:r>
              <a:rPr sz="1500">
                <a:solidFill>
                  <a:schemeClr val="dk1"/>
                </a:solidFill>
              </a:rPr>
              <a:t>Obtenção de células únicas.</a:t>
            </a:r>
            <a:endParaRPr sz="1500">
              <a:solidFill>
                <a:schemeClr val="dk1"/>
              </a:solidFill>
            </a:endParaRPr>
          </a:p>
          <a:p xmlns:a="http://schemas.openxmlformats.org/drawingml/2006/main">
            <a:pPr marL="457200" lvl="0" indent="-3238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AutoNum type="arabicPeriod"/>
            </a:pPr>
            <a:r>
              <a:rPr sz="1500">
                <a:solidFill>
                  <a:schemeClr val="dk1"/>
                </a:solidFill>
              </a:rPr>
              <a:t>Amplificação de cDNA de forma célula-específica.</a:t>
            </a:r>
            <a:endParaRPr sz="1500">
              <a:solidFill>
                <a:schemeClr val="dk1"/>
              </a:solidFill>
            </a:endParaRPr>
          </a:p>
          <a:p xmlns:a="http://schemas.openxmlformats.org/drawingml/2006/main">
            <a:pPr marL="457200" lvl="0" indent="-3238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AutoNum type="arabicPeriod"/>
            </a:pPr>
            <a:r>
              <a:rPr sz="1500">
                <a:solidFill>
                  <a:schemeClr val="dk1"/>
                </a:solidFill>
              </a:rPr>
              <a:t>Marcação das bibliotecas de cDNA de forma célula-específica.</a:t>
            </a:r>
            <a:endParaRPr sz="1500">
              <a:solidFill>
                <a:schemeClr val="dk1"/>
              </a:solidFill>
            </a:endParaRPr>
          </a:p>
        </p:txBody>
      </p:sp>
      <p:sp>
        <p:nvSpPr>
          <p:cNvPr id="323" name="Google Shape;323;p20">
            <a:extLst xmlns:a="http://schemas.openxmlformats.org/drawingml/2006/main">
              <a:ext uri="{FF2B5EF4-FFF2-40B4-BE49-F238E27FC236}">
                <a16:creationId xmlns:a16="http://schemas.microsoft.com/office/drawing/2014/main" id="{2F4576DF-D958-41F6-8321-020ED398AB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5615400" cy="70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1800" b="1"/>
              <a:t>Single-cell RNA-seq (scRNA-seq)</a:t>
            </a:r>
            <a:endParaRPr sz="1800" b="1"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1800"/>
              <a:t>Princípios</a:t>
            </a:r>
            <a:endParaRPr sz="1800"/>
          </a:p>
        </p:txBody>
      </p:sp>
      <p:sp>
        <p:nvSpPr>
          <p:cNvPr id="324" name="Google Shape;324;p20">
            <a:extLst xmlns:a="http://schemas.openxmlformats.org/drawingml/2006/main">
              <a:ext uri="{FF2B5EF4-FFF2-40B4-BE49-F238E27FC236}">
                <a16:creationId xmlns:a16="http://schemas.microsoft.com/office/drawing/2014/main" id="{50D850C4-1241-45B9-821C-031DA4949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0875" y="1060750"/>
            <a:ext cx="4314900" cy="139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 cmpd="sng">
            <a:solidFill>
              <a:schemeClr val="accent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325" name="Google Shape;325;p20">
            <a:extLst xmlns:a="http://schemas.openxmlformats.org/drawingml/2006/main">
              <a:ext uri="{FF2B5EF4-FFF2-40B4-BE49-F238E27FC236}">
                <a16:creationId xmlns:a16="http://schemas.microsoft.com/office/drawing/2014/main" id="{D26A86D5-179F-4446-BEF7-E97CA07536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33200" y="4797550"/>
            <a:ext cx="8410800" cy="33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600">
                <a:solidFill>
                  <a:schemeClr val="accent3"/>
                </a:solidFill>
              </a:rPr>
              <a:t>Probst, V., Simonyan, A., Pacheco, F. et al. Benchmarking full-length transcript single cell mRNA sequencing protocols. BMC Genomics 23, 860 (2022). https://doi.org/10.1186/s12864-022-09014-5</a:t>
            </a:r>
            <a:endParaRPr sz="600">
              <a:solidFill>
                <a:schemeClr val="accent3"/>
              </a:solidFill>
            </a:endParaRPr>
          </a:p>
          <a:p xmlns:a="http://schemas.openxmlformats.org/drawingml/2006/main">
            <a: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600">
              <a:solidFill>
                <a:schemeClr val="accent3"/>
              </a:solidFill>
            </a:endParaRPr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60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7541816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0" name="Google Shape;330;p21">
            <a:extLst xmlns:a="http://schemas.openxmlformats.org/drawingml/2006/main">
              <a:ext uri="{FF2B5EF4-FFF2-40B4-BE49-F238E27FC236}">
                <a16:creationId xmlns:a16="http://schemas.microsoft.com/office/drawing/2014/main" id="{8F2BE2D3-A6A6-4958-86F0-C7839339BE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5615400" cy="70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1800" b="1"/>
              <a:t>Single-cell RNA-seq (scRNA-seq)</a:t>
            </a:r>
            <a:endParaRPr sz="1800" b="1"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1800"/>
              <a:t>Princípios</a:t>
            </a:r>
            <a:endParaRPr sz="1800"/>
          </a:p>
        </p:txBody>
      </p:sp>
      <p:sp>
        <p:nvSpPr>
          <p:cNvPr id="331" name="Google Shape;331;p21">
            <a:extLst xmlns:a="http://schemas.openxmlformats.org/drawingml/2006/main">
              <a:ext uri="{FF2B5EF4-FFF2-40B4-BE49-F238E27FC236}">
                <a16:creationId xmlns:a16="http://schemas.microsoft.com/office/drawing/2014/main" id="{4E1E24FE-0EF5-43DC-9F15-E33BB05B18F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33200" y="1324600"/>
            <a:ext cx="3431100" cy="339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sz="1500">
                <a:solidFill>
                  <a:schemeClr val="dk1"/>
                </a:solidFill>
              </a:rPr>
              <a:t>Chromium 10X Genomics (</a:t>
            </a:r>
            <a:r>
              <a:rPr sz="1500" i="1">
                <a:solidFill>
                  <a:schemeClr val="dk1"/>
                </a:solidFill>
              </a:rPr>
              <a:t>droplet-seq</a:t>
            </a:r>
            <a:r>
              <a:rPr sz="1500">
                <a:solidFill>
                  <a:schemeClr val="dk1"/>
                </a:solidFill>
              </a:rPr>
              <a:t>)</a:t>
            </a:r>
            <a:endParaRPr sz="1500">
              <a:solidFill>
                <a:schemeClr val="dk1"/>
              </a:solidFill>
            </a:endParaRPr>
          </a:p>
          <a:p xmlns:a="http://schemas.openxmlformats.org/drawingml/2006/main">
            <a:pPr marL="457200" lvl="0" indent="-3238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500"/>
              <a:buAutoNum type="arabicPeriod"/>
            </a:pPr>
            <a:r>
              <a:rPr sz="1500">
                <a:solidFill>
                  <a:schemeClr val="dk1"/>
                </a:solidFill>
              </a:rPr>
              <a:t>Obtenção de células únicas.</a:t>
            </a:r>
            <a:endParaRPr sz="1500">
              <a:solidFill>
                <a:schemeClr val="dk1"/>
              </a:solidFill>
            </a:endParaRPr>
          </a:p>
          <a:p xmlns:a="http://schemas.openxmlformats.org/drawingml/2006/main">
            <a:pPr marL="457200" lvl="0" indent="-3238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AutoNum type="arabicPeriod"/>
            </a:pPr>
            <a:r>
              <a:rPr sz="1500">
                <a:solidFill>
                  <a:schemeClr val="dk1"/>
                </a:solidFill>
              </a:rPr>
              <a:t>Amplificação de cDNA de forma célula-específica.</a:t>
            </a:r>
            <a:endParaRPr sz="1500">
              <a:solidFill>
                <a:schemeClr val="dk1"/>
              </a:solidFill>
            </a:endParaRPr>
          </a:p>
          <a:p xmlns:a="http://schemas.openxmlformats.org/drawingml/2006/main">
            <a:pPr marL="457200" lvl="0" indent="-3238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AutoNum type="arabicPeriod"/>
            </a:pPr>
            <a:r>
              <a:rPr sz="1500">
                <a:solidFill>
                  <a:schemeClr val="dk1"/>
                </a:solidFill>
              </a:rPr>
              <a:t>Marcação das bibliotecas de cDNA de forma célula-específica.</a:t>
            </a:r>
            <a:endParaRPr sz="1500">
              <a:solidFill>
                <a:schemeClr val="dk1"/>
              </a:solidFill>
            </a:endParaRPr>
          </a:p>
        </p:txBody>
      </p:sp>
      <p:pic>
        <p:nvPicPr>
          <p:cNvPr id="341" name="Google Shape;332;p2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b979119a0e7470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250250" y="1012875"/>
            <a:ext cx="4674899" cy="213050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342" name="Google Shape;333;p2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01ed0e6195a441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2525073" y="3496850"/>
            <a:ext cx="1543100" cy="992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343" name="Google Shape;334;p2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69e73aed73847a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686875" y="3164298"/>
            <a:ext cx="3829108" cy="16761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35" name="Google Shape;335;p21">
            <a:extLst xmlns:a="http://schemas.openxmlformats.org/drawingml/2006/main">
              <a:ext uri="{FF2B5EF4-FFF2-40B4-BE49-F238E27FC236}">
                <a16:creationId xmlns:a16="http://schemas.microsoft.com/office/drawing/2014/main" id="{EF516432-085D-4A02-ABDC-EE81BD514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4400" y="160600"/>
            <a:ext cx="3699300" cy="1240200"/>
          </a:xfrm>
          <a:prstGeom xmlns:a="http://schemas.openxmlformats.org/drawingml/2006/main" prst="wedgeRoundRectCallout">
            <a:avLst>
              <a:gd name="adj1" fmla="val -20833"/>
              <a:gd name="adj2" fmla="val 62500"/>
              <a:gd name="adj3" fmla="val 0"/>
            </a:avLst>
          </a:prstGeom>
          <a:solidFill xmlns:a="http://schemas.openxmlformats.org/drawingml/2006/main">
            <a:schemeClr val="lt2"/>
          </a:solidFill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1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GEMs (Gel Bead-in-Emulsions)</a:t>
            </a:r>
            <a:endParaRPr sz="1200" b="1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Emulsão de óleo e gotículas de solução aquosa, as quais contém: </a:t>
            </a:r>
            <a:endParaRPr sz="1200" b="0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1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1 bead</a:t>
            </a:r>
            <a:r>
              <a:rPr sz="12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, primers com </a:t>
            </a:r>
            <a:r>
              <a:rPr sz="1200" b="1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1 barcode</a:t>
            </a:r>
            <a:r>
              <a:rPr sz="12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, </a:t>
            </a:r>
            <a:r>
              <a:rPr sz="1200" b="1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1 célula</a:t>
            </a:r>
            <a:r>
              <a:rPr sz="12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, e demais reagentes para RT-PCR.</a:t>
            </a:r>
            <a:endParaRPr sz="1200" b="0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</p:spTree>
    <p:extLst>
      <p:ext uri="{BB962C8B-B14F-4D97-AF65-F5344CB8AC3E}">
        <p14:creationId xmlns:p14="http://schemas.microsoft.com/office/powerpoint/2010/main" val="190224481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56" name="Google Shape;340;p2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4adadea2f9a403b">
            <a:alphaModFix/>
          </a:blip>
          <a:srcRect xmlns:a="http://schemas.openxmlformats.org/drawingml/2006/main" l="47009" t="0" r="0" b="0"/>
          <a:stretch xmlns:a="http://schemas.openxmlformats.org/drawingml/2006/main"/>
        </p:blipFill>
        <p:spPr>
          <a:xfrm xmlns:a="http://schemas.openxmlformats.org/drawingml/2006/main">
            <a:off x="6521525" y="542825"/>
            <a:ext cx="2477250" cy="24861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41" name="Google Shape;341;p22">
            <a:extLst xmlns:a="http://schemas.openxmlformats.org/drawingml/2006/main">
              <a:ext uri="{FF2B5EF4-FFF2-40B4-BE49-F238E27FC236}">
                <a16:creationId xmlns:a16="http://schemas.microsoft.com/office/drawing/2014/main" id="{22ADC084-90B4-4260-8482-747AA30B3B1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5615400" cy="70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1800" b="1"/>
              <a:t>Single-cell RNA-seq (scRNA-seq)</a:t>
            </a:r>
            <a:endParaRPr sz="1800" b="1"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1800"/>
              <a:t>Princípios</a:t>
            </a:r>
            <a:endParaRPr sz="1800"/>
          </a:p>
        </p:txBody>
      </p:sp>
      <p:sp>
        <p:nvSpPr>
          <p:cNvPr id="342" name="Google Shape;342;p22">
            <a:extLst xmlns:a="http://schemas.openxmlformats.org/drawingml/2006/main">
              <a:ext uri="{FF2B5EF4-FFF2-40B4-BE49-F238E27FC236}">
                <a16:creationId xmlns:a16="http://schemas.microsoft.com/office/drawing/2014/main" id="{344ADEF9-B1C0-4D5C-9623-47BEEC30C57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33200" y="1324600"/>
            <a:ext cx="3431100" cy="339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sz="1500">
                <a:solidFill>
                  <a:schemeClr val="dk1"/>
                </a:solidFill>
              </a:rPr>
              <a:t>Chromium 10X Genomics (</a:t>
            </a:r>
            <a:r>
              <a:rPr sz="1500" i="1">
                <a:solidFill>
                  <a:schemeClr val="dk1"/>
                </a:solidFill>
              </a:rPr>
              <a:t>droplet-seq</a:t>
            </a:r>
            <a:r>
              <a:rPr sz="1500">
                <a:solidFill>
                  <a:schemeClr val="dk1"/>
                </a:solidFill>
              </a:rPr>
              <a:t>)</a:t>
            </a:r>
            <a:endParaRPr sz="1500">
              <a:solidFill>
                <a:schemeClr val="dk1"/>
              </a:solidFill>
            </a:endParaRPr>
          </a:p>
          <a:p xmlns:a="http://schemas.openxmlformats.org/drawingml/2006/main">
            <a:pPr marL="457200" lvl="0" indent="-3238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500"/>
              <a:buAutoNum type="arabicPeriod"/>
            </a:pPr>
            <a:r>
              <a:rPr sz="1500">
                <a:solidFill>
                  <a:schemeClr val="dk1"/>
                </a:solidFill>
              </a:rPr>
              <a:t>Obtenção de células únicas:</a:t>
            </a:r>
            <a:endParaRPr sz="1500">
              <a:solidFill>
                <a:schemeClr val="dk1"/>
              </a:solidFill>
            </a:endParaRPr>
          </a:p>
          <a:p xmlns:a="http://schemas.openxmlformats.org/drawingml/2006/main">
            <a:pPr marL="457200" lvl="0" indent="-3238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AutoNum type="arabicPeriod"/>
            </a:pPr>
            <a:r>
              <a:rPr sz="1500">
                <a:solidFill>
                  <a:schemeClr val="dk1"/>
                </a:solidFill>
              </a:rPr>
              <a:t>Amplificação de cDNA de forma célula-específica.</a:t>
            </a:r>
            <a:endParaRPr sz="1500">
              <a:solidFill>
                <a:schemeClr val="dk1"/>
              </a:solidFill>
            </a:endParaRPr>
          </a:p>
          <a:p xmlns:a="http://schemas.openxmlformats.org/drawingml/2006/main">
            <a:pPr marL="457200" lvl="0" indent="-3238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AutoNum type="arabicPeriod"/>
            </a:pPr>
            <a:r>
              <a:rPr sz="1500">
                <a:solidFill>
                  <a:schemeClr val="dk1"/>
                </a:solidFill>
              </a:rPr>
              <a:t>Marcação das bibliotecas de cDNA de forma célula-específica.</a:t>
            </a:r>
            <a:endParaRPr sz="1500">
              <a:solidFill>
                <a:schemeClr val="dk1"/>
              </a:solidFill>
            </a:endParaRPr>
          </a:p>
        </p:txBody>
      </p:sp>
      <p:pic>
        <p:nvPicPr>
          <p:cNvPr id="359" name="Google Shape;343;p2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4adadea2f9a403b">
            <a:alphaModFix/>
          </a:blip>
          <a:srcRect xmlns:a="http://schemas.openxmlformats.org/drawingml/2006/main" l="0" t="0" r="56238" b="0"/>
          <a:stretch xmlns:a="http://schemas.openxmlformats.org/drawingml/2006/main"/>
        </p:blipFill>
        <p:spPr>
          <a:xfrm xmlns:a="http://schemas.openxmlformats.org/drawingml/2006/main">
            <a:off x="4316700" y="542825"/>
            <a:ext cx="2045800" cy="24861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360" name="Google Shape;344;p2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132335a554b48ec">
            <a:alphaModFix/>
          </a:blip>
          <a:srcRect xmlns:a="http://schemas.openxmlformats.org/drawingml/2006/main" l="0" t="0" r="0" b="11925"/>
          <a:stretch xmlns:a="http://schemas.openxmlformats.org/drawingml/2006/main"/>
        </p:blipFill>
        <p:spPr>
          <a:xfrm xmlns:a="http://schemas.openxmlformats.org/drawingml/2006/main">
            <a:off x="6165725" y="3033463"/>
            <a:ext cx="2196050" cy="17853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45" name="Google Shape;345;p22">
            <a:extLst xmlns:a="http://schemas.openxmlformats.org/drawingml/2006/main">
              <a:ext uri="{FF2B5EF4-FFF2-40B4-BE49-F238E27FC236}">
                <a16:creationId xmlns:a16="http://schemas.microsoft.com/office/drawing/2014/main" id="{726B7B96-3AAC-4D18-8F0C-8E234463F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6800" y="919375"/>
            <a:ext cx="16104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chemeClr val="lt1"/>
                </a:solidFill>
                <a:highlight>
                  <a:schemeClr val="dk2"/>
                </a:highlight>
                <a:latin typeface="Proxima Nova"/>
                <a:ea typeface="Proxima Nova"/>
                <a:cs typeface="Proxima Nova"/>
              </a:rPr>
              <a:t>Chip</a:t>
            </a:r>
            <a:endParaRPr sz="1600" b="0" i="0" u="none" cap="none">
              <a:solidFill>
                <a:schemeClr val="lt1"/>
              </a:solidFill>
              <a:highlight>
                <a:schemeClr val="dk2"/>
              </a:highlight>
              <a:latin typeface="Proxima Nova"/>
              <a:ea typeface="Proxima Nova"/>
              <a:cs typeface="Proxima Nova"/>
            </a:endParaRPr>
          </a:p>
        </p:txBody>
      </p:sp>
      <p:sp>
        <p:nvSpPr>
          <p:cNvPr id="346" name="Google Shape;346;p22">
            <a:extLst xmlns:a="http://schemas.openxmlformats.org/drawingml/2006/main">
              <a:ext uri="{FF2B5EF4-FFF2-40B4-BE49-F238E27FC236}">
                <a16:creationId xmlns:a16="http://schemas.microsoft.com/office/drawing/2014/main" id="{1AF52188-9B62-4789-B7DC-5FC048AC2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500" y="234000"/>
            <a:ext cx="16104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chemeClr val="lt1"/>
                </a:solidFill>
                <a:highlight>
                  <a:schemeClr val="dk2"/>
                </a:highlight>
                <a:latin typeface="Proxima Nova"/>
                <a:ea typeface="Proxima Nova"/>
                <a:cs typeface="Proxima Nova"/>
              </a:rPr>
              <a:t>Equipamento de microfluídica</a:t>
            </a:r>
            <a:endParaRPr sz="1600" b="0" i="0" u="none" cap="none">
              <a:solidFill>
                <a:schemeClr val="lt1"/>
              </a:solidFill>
              <a:highlight>
                <a:schemeClr val="dk2"/>
              </a:highlight>
              <a:latin typeface="Proxima Nova"/>
              <a:ea typeface="Proxima Nova"/>
              <a:cs typeface="Proxima Nova"/>
            </a:endParaRPr>
          </a:p>
        </p:txBody>
      </p:sp>
      <p:sp>
        <p:nvSpPr>
          <p:cNvPr id="347" name="Google Shape;347;p22">
            <a:extLst xmlns:a="http://schemas.openxmlformats.org/drawingml/2006/main">
              <a:ext uri="{FF2B5EF4-FFF2-40B4-BE49-F238E27FC236}">
                <a16:creationId xmlns:a16="http://schemas.microsoft.com/office/drawing/2014/main" id="{BD6F1379-82C6-4D16-8ED1-DFDD3548B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475" y="3410050"/>
            <a:ext cx="16104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chemeClr val="lt1"/>
                </a:solidFill>
                <a:highlight>
                  <a:schemeClr val="dk2"/>
                </a:highlight>
                <a:latin typeface="Proxima Nova"/>
                <a:ea typeface="Proxima Nova"/>
                <a:cs typeface="Proxima Nova"/>
              </a:rPr>
              <a:t>RT-PCR</a:t>
            </a:r>
            <a:endParaRPr sz="1600" b="0" i="0" u="none" cap="none">
              <a:solidFill>
                <a:schemeClr val="lt1"/>
              </a:solidFill>
              <a:highlight>
                <a:schemeClr val="dk2"/>
              </a:highlight>
              <a:latin typeface="Proxima Nova"/>
              <a:ea typeface="Proxima Nova"/>
              <a:cs typeface="Proxima Nova"/>
            </a:endParaRPr>
          </a:p>
        </p:txBody>
      </p:sp>
      <p:sp>
        <p:nvSpPr>
          <p:cNvPr id="348" name="Google Shape;348;p22">
            <a:extLst xmlns:a="http://schemas.openxmlformats.org/drawingml/2006/main">
              <a:ext uri="{FF2B5EF4-FFF2-40B4-BE49-F238E27FC236}">
                <a16:creationId xmlns:a16="http://schemas.microsoft.com/office/drawing/2014/main" id="{1397F9EC-004A-42F1-913F-09CCC7250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2075" y="2546050"/>
            <a:ext cx="16104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chemeClr val="lt1"/>
                </a:solidFill>
                <a:highlight>
                  <a:schemeClr val="dk2"/>
                </a:highlight>
                <a:latin typeface="Proxima Nova"/>
                <a:ea typeface="Proxima Nova"/>
                <a:cs typeface="Proxima Nova"/>
              </a:rPr>
              <a:t>GEMs</a:t>
            </a:r>
            <a:endParaRPr sz="1600" b="0" i="0" u="none" cap="none">
              <a:solidFill>
                <a:schemeClr val="lt1"/>
              </a:solidFill>
              <a:highlight>
                <a:schemeClr val="dk2"/>
              </a:highlight>
              <a:latin typeface="Proxima Nova"/>
              <a:ea typeface="Proxima Nova"/>
              <a:cs typeface="Proxima Nova"/>
            </a:endParaRPr>
          </a:p>
        </p:txBody>
      </p:sp>
      <p:sp>
        <p:nvSpPr>
          <p:cNvPr id="349" name="Google Shape;349;p22">
            <a:extLst xmlns:a="http://schemas.openxmlformats.org/drawingml/2006/main">
              <a:ext uri="{FF2B5EF4-FFF2-40B4-BE49-F238E27FC236}">
                <a16:creationId xmlns:a16="http://schemas.microsoft.com/office/drawing/2014/main" id="{810DD72C-57C1-49C6-9CB9-6F0A0C8FA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17948">
            <a:off x="5925949" y="2285115"/>
            <a:ext cx="910701" cy="1151883"/>
          </a:xfrm>
          <a:custGeom xmlns:a="http://schemas.openxmlformats.org/drawingml/2006/main">
            <a:rect l="l" t="t" r="r" b="b"/>
            <a:pathLst>
              <a:path w="36427" h="46074">
                <a:moveTo>
                  <a:pt x="36308" y="0"/>
                </a:moveTo>
                <a:cubicBezTo>
                  <a:pt x="36785" y="6206"/>
                  <a:pt x="34399" y="13823"/>
                  <a:pt x="29220" y="17277"/>
                </a:cubicBezTo>
                <a:cubicBezTo>
                  <a:pt x="21052" y="22724"/>
                  <a:pt x="9743" y="22205"/>
                  <a:pt x="1753" y="27910"/>
                </a:cubicBezTo>
                <a:cubicBezTo>
                  <a:pt x="-4282" y="32220"/>
                  <a:pt x="7184" y="46074"/>
                  <a:pt x="14600" y="46074"/>
                </a:cubicBezTo>
              </a:path>
            </a:pathLst>
          </a:custGeom>
          <a:noFill xmlns:a="http://schemas.openxmlformats.org/drawingml/2006/main"/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66" name="Google Shape;350;p2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4def1b40c07425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2525073" y="3496850"/>
            <a:ext cx="1543100" cy="992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51" name="Google Shape;351;p22">
            <a:extLst xmlns:a="http://schemas.openxmlformats.org/drawingml/2006/main">
              <a:ext uri="{FF2B5EF4-FFF2-40B4-BE49-F238E27FC236}">
                <a16:creationId xmlns:a16="http://schemas.microsoft.com/office/drawing/2014/main" id="{97E5CD39-45F2-4DA6-A860-D5702989B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700" y="416714"/>
            <a:ext cx="1017325" cy="699225"/>
          </a:xfrm>
          <a:custGeom xmlns:a="http://schemas.openxmlformats.org/drawingml/2006/main">
            <a:rect l="l" t="t" r="r" b="b"/>
            <a:pathLst>
              <a:path w="40693" h="27969">
                <a:moveTo>
                  <a:pt x="958" y="15606"/>
                </a:moveTo>
                <a:cubicBezTo>
                  <a:pt x="-47" y="11585"/>
                  <a:pt x="-864" y="5941"/>
                  <a:pt x="2283" y="3244"/>
                </a:cubicBezTo>
                <a:cubicBezTo>
                  <a:pt x="7100" y="-884"/>
                  <a:pt x="15470" y="-656"/>
                  <a:pt x="21267" y="1920"/>
                </a:cubicBezTo>
                <a:cubicBezTo>
                  <a:pt x="31165" y="6319"/>
                  <a:pt x="31007" y="23121"/>
                  <a:pt x="40693" y="27969"/>
                </a:cubicBezTo>
              </a:path>
            </a:pathLst>
          </a:custGeom>
          <a:noFill xmlns:a="http://schemas.openxmlformats.org/drawingml/2006/main"/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09113269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6" name="Google Shape;356;p23">
            <a:extLst xmlns:a="http://schemas.openxmlformats.org/drawingml/2006/main">
              <a:ext uri="{FF2B5EF4-FFF2-40B4-BE49-F238E27FC236}">
                <a16:creationId xmlns:a16="http://schemas.microsoft.com/office/drawing/2014/main" id="{734BD531-C816-4EAD-9928-7001F0EE31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5615400" cy="70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1800" b="1"/>
              <a:t>Single-cell RNA-seq (scRNA-seq)</a:t>
            </a:r>
            <a:endParaRPr sz="1800" b="1"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1800"/>
              <a:t>Princípios</a:t>
            </a:r>
            <a:endParaRPr sz="1800"/>
          </a:p>
        </p:txBody>
      </p:sp>
      <p:pic>
        <p:nvPicPr>
          <p:cNvPr id="371" name="Google Shape;357;p2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e45afd7c75a40f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681400" y="1076225"/>
            <a:ext cx="5321340" cy="1327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58" name="Google Shape;358;p23">
            <a:extLst xmlns:a="http://schemas.openxmlformats.org/drawingml/2006/main">
              <a:ext uri="{FF2B5EF4-FFF2-40B4-BE49-F238E27FC236}">
                <a16:creationId xmlns:a16="http://schemas.microsoft.com/office/drawing/2014/main" id="{862BD8E9-F277-4FCF-B336-3BA7CCD26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2403775"/>
            <a:ext cx="16104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chemeClr val="lt1"/>
                </a:solidFill>
                <a:highlight>
                  <a:schemeClr val="dk2"/>
                </a:highlight>
                <a:latin typeface="Proxima Nova"/>
                <a:ea typeface="Proxima Nova"/>
                <a:cs typeface="Proxima Nova"/>
              </a:rPr>
              <a:t>Preparo de amostra</a:t>
            </a:r>
            <a:endParaRPr sz="1600" b="0" i="0" u="none" cap="none">
              <a:solidFill>
                <a:schemeClr val="lt1"/>
              </a:solidFill>
              <a:highlight>
                <a:schemeClr val="dk2"/>
              </a:highlight>
              <a:latin typeface="Proxima Nova"/>
              <a:ea typeface="Proxima Nova"/>
              <a:cs typeface="Proxima Nova"/>
            </a:endParaRPr>
          </a:p>
        </p:txBody>
      </p:sp>
      <p:sp>
        <p:nvSpPr>
          <p:cNvPr id="359" name="Google Shape;359;p23">
            <a:extLst xmlns:a="http://schemas.openxmlformats.org/drawingml/2006/main">
              <a:ext uri="{FF2B5EF4-FFF2-40B4-BE49-F238E27FC236}">
                <a16:creationId xmlns:a16="http://schemas.microsoft.com/office/drawing/2014/main" id="{8174F5E0-9A58-42D6-8438-0487DD012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050" y="2403775"/>
            <a:ext cx="16104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chemeClr val="lt1"/>
                </a:solidFill>
                <a:highlight>
                  <a:schemeClr val="dk2"/>
                </a:highlight>
                <a:latin typeface="Proxima Nova"/>
                <a:ea typeface="Proxima Nova"/>
                <a:cs typeface="Proxima Nova"/>
              </a:rPr>
              <a:t>Captura de células únicas</a:t>
            </a:r>
            <a:endParaRPr sz="1600" b="0" i="0" u="none" cap="none">
              <a:solidFill>
                <a:schemeClr val="lt1"/>
              </a:solidFill>
              <a:highlight>
                <a:schemeClr val="dk2"/>
              </a:highlight>
              <a:latin typeface="Proxima Nova"/>
              <a:ea typeface="Proxima Nova"/>
              <a:cs typeface="Proxima Nova"/>
            </a:endParaRPr>
          </a:p>
        </p:txBody>
      </p:sp>
      <p:sp>
        <p:nvSpPr>
          <p:cNvPr id="360" name="Google Shape;360;p23">
            <a:extLst xmlns:a="http://schemas.openxmlformats.org/drawingml/2006/main">
              <a:ext uri="{FF2B5EF4-FFF2-40B4-BE49-F238E27FC236}">
                <a16:creationId xmlns:a16="http://schemas.microsoft.com/office/drawing/2014/main" id="{346D6B7A-C334-4DE1-A437-A12AE672C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650" y="2403775"/>
            <a:ext cx="16104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chemeClr val="lt1"/>
                </a:solidFill>
                <a:highlight>
                  <a:schemeClr val="dk2"/>
                </a:highlight>
                <a:latin typeface="Proxima Nova"/>
                <a:ea typeface="Proxima Nova"/>
                <a:cs typeface="Proxima Nova"/>
              </a:rPr>
              <a:t>Biblioteca de cDNA</a:t>
            </a:r>
            <a:endParaRPr sz="1600" b="0" i="0" u="none" cap="none">
              <a:solidFill>
                <a:schemeClr val="lt1"/>
              </a:solidFill>
              <a:highlight>
                <a:schemeClr val="dk2"/>
              </a:highlight>
              <a:latin typeface="Proxima Nova"/>
              <a:ea typeface="Proxima Nova"/>
              <a:cs typeface="Proxima Nova"/>
            </a:endParaRPr>
          </a:p>
        </p:txBody>
      </p:sp>
      <p:sp>
        <p:nvSpPr>
          <p:cNvPr id="361" name="Google Shape;361;p23">
            <a:extLst xmlns:a="http://schemas.openxmlformats.org/drawingml/2006/main">
              <a:ext uri="{FF2B5EF4-FFF2-40B4-BE49-F238E27FC236}">
                <a16:creationId xmlns:a16="http://schemas.microsoft.com/office/drawing/2014/main" id="{130457B1-F605-4380-80CE-FE1239DAD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1250" y="2403775"/>
            <a:ext cx="18090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chemeClr val="lt1"/>
                </a:solidFill>
                <a:highlight>
                  <a:schemeClr val="dk2"/>
                </a:highlight>
                <a:latin typeface="Proxima Nova"/>
                <a:ea typeface="Proxima Nova"/>
                <a:cs typeface="Proxima Nova"/>
              </a:rPr>
              <a:t>Sequenciamento (NGS)</a:t>
            </a:r>
            <a:endParaRPr sz="1600" b="0" i="0" u="none" cap="none">
              <a:solidFill>
                <a:schemeClr val="lt1"/>
              </a:solidFill>
              <a:highlight>
                <a:schemeClr val="dk2"/>
              </a:highlight>
              <a:latin typeface="Proxima Nova"/>
              <a:ea typeface="Proxima Nova"/>
              <a:cs typeface="Proxima Nova"/>
            </a:endParaRPr>
          </a:p>
        </p:txBody>
      </p:sp>
      <p:sp>
        <p:nvSpPr>
          <p:cNvPr id="362" name="Google Shape;362;p23">
            <a:extLst xmlns:a="http://schemas.openxmlformats.org/drawingml/2006/main">
              <a:ext uri="{FF2B5EF4-FFF2-40B4-BE49-F238E27FC236}">
                <a16:creationId xmlns:a16="http://schemas.microsoft.com/office/drawing/2014/main" id="{551CB0CB-0F44-4401-8D02-A7345E22105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32225" y="3033775"/>
            <a:ext cx="2012700" cy="177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sz="1300" b="1">
                <a:solidFill>
                  <a:schemeClr val="dk1"/>
                </a:solidFill>
              </a:rPr>
              <a:t>Suspensão de células únicas</a:t>
            </a:r>
            <a:r>
              <a:rPr sz="1300">
                <a:solidFill>
                  <a:schemeClr val="dk1"/>
                </a:solidFill>
              </a:rPr>
              <a:t>!</a:t>
            </a:r>
            <a:endParaRPr sz="1300">
              <a:solidFill>
                <a:schemeClr val="dk1"/>
              </a:solidFill>
            </a:endParaRPr>
          </a:p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sz="1300">
                <a:solidFill>
                  <a:schemeClr val="dk1"/>
                </a:solidFill>
              </a:rPr>
              <a:t>Preparo tecido-dependente.</a:t>
            </a:r>
            <a:endParaRPr sz="1300">
              <a:solidFill>
                <a:schemeClr val="dk1"/>
              </a:solidFill>
            </a:endParaRPr>
          </a:p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800"/>
              <a:buNone/>
            </a:pPr>
            <a:r>
              <a:rPr sz="1300">
                <a:solidFill>
                  <a:schemeClr val="dk1"/>
                </a:solidFill>
              </a:rPr>
              <a:t>Perda de células sensíveis.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363" name="Google Shape;363;p23">
            <a:extLst xmlns:a="http://schemas.openxmlformats.org/drawingml/2006/main">
              <a:ext uri="{FF2B5EF4-FFF2-40B4-BE49-F238E27FC236}">
                <a16:creationId xmlns:a16="http://schemas.microsoft.com/office/drawing/2014/main" id="{77129C2C-6238-4E12-B6AC-7AD631E09D6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645050" y="3122375"/>
            <a:ext cx="1869600" cy="114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ts val="1800"/>
              <a:buNone/>
            </a:pPr>
            <a:r>
              <a:rPr sz="1300">
                <a:solidFill>
                  <a:schemeClr val="dk1"/>
                </a:solidFill>
              </a:rPr>
              <a:t>Baseado em gotículas (</a:t>
            </a:r>
            <a:r>
              <a:rPr sz="1300" b="1" i="1">
                <a:solidFill>
                  <a:schemeClr val="dk1"/>
                </a:solidFill>
              </a:rPr>
              <a:t>droplet-based</a:t>
            </a:r>
            <a:r>
              <a:rPr sz="1300">
                <a:solidFill>
                  <a:schemeClr val="dk1"/>
                </a:solidFill>
              </a:rPr>
              <a:t>), formadas por </a:t>
            </a:r>
            <a:r>
              <a:rPr sz="1300" b="1">
                <a:solidFill>
                  <a:schemeClr val="dk1"/>
                </a:solidFill>
              </a:rPr>
              <a:t>microfluídica</a:t>
            </a:r>
            <a:r>
              <a:rPr sz="1300">
                <a:solidFill>
                  <a:schemeClr val="dk1"/>
                </a:solidFill>
              </a:rPr>
              <a:t>.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364" name="Google Shape;364;p23">
            <a:extLst xmlns:a="http://schemas.openxmlformats.org/drawingml/2006/main">
              <a:ext uri="{FF2B5EF4-FFF2-40B4-BE49-F238E27FC236}">
                <a16:creationId xmlns:a16="http://schemas.microsoft.com/office/drawing/2014/main" id="{2D3FC13A-7C2A-4966-A063-6DF813BA735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90850" y="3198575"/>
            <a:ext cx="1869600" cy="114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sz="1300" b="1">
                <a:solidFill>
                  <a:schemeClr val="dk1"/>
                </a:solidFill>
              </a:rPr>
              <a:t>Transcrito incompleto</a:t>
            </a:r>
            <a:r>
              <a:rPr sz="1300">
                <a:solidFill>
                  <a:schemeClr val="dk1"/>
                </a:solidFill>
              </a:rPr>
              <a:t> (extremidade 5’ ou 3’).</a:t>
            </a:r>
            <a:endParaRPr sz="1300">
              <a:solidFill>
                <a:schemeClr val="dk1"/>
              </a:solidFill>
            </a:endParaRPr>
          </a:p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sz="1300">
                <a:solidFill>
                  <a:schemeClr val="dk1"/>
                </a:solidFill>
              </a:rPr>
              <a:t>Amplificação por PCR.</a:t>
            </a:r>
            <a:endParaRPr sz="1300">
              <a:solidFill>
                <a:schemeClr val="dk1"/>
              </a:solidFill>
            </a:endParaRPr>
          </a:p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800"/>
              <a:buNone/>
            </a:pPr>
            <a:endParaRPr sz="1300">
              <a:solidFill>
                <a:schemeClr val="dk1"/>
              </a:solidFill>
            </a:endParaRPr>
          </a:p>
        </p:txBody>
      </p:sp>
      <p:sp>
        <p:nvSpPr>
          <p:cNvPr id="365" name="Google Shape;365;p23">
            <a:extLst xmlns:a="http://schemas.openxmlformats.org/drawingml/2006/main">
              <a:ext uri="{FF2B5EF4-FFF2-40B4-BE49-F238E27FC236}">
                <a16:creationId xmlns:a16="http://schemas.microsoft.com/office/drawing/2014/main" id="{3F6B29EC-56C0-4273-91FB-8691FC624B3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516650" y="3197250"/>
            <a:ext cx="1869600" cy="114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sz="1300" b="1">
                <a:solidFill>
                  <a:schemeClr val="dk1"/>
                </a:solidFill>
              </a:rPr>
              <a:t>Baixa cobertura</a:t>
            </a:r>
            <a:endParaRPr sz="1300" b="1">
              <a:solidFill>
                <a:schemeClr val="dk1"/>
              </a:solidFill>
            </a:endParaRPr>
          </a:p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r>
              <a:rPr sz="1300">
                <a:solidFill>
                  <a:schemeClr val="dk1"/>
                </a:solidFill>
              </a:rPr>
              <a:t>(muitos transcritos ficam de fora!)</a:t>
            </a:r>
            <a:endParaRPr sz="1300">
              <a:solidFill>
                <a:schemeClr val="dk1"/>
              </a:solidFill>
            </a:endParaRPr>
          </a:p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800"/>
              <a:buNone/>
            </a:pPr>
            <a:endParaRPr sz="1300">
              <a:solidFill>
                <a:schemeClr val="dk1"/>
              </a:solidFill>
            </a:endParaRPr>
          </a:p>
        </p:txBody>
      </p:sp>
      <p:sp>
        <p:nvSpPr>
          <p:cNvPr id="366" name="Google Shape;366;p23">
            <a:extLst xmlns:a="http://schemas.openxmlformats.org/drawingml/2006/main">
              <a:ext uri="{FF2B5EF4-FFF2-40B4-BE49-F238E27FC236}">
                <a16:creationId xmlns:a16="http://schemas.microsoft.com/office/drawing/2014/main" id="{E50F498B-5E63-4E87-8812-747DDEC30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8475" y="304675"/>
            <a:ext cx="48267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chemeClr val="lt1"/>
                </a:solidFill>
                <a:highlight>
                  <a:schemeClr val="accent5"/>
                </a:highlight>
                <a:latin typeface="Proxima Nova"/>
                <a:ea typeface="Proxima Nova"/>
                <a:cs typeface="Proxima Nova"/>
              </a:rPr>
              <a:t>Não é  o melhor método para caracterizar </a:t>
            </a:r>
            <a:r>
              <a:rPr sz="1400" b="1" i="0" u="none" cap="none">
                <a:solidFill>
                  <a:schemeClr val="lt1"/>
                </a:solidFill>
                <a:highlight>
                  <a:schemeClr val="accent5"/>
                </a:highlight>
                <a:latin typeface="Proxima Nova"/>
                <a:ea typeface="Proxima Nova"/>
                <a:cs typeface="Proxima Nova"/>
              </a:rPr>
              <a:t>profundamente </a:t>
            </a:r>
            <a:r>
              <a:rPr sz="1400" b="0" i="0" u="none" cap="none">
                <a:solidFill>
                  <a:schemeClr val="lt1"/>
                </a:solidFill>
                <a:highlight>
                  <a:schemeClr val="accent5"/>
                </a:highlight>
                <a:latin typeface="Proxima Nova"/>
                <a:ea typeface="Proxima Nova"/>
                <a:cs typeface="Proxima Nova"/>
              </a:rPr>
              <a:t>o perfil transcricional de populações celulares.</a:t>
            </a:r>
            <a:endParaRPr sz="1400" b="0" i="0" u="none" cap="none">
              <a:solidFill>
                <a:schemeClr val="lt1"/>
              </a:solidFill>
              <a:highlight>
                <a:schemeClr val="accent5"/>
              </a:highlight>
              <a:latin typeface="Proxima Nova"/>
              <a:ea typeface="Proxima Nova"/>
              <a:cs typeface="Proxima Nova"/>
            </a:endParaRPr>
          </a:p>
        </p:txBody>
      </p:sp>
      <p:sp>
        <p:nvSpPr>
          <p:cNvPr id="367" name="Google Shape;367;p23">
            <a:extLst xmlns:a="http://schemas.openxmlformats.org/drawingml/2006/main">
              <a:ext uri="{FF2B5EF4-FFF2-40B4-BE49-F238E27FC236}">
                <a16:creationId xmlns:a16="http://schemas.microsoft.com/office/drawing/2014/main" id="{5F65C297-374F-4417-A6A3-3B506D855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4850" y="4160075"/>
            <a:ext cx="46782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chemeClr val="lt1"/>
                </a:solidFill>
                <a:highlight>
                  <a:schemeClr val="dk2"/>
                </a:highlight>
                <a:latin typeface="Proxima Nova"/>
                <a:ea typeface="Proxima Nova"/>
                <a:cs typeface="Proxima Nova"/>
              </a:rPr>
              <a:t>Poder suficiente para </a:t>
            </a:r>
            <a:r>
              <a:rPr sz="1400" b="1" i="0" u="none" cap="none">
                <a:solidFill>
                  <a:schemeClr val="lt1"/>
                </a:solidFill>
                <a:highlight>
                  <a:schemeClr val="dk2"/>
                </a:highlight>
                <a:latin typeface="Proxima Nova"/>
                <a:ea typeface="Proxima Nova"/>
                <a:cs typeface="Proxima Nova"/>
              </a:rPr>
              <a:t>separar tipos e estados celulares</a:t>
            </a:r>
            <a:r>
              <a:rPr sz="1400" b="0" i="0" u="none" cap="none">
                <a:solidFill>
                  <a:schemeClr val="lt1"/>
                </a:solidFill>
                <a:highlight>
                  <a:schemeClr val="dk2"/>
                </a:highlight>
                <a:latin typeface="Proxima Nova"/>
                <a:ea typeface="Proxima Nova"/>
                <a:cs typeface="Proxima Nova"/>
              </a:rPr>
              <a:t>.</a:t>
            </a:r>
            <a:endParaRPr sz="1400" b="0" i="0" u="none" cap="none">
              <a:solidFill>
                <a:schemeClr val="lt1"/>
              </a:solidFill>
              <a:highlight>
                <a:schemeClr val="dk2"/>
              </a:highlight>
              <a:latin typeface="Proxima Nova"/>
              <a:ea typeface="Proxima Nova"/>
              <a:cs typeface="Proxima Nova"/>
            </a:endParaRPr>
          </a:p>
        </p:txBody>
      </p:sp>
      <p:sp>
        <p:nvSpPr>
          <p:cNvPr id="368" name="Google Shape;368;p23">
            <a:extLst xmlns:a="http://schemas.openxmlformats.org/drawingml/2006/main">
              <a:ext uri="{FF2B5EF4-FFF2-40B4-BE49-F238E27FC236}">
                <a16:creationId xmlns:a16="http://schemas.microsoft.com/office/drawing/2014/main" id="{47D50B3F-C5BC-468D-8004-4EB9F7B2B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8450" y="4502875"/>
            <a:ext cx="35310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chemeClr val="lt1"/>
                </a:solidFill>
                <a:highlight>
                  <a:schemeClr val="dk2"/>
                </a:highlight>
                <a:latin typeface="Proxima Nova"/>
                <a:ea typeface="Proxima Nova"/>
                <a:cs typeface="Proxima Nova"/>
              </a:rPr>
              <a:t>Excelente </a:t>
            </a:r>
            <a:r>
              <a:rPr sz="1400" b="1" i="0" u="none" cap="none">
                <a:solidFill>
                  <a:schemeClr val="lt1"/>
                </a:solidFill>
                <a:highlight>
                  <a:schemeClr val="dk2"/>
                </a:highlight>
                <a:latin typeface="Proxima Nova"/>
                <a:ea typeface="Proxima Nova"/>
                <a:cs typeface="Proxima Nova"/>
              </a:rPr>
              <a:t>custo-benefício</a:t>
            </a:r>
            <a:r>
              <a:rPr sz="1400" b="0" i="0" u="none" cap="none">
                <a:solidFill>
                  <a:schemeClr val="lt1"/>
                </a:solidFill>
                <a:highlight>
                  <a:schemeClr val="dk2"/>
                </a:highlight>
                <a:latin typeface="Proxima Nova"/>
                <a:ea typeface="Proxima Nova"/>
                <a:cs typeface="Proxima Nova"/>
              </a:rPr>
              <a:t>: </a:t>
            </a:r>
            <a:r>
              <a:rPr sz="1400" b="1" i="0" u="none" cap="none">
                <a:solidFill>
                  <a:schemeClr val="lt1"/>
                </a:solidFill>
                <a:highlight>
                  <a:schemeClr val="dk2"/>
                </a:highlight>
                <a:latin typeface="Proxima Nova"/>
                <a:ea typeface="Proxima Nova"/>
                <a:cs typeface="Proxima Nova"/>
              </a:rPr>
              <a:t>células/$$</a:t>
            </a:r>
            <a:r>
              <a:rPr sz="1400" b="0" i="0" u="none" cap="none">
                <a:solidFill>
                  <a:schemeClr val="lt1"/>
                </a:solidFill>
                <a:highlight>
                  <a:schemeClr val="dk2"/>
                </a:highlight>
                <a:latin typeface="Proxima Nova"/>
                <a:ea typeface="Proxima Nova"/>
                <a:cs typeface="Proxima Nova"/>
              </a:rPr>
              <a:t>.</a:t>
            </a:r>
            <a:endParaRPr sz="1400" b="0" i="0" u="none" cap="none">
              <a:solidFill>
                <a:schemeClr val="lt1"/>
              </a:solidFill>
              <a:highlight>
                <a:schemeClr val="dk2"/>
              </a:highlight>
              <a:latin typeface="Proxima Nova"/>
              <a:ea typeface="Proxima Nova"/>
              <a:cs typeface="Proxima Nova"/>
            </a:endParaRPr>
          </a:p>
        </p:txBody>
      </p:sp>
    </p:spTree>
    <p:extLst>
      <p:ext uri="{BB962C8B-B14F-4D97-AF65-F5344CB8AC3E}">
        <p14:creationId xmlns:p14="http://schemas.microsoft.com/office/powerpoint/2010/main" val="1353226839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3" name="Google Shape;373;p24">
            <a:extLst xmlns:a="http://schemas.openxmlformats.org/drawingml/2006/main">
              <a:ext uri="{FF2B5EF4-FFF2-40B4-BE49-F238E27FC236}">
                <a16:creationId xmlns:a16="http://schemas.microsoft.com/office/drawing/2014/main" id="{E4163495-85D4-48BF-8EED-F96CDC6993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6500" y="445025"/>
            <a:ext cx="5615400" cy="70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1600"/>
              <a:t>Outros métodos</a:t>
            </a:r>
            <a:endParaRPr sz="1600"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2000" b="1"/>
              <a:t>BD Rhapsody</a:t>
            </a:r>
            <a:endParaRPr sz="2000" b="1"/>
          </a:p>
        </p:txBody>
      </p:sp>
      <p:pic>
        <p:nvPicPr>
          <p:cNvPr id="384" name="Google Shape;374;p2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dcbe0a1fd8b4ac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68500" y="1221863"/>
            <a:ext cx="8006991" cy="20105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385" name="Google Shape;375;p2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95cdc6bb04a4503">
            <a:alphaModFix/>
          </a:blip>
          <a:srcRect xmlns:a="http://schemas.openxmlformats.org/drawingml/2006/main" l="7037" t="3846" r="0" b="0"/>
          <a:stretch xmlns:a="http://schemas.openxmlformats.org/drawingml/2006/main"/>
        </p:blipFill>
        <p:spPr>
          <a:xfrm xmlns:a="http://schemas.openxmlformats.org/drawingml/2006/main">
            <a:off x="6938175" y="3401075"/>
            <a:ext cx="2205825" cy="16508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76" name="Google Shape;376;p24">
            <a:extLst xmlns:a="http://schemas.openxmlformats.org/drawingml/2006/main">
              <a:ext uri="{FF2B5EF4-FFF2-40B4-BE49-F238E27FC236}">
                <a16:creationId xmlns:a16="http://schemas.microsoft.com/office/drawing/2014/main" id="{636B033D-EF32-481A-AF02-01BCE418D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8475" y="3301838"/>
            <a:ext cx="27897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chemeClr val="lt1"/>
                </a:solidFill>
                <a:highlight>
                  <a:schemeClr val="dk2"/>
                </a:highlight>
                <a:latin typeface="Proxima Nova"/>
                <a:ea typeface="Proxima Nova"/>
                <a:cs typeface="Proxima Nova"/>
              </a:rPr>
              <a:t>Captura de células únicas</a:t>
            </a:r>
            <a:endParaRPr sz="1600" b="0" i="0" u="none" cap="none">
              <a:solidFill>
                <a:schemeClr val="lt1"/>
              </a:solidFill>
              <a:highlight>
                <a:schemeClr val="dk2"/>
              </a:highlight>
              <a:latin typeface="Proxima Nova"/>
              <a:ea typeface="Proxima Nova"/>
              <a:cs typeface="Proxima Nova"/>
            </a:endParaRPr>
          </a:p>
        </p:txBody>
      </p:sp>
      <p:sp>
        <p:nvSpPr>
          <p:cNvPr id="377" name="Google Shape;377;p24">
            <a:extLst xmlns:a="http://schemas.openxmlformats.org/drawingml/2006/main">
              <a:ext uri="{FF2B5EF4-FFF2-40B4-BE49-F238E27FC236}">
                <a16:creationId xmlns:a16="http://schemas.microsoft.com/office/drawing/2014/main" id="{602441F9-8915-40B3-BBE3-F4B24547014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436225" y="3682713"/>
            <a:ext cx="2106900" cy="114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ts val="1800"/>
              <a:buNone/>
            </a:pPr>
            <a:r>
              <a:rPr sz="1500">
                <a:solidFill>
                  <a:schemeClr val="dk1"/>
                </a:solidFill>
              </a:rPr>
              <a:t>Baseado em nanopoços (</a:t>
            </a:r>
            <a:r>
              <a:rPr sz="1500" b="1" i="1">
                <a:solidFill>
                  <a:schemeClr val="dk1"/>
                </a:solidFill>
              </a:rPr>
              <a:t>nanowell-based</a:t>
            </a:r>
            <a:r>
              <a:rPr sz="1500">
                <a:solidFill>
                  <a:schemeClr val="dk1"/>
                </a:solidFill>
              </a:rPr>
              <a:t>)</a:t>
            </a:r>
            <a:endParaRPr sz="1500">
              <a:solidFill>
                <a:schemeClr val="dk1"/>
              </a:solidFill>
            </a:endParaRPr>
          </a:p>
        </p:txBody>
      </p:sp>
      <p:pic>
        <p:nvPicPr>
          <p:cNvPr id="388" name="Google Shape;378;p2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95b9ec274da486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80525" y="3495025"/>
            <a:ext cx="2162011" cy="140112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79" name="Google Shape;379;p24">
            <a:extLst xmlns:a="http://schemas.openxmlformats.org/drawingml/2006/main">
              <a:ext uri="{FF2B5EF4-FFF2-40B4-BE49-F238E27FC236}">
                <a16:creationId xmlns:a16="http://schemas.microsoft.com/office/drawing/2014/main" id="{8F2B3850-0521-4539-8DF4-75105A3D7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278" y="4117076"/>
            <a:ext cx="1769400" cy="840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 cmpd="sng">
            <a:solidFill>
              <a:schemeClr val="accent5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</p:txBody>
      </p:sp>
    </p:spTree>
    <p:extLst>
      <p:ext uri="{BB962C8B-B14F-4D97-AF65-F5344CB8AC3E}">
        <p14:creationId xmlns:p14="http://schemas.microsoft.com/office/powerpoint/2010/main" val="1207081152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4" name="Google Shape;384;p25">
            <a:extLst xmlns:a="http://schemas.openxmlformats.org/drawingml/2006/main">
              <a:ext uri="{FF2B5EF4-FFF2-40B4-BE49-F238E27FC236}">
                <a16:creationId xmlns:a16="http://schemas.microsoft.com/office/drawing/2014/main" id="{CCD3E8FC-CA34-4C90-A366-1C71317F34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t>Droplet-based vs. Plate-based</a:t>
            </a:r>
            <a:endParaRPr/>
          </a:p>
        </p:txBody>
      </p:sp>
      <p:pic>
        <p:nvPicPr>
          <p:cNvPr id="393" name="Google Shape;385;p2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ea41a4994e24a6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11700" y="1552025"/>
            <a:ext cx="4123825" cy="27090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394" name="Google Shape;386;p2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c0790fe5dd448af">
            <a:alphaModFix/>
          </a:blip>
          <a:srcRect xmlns:a="http://schemas.openxmlformats.org/drawingml/2006/main" l="1392" t="0" r="9346" b="0"/>
          <a:stretch xmlns:a="http://schemas.openxmlformats.org/drawingml/2006/main"/>
        </p:blipFill>
        <p:spPr>
          <a:xfrm xmlns:a="http://schemas.openxmlformats.org/drawingml/2006/main">
            <a:off x="4727975" y="1580150"/>
            <a:ext cx="4245075" cy="18165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87" name="Google Shape;387;p25">
            <a:extLst xmlns:a="http://schemas.openxmlformats.org/drawingml/2006/main">
              <a:ext uri="{FF2B5EF4-FFF2-40B4-BE49-F238E27FC236}">
                <a16:creationId xmlns:a16="http://schemas.microsoft.com/office/drawing/2014/main" id="{2B3784F8-E6CD-4C11-BE35-82D684522C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33200" y="4797550"/>
            <a:ext cx="8410800" cy="33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600">
                <a:solidFill>
                  <a:schemeClr val="accent3"/>
                </a:solidFill>
              </a:rPr>
              <a:t>Probst, V., Simonyan, A., Pacheco, F. et al. Benchmarking full-length transcript single cell mRNA sequencing protocols. BMC Genomics 23, 860 (2022). https://doi.org/10.1186/s12864-022-09014-5</a:t>
            </a:r>
            <a:endParaRPr sz="600">
              <a:solidFill>
                <a:schemeClr val="accent3"/>
              </a:solidFill>
            </a:endParaRPr>
          </a:p>
          <a:p xmlns:a="http://schemas.openxmlformats.org/drawingml/2006/main">
            <a: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600">
              <a:solidFill>
                <a:schemeClr val="accent3"/>
              </a:solidFill>
            </a:endParaRPr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600">
              <a:solidFill>
                <a:schemeClr val="accent3"/>
              </a:solidFill>
            </a:endParaRPr>
          </a:p>
        </p:txBody>
      </p:sp>
      <p:sp>
        <p:nvSpPr>
          <p:cNvPr id="388" name="Google Shape;388;p25">
            <a:extLst xmlns:a="http://schemas.openxmlformats.org/drawingml/2006/main">
              <a:ext uri="{FF2B5EF4-FFF2-40B4-BE49-F238E27FC236}">
                <a16:creationId xmlns:a16="http://schemas.microsoft.com/office/drawing/2014/main" id="{535E59D6-4AA6-4E4C-B7DD-277C6E3DE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2850" y="3546025"/>
            <a:ext cx="12090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sz="1500" b="0" i="0" u="none" cap="none">
                <a:solidFill>
                  <a:schemeClr val="lt1"/>
                </a:solidFill>
                <a:highlight>
                  <a:schemeClr val="accent5"/>
                </a:highlight>
                <a:latin typeface="Proxima Nova"/>
                <a:ea typeface="Proxima Nova"/>
                <a:cs typeface="Proxima Nova"/>
              </a:rPr>
              <a:t>Mais genes e counts /célula</a:t>
            </a:r>
            <a:endParaRPr sz="1500" b="0" i="0" u="none" cap="none">
              <a:solidFill>
                <a:schemeClr val="lt1"/>
              </a:solidFill>
              <a:highlight>
                <a:schemeClr val="accent5"/>
              </a:highlight>
              <a:latin typeface="Proxima Nova"/>
              <a:ea typeface="Proxima Nova"/>
              <a:cs typeface="Proxima Nova"/>
            </a:endParaRPr>
          </a:p>
        </p:txBody>
      </p:sp>
      <p:sp>
        <p:nvSpPr>
          <p:cNvPr id="389" name="Google Shape;389;p25">
            <a:extLst xmlns:a="http://schemas.openxmlformats.org/drawingml/2006/main">
              <a:ext uri="{FF2B5EF4-FFF2-40B4-BE49-F238E27FC236}">
                <a16:creationId xmlns:a16="http://schemas.microsoft.com/office/drawing/2014/main" id="{E99DCB7B-8D45-4076-A9CF-695E598E0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1250" y="3631100"/>
            <a:ext cx="12090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sz="1500" b="0" i="0" u="none" cap="none">
                <a:solidFill>
                  <a:schemeClr val="lt1"/>
                </a:solidFill>
                <a:highlight>
                  <a:schemeClr val="accent5"/>
                </a:highlight>
                <a:latin typeface="Proxima Nova"/>
                <a:ea typeface="Proxima Nova"/>
                <a:cs typeface="Proxima Nova"/>
              </a:rPr>
              <a:t>Mais células</a:t>
            </a:r>
            <a:endParaRPr sz="1500" b="0" i="0" u="none" cap="none">
              <a:solidFill>
                <a:schemeClr val="lt1"/>
              </a:solidFill>
              <a:highlight>
                <a:schemeClr val="accent5"/>
              </a:highlight>
              <a:latin typeface="Proxima Nova"/>
              <a:ea typeface="Proxima Nova"/>
              <a:cs typeface="Proxima Nova"/>
            </a:endParaRPr>
          </a:p>
        </p:txBody>
      </p:sp>
    </p:spTree>
    <p:extLst>
      <p:ext uri="{BB962C8B-B14F-4D97-AF65-F5344CB8AC3E}">
        <p14:creationId xmlns:p14="http://schemas.microsoft.com/office/powerpoint/2010/main" val="350961159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4" name="Google Shape;394;p26">
            <a:extLst xmlns:a="http://schemas.openxmlformats.org/drawingml/2006/main">
              <a:ext uri="{FF2B5EF4-FFF2-40B4-BE49-F238E27FC236}">
                <a16:creationId xmlns:a16="http://schemas.microsoft.com/office/drawing/2014/main" id="{29E3BD1A-A725-4126-A08E-B1FC511480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t>Conteúdos extras</a:t>
            </a:r>
            <a:endParaRPr/>
          </a:p>
        </p:txBody>
      </p:sp>
      <p:pic>
        <p:nvPicPr>
          <p:cNvPr id="407" name="Google Shape;395;p2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552ea8ed2b7482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33200" y="1869900"/>
            <a:ext cx="681025" cy="654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96" name="Google Shape;396;p26">
            <a:extLst xmlns:a="http://schemas.openxmlformats.org/drawingml/2006/main">
              <a:ext uri="{FF2B5EF4-FFF2-40B4-BE49-F238E27FC236}">
                <a16:creationId xmlns:a16="http://schemas.microsoft.com/office/drawing/2014/main" id="{57DD7984-2A25-4818-9835-3F10B422F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4225" y="1793650"/>
            <a:ext cx="2531700" cy="120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</a:rPr>
              <a:t>Haque et al, 2017. DOI 10.1186/s13073-017-0467-4</a:t>
            </a:r>
            <a:endParaRPr sz="1100" b="1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</a:rPr>
              <a:t>A practical guide to single-cell RNA-sequencing for biomedical research and clinical applications</a:t>
            </a:r>
            <a:endParaRPr sz="1100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397" name="Google Shape;397;p26">
            <a:extLst xmlns:a="http://schemas.openxmlformats.org/drawingml/2006/main">
              <a:ext uri="{FF2B5EF4-FFF2-40B4-BE49-F238E27FC236}">
                <a16:creationId xmlns:a16="http://schemas.microsoft.com/office/drawing/2014/main" id="{06F11E1A-2A72-4E9F-9E52-45A1C031A76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33200" y="1324600"/>
            <a:ext cx="36864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1800"/>
              <a:buNone/>
            </a:pPr>
            <a:r>
              <a:rPr sz="1500">
                <a:solidFill>
                  <a:schemeClr val="dk1"/>
                </a:solidFill>
              </a:rPr>
              <a:t>Princípios e planejamento experimental</a:t>
            </a:r>
            <a:endParaRPr sz="1500">
              <a:solidFill>
                <a:schemeClr val="dk1"/>
              </a:solidFill>
            </a:endParaRPr>
          </a:p>
        </p:txBody>
      </p:sp>
      <p:sp>
        <p:nvSpPr>
          <p:cNvPr id="398" name="Google Shape;398;p26">
            <a:extLst xmlns:a="http://schemas.openxmlformats.org/drawingml/2006/main">
              <a:ext uri="{FF2B5EF4-FFF2-40B4-BE49-F238E27FC236}">
                <a16:creationId xmlns:a16="http://schemas.microsoft.com/office/drawing/2014/main" id="{53815817-88CE-4168-B9AA-3813344766E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780225" y="1324600"/>
            <a:ext cx="36864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1800"/>
              <a:buNone/>
            </a:pPr>
            <a:r>
              <a:rPr sz="1500">
                <a:solidFill>
                  <a:schemeClr val="dk1"/>
                </a:solidFill>
              </a:rPr>
              <a:t>Métodos de geração de bibliotecas scRNA-seq</a:t>
            </a:r>
            <a:endParaRPr sz="1500">
              <a:solidFill>
                <a:schemeClr val="dk1"/>
              </a:solidFill>
            </a:endParaRPr>
          </a:p>
        </p:txBody>
      </p:sp>
      <p:pic>
        <p:nvPicPr>
          <p:cNvPr id="411" name="Google Shape;399;p2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552ea8ed2b7482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780225" y="2193750"/>
            <a:ext cx="681025" cy="654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00" name="Google Shape;400;p26">
            <a:extLst xmlns:a="http://schemas.openxmlformats.org/drawingml/2006/main">
              <a:ext uri="{FF2B5EF4-FFF2-40B4-BE49-F238E27FC236}">
                <a16:creationId xmlns:a16="http://schemas.microsoft.com/office/drawing/2014/main" id="{5C5A8697-D4A7-4EC2-8EBA-38A914A53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250" y="2117500"/>
            <a:ext cx="2531700" cy="120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</a:rPr>
              <a:t>De Simone et al, 2025. DOI 10.1093/nar/gkae1186</a:t>
            </a:r>
            <a:endParaRPr sz="1100" b="1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</a:rPr>
              <a:t>A comprehensive analysis framework for evaluating commercial single-cell RNA sequencing technologies</a:t>
            </a:r>
            <a:endParaRPr sz="1100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</p:txBody>
      </p:sp>
      <p:pic>
        <p:nvPicPr>
          <p:cNvPr id="413" name="Google Shape;401;p2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552ea8ed2b7482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780225" y="3241950"/>
            <a:ext cx="681025" cy="654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02" name="Google Shape;402;p26">
            <a:extLst xmlns:a="http://schemas.openxmlformats.org/drawingml/2006/main">
              <a:ext uri="{FF2B5EF4-FFF2-40B4-BE49-F238E27FC236}">
                <a16:creationId xmlns:a16="http://schemas.microsoft.com/office/drawing/2014/main" id="{AFE5A84B-16F8-4020-AA83-522A44551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1250" y="3165700"/>
            <a:ext cx="2531700" cy="136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</a:rPr>
              <a:t>Vídeo</a:t>
            </a:r>
            <a:endParaRPr sz="1100" b="1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</a:rPr>
              <a:t>Single Cell Gene Expression Protocol v3.1 | Assemble Chromium Next GEM Chip G</a:t>
            </a:r>
            <a:endParaRPr sz="1100" b="1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</a:rPr>
              <a:t>https://www.youtube.com/watch?v=cH8ldAqKUzE</a:t>
            </a:r>
            <a:endParaRPr sz="1100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</p:txBody>
      </p:sp>
    </p:spTree>
    <p:extLst>
      <p:ext uri="{BB962C8B-B14F-4D97-AF65-F5344CB8AC3E}">
        <p14:creationId xmlns:p14="http://schemas.microsoft.com/office/powerpoint/2010/main" val="930848712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7" name="Google Shape;407;g3f8c134e9bc_0_91">
            <a:extLst xmlns:a="http://schemas.openxmlformats.org/drawingml/2006/main">
              <a:ext uri="{FF2B5EF4-FFF2-40B4-BE49-F238E27FC236}">
                <a16:creationId xmlns:a16="http://schemas.microsoft.com/office/drawing/2014/main" id="{8A4A4741-7F23-4BA3-A7EE-7C3AAAED979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510450" y="3148700"/>
            <a:ext cx="8123100" cy="158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sz="3900"/>
              <a:t>Métodos de </a:t>
            </a:r>
            <a:endParaRPr sz="3900"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sz="3900"/>
              <a:t>transcriptômica espacial</a:t>
            </a:r>
            <a:endParaRPr sz="4400"/>
          </a:p>
        </p:txBody>
      </p:sp>
    </p:spTree>
    <p:extLst>
      <p:ext uri="{BB962C8B-B14F-4D97-AF65-F5344CB8AC3E}">
        <p14:creationId xmlns:p14="http://schemas.microsoft.com/office/powerpoint/2010/main" val="128812003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2" name="Google Shape;412;p28">
            <a:extLst xmlns:a="http://schemas.openxmlformats.org/drawingml/2006/main">
              <a:ext uri="{FF2B5EF4-FFF2-40B4-BE49-F238E27FC236}">
                <a16:creationId xmlns:a16="http://schemas.microsoft.com/office/drawing/2014/main" id="{B79BC229-285E-4882-96F1-3B3490F6E7C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5615400" cy="70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1800" b="1"/>
              <a:t>RNA-seq espacial</a:t>
            </a:r>
            <a:endParaRPr sz="1800" b="1"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1800"/>
              <a:t>Evolução de tecnologias</a:t>
            </a:r>
            <a:endParaRPr sz="1800"/>
          </a:p>
        </p:txBody>
      </p:sp>
      <p:cxnSp>
        <p:nvCxnSpPr>
          <p:cNvPr id="422" name="Google Shape;413;p28"/>
          <p:cNvCxnSpPr/>
          <p:nvPr/>
        </p:nvCxnSpPr>
        <p:spPr>
          <a:xfrm xmlns:a="http://schemas.openxmlformats.org/drawingml/2006/main" rot="10800000" flipH="1">
            <a:off x="596025" y="2770550"/>
            <a:ext cx="3311100" cy="420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flat">
            <a:solidFill>
              <a:schemeClr val="dk2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414" name="Google Shape;414;p28">
            <a:extLst xmlns:a="http://schemas.openxmlformats.org/drawingml/2006/main">
              <a:ext uri="{FF2B5EF4-FFF2-40B4-BE49-F238E27FC236}">
                <a16:creationId xmlns:a16="http://schemas.microsoft.com/office/drawing/2014/main" id="{787857E2-4F29-4EDB-ACE8-B12104D23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575" y="1409438"/>
            <a:ext cx="22623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sz="1500" b="1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Métodos baseados em hibridização </a:t>
            </a:r>
            <a:r>
              <a:rPr sz="1500" b="1" i="1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in situ</a:t>
            </a:r>
            <a:endParaRPr sz="1500" b="1" i="1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415" name="Google Shape;415;p28">
            <a:extLst xmlns:a="http://schemas.openxmlformats.org/drawingml/2006/main">
              <a:ext uri="{FF2B5EF4-FFF2-40B4-BE49-F238E27FC236}">
                <a16:creationId xmlns:a16="http://schemas.microsoft.com/office/drawing/2014/main" id="{F77FC18D-0C00-4E94-ACF3-C79B858F4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75" y="3647363"/>
            <a:ext cx="22623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sz="1500" b="1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Métodos baseados em microdissecção</a:t>
            </a:r>
            <a:endParaRPr sz="1500" b="1" i="1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pic>
        <p:nvPicPr>
          <p:cNvPr id="425" name="Google Shape;416;p2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a54121ed27e4ad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031199" y="3021700"/>
            <a:ext cx="4967099" cy="18813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17" name="Google Shape;417;p28">
            <a:extLst xmlns:a="http://schemas.openxmlformats.org/drawingml/2006/main">
              <a:ext uri="{FF2B5EF4-FFF2-40B4-BE49-F238E27FC236}">
                <a16:creationId xmlns:a16="http://schemas.microsoft.com/office/drawing/2014/main" id="{6A470393-454B-4E39-9999-55BA230B3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000" y="2326700"/>
            <a:ext cx="825900" cy="38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lt1"/>
                </a:solidFill>
                <a:highlight>
                  <a:schemeClr val="dk2"/>
                </a:highlight>
                <a:latin typeface="Proxima Nova"/>
                <a:ea typeface="Proxima Nova"/>
                <a:cs typeface="Proxima Nova"/>
              </a:rPr>
              <a:t>2000</a:t>
            </a:r>
            <a:endParaRPr sz="1200" b="0" i="0" u="none" cap="none">
              <a:solidFill>
                <a:schemeClr val="lt1"/>
              </a:solidFill>
              <a:highlight>
                <a:schemeClr val="dk2"/>
              </a:highlight>
              <a:latin typeface="Proxima Nova"/>
              <a:ea typeface="Proxima Nova"/>
              <a:cs typeface="Proxima Nova"/>
            </a:endParaRPr>
          </a:p>
        </p:txBody>
      </p:sp>
      <p:pic>
        <p:nvPicPr>
          <p:cNvPr id="427" name="Google Shape;418;p2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44a1acfc1dc43f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253570" y="642225"/>
            <a:ext cx="3646691" cy="18813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428" name="Google Shape;419;p2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57ec3cda15b429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803975" y="399075"/>
            <a:ext cx="2465623" cy="1402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826265748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4" name="Google Shape;424;p29">
            <a:extLst xmlns:a="http://schemas.openxmlformats.org/drawingml/2006/main">
              <a:ext uri="{FF2B5EF4-FFF2-40B4-BE49-F238E27FC236}">
                <a16:creationId xmlns:a16="http://schemas.microsoft.com/office/drawing/2014/main" id="{DB583127-862B-433A-95E5-ED6C707B38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5615400" cy="70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1800" b="1"/>
              <a:t>RNA-seq espacial</a:t>
            </a:r>
            <a:endParaRPr sz="1800" b="1"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1800"/>
              <a:t>Evolução de tecnologias</a:t>
            </a:r>
            <a:endParaRPr sz="1800"/>
          </a:p>
        </p:txBody>
      </p:sp>
      <p:cxnSp>
        <p:nvCxnSpPr>
          <p:cNvPr id="433" name="Google Shape;425;p29"/>
          <p:cNvCxnSpPr/>
          <p:nvPr/>
        </p:nvCxnSpPr>
        <p:spPr>
          <a:xfrm xmlns:a="http://schemas.openxmlformats.org/drawingml/2006/main" rot="10800000" flipH="1">
            <a:off x="596025" y="2770550"/>
            <a:ext cx="3311100" cy="420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flat">
            <a:solidFill>
              <a:schemeClr val="dk2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426" name="Google Shape;426;p29">
            <a:extLst xmlns:a="http://schemas.openxmlformats.org/drawingml/2006/main">
              <a:ext uri="{FF2B5EF4-FFF2-40B4-BE49-F238E27FC236}">
                <a16:creationId xmlns:a16="http://schemas.microsoft.com/office/drawing/2014/main" id="{BDC768D7-C986-42BB-8927-3EADEBA7C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7250" y="2916388"/>
            <a:ext cx="22623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sz="1500" b="1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Transcriptômica espacial</a:t>
            </a:r>
            <a:endParaRPr sz="1500" b="1" i="1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427" name="Google Shape;427;p29">
            <a:extLst xmlns:a="http://schemas.openxmlformats.org/drawingml/2006/main">
              <a:ext uri="{FF2B5EF4-FFF2-40B4-BE49-F238E27FC236}">
                <a16:creationId xmlns:a16="http://schemas.microsoft.com/office/drawing/2014/main" id="{B64BE3B0-F984-4B2D-9B6E-55844F021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450" y="2326700"/>
            <a:ext cx="825900" cy="38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lt1"/>
                </a:solidFill>
                <a:highlight>
                  <a:schemeClr val="dk2"/>
                </a:highlight>
                <a:latin typeface="Proxima Nova"/>
                <a:ea typeface="Proxima Nova"/>
                <a:cs typeface="Proxima Nova"/>
              </a:rPr>
              <a:t>2016</a:t>
            </a:r>
            <a:endParaRPr sz="1200" b="0" i="0" u="none" cap="none">
              <a:solidFill>
                <a:schemeClr val="lt1"/>
              </a:solidFill>
              <a:highlight>
                <a:schemeClr val="dk2"/>
              </a:highlight>
              <a:latin typeface="Proxima Nova"/>
              <a:ea typeface="Proxima Nova"/>
              <a:cs typeface="Proxima Nova"/>
            </a:endParaRPr>
          </a:p>
        </p:txBody>
      </p:sp>
      <p:sp>
        <p:nvSpPr>
          <p:cNvPr id="428" name="Google Shape;428;p29">
            <a:extLst xmlns:a="http://schemas.openxmlformats.org/drawingml/2006/main">
              <a:ext uri="{FF2B5EF4-FFF2-40B4-BE49-F238E27FC236}">
                <a16:creationId xmlns:a16="http://schemas.microsoft.com/office/drawing/2014/main" id="{FEEA6526-BCE3-4B3F-B3F0-3D39EDAF0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000" y="2326700"/>
            <a:ext cx="825900" cy="38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lt1"/>
                </a:solidFill>
                <a:highlight>
                  <a:schemeClr val="dk2"/>
                </a:highlight>
                <a:latin typeface="Proxima Nova"/>
                <a:ea typeface="Proxima Nova"/>
                <a:cs typeface="Proxima Nova"/>
              </a:rPr>
              <a:t>2000</a:t>
            </a:r>
            <a:endParaRPr sz="1200" b="0" i="0" u="none" cap="none">
              <a:solidFill>
                <a:schemeClr val="lt1"/>
              </a:solidFill>
              <a:highlight>
                <a:schemeClr val="dk2"/>
              </a:highlight>
              <a:latin typeface="Proxima Nova"/>
              <a:ea typeface="Proxima Nova"/>
              <a:cs typeface="Proxima Nova"/>
            </a:endParaRPr>
          </a:p>
        </p:txBody>
      </p:sp>
      <p:pic>
        <p:nvPicPr>
          <p:cNvPr id="437" name="Google Shape;429;p2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d907dd924a6471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355100" y="702550"/>
            <a:ext cx="3650775" cy="28011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438" name="Google Shape;430;p2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54f92d97ee047c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132475" y="3579925"/>
            <a:ext cx="4630024" cy="1043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439" name="Google Shape;431;p2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927b305d7ca4c2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381188" y="502800"/>
            <a:ext cx="4132600" cy="1452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342163155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6" name="Google Shape;436;p30">
            <a:extLst xmlns:a="http://schemas.openxmlformats.org/drawingml/2006/main">
              <a:ext uri="{FF2B5EF4-FFF2-40B4-BE49-F238E27FC236}">
                <a16:creationId xmlns:a16="http://schemas.microsoft.com/office/drawing/2014/main" id="{17B2342F-5114-422B-95C1-1A8C2A9F1F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5615400" cy="70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1800" b="1"/>
              <a:t>RNA-seq espacial</a:t>
            </a:r>
            <a:endParaRPr sz="1800" b="1"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1800"/>
              <a:t>Evolução de tecnologias</a:t>
            </a:r>
            <a:endParaRPr sz="1800"/>
          </a:p>
        </p:txBody>
      </p:sp>
      <p:cxnSp>
        <p:nvCxnSpPr>
          <p:cNvPr id="452" name="Google Shape;437;p30"/>
          <p:cNvCxnSpPr/>
          <p:nvPr/>
        </p:nvCxnSpPr>
        <p:spPr>
          <a:xfrm xmlns:a="http://schemas.openxmlformats.org/drawingml/2006/main" rot="10800000" flipH="1">
            <a:off x="596025" y="2770550"/>
            <a:ext cx="3311100" cy="420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flat">
            <a:solidFill>
              <a:schemeClr val="dk2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438" name="Google Shape;438;p30">
            <a:extLst xmlns:a="http://schemas.openxmlformats.org/drawingml/2006/main">
              <a:ext uri="{FF2B5EF4-FFF2-40B4-BE49-F238E27FC236}">
                <a16:creationId xmlns:a16="http://schemas.microsoft.com/office/drawing/2014/main" id="{CC17EB19-0A9C-4E56-AC4C-2C2ABAB38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7250" y="2916388"/>
            <a:ext cx="22623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sz="1500" b="1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Transcriptômica espacial</a:t>
            </a:r>
            <a:endParaRPr sz="1500" b="1" i="1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439" name="Google Shape;439;p30">
            <a:extLst xmlns:a="http://schemas.openxmlformats.org/drawingml/2006/main">
              <a:ext uri="{FF2B5EF4-FFF2-40B4-BE49-F238E27FC236}">
                <a16:creationId xmlns:a16="http://schemas.microsoft.com/office/drawing/2014/main" id="{A5698BCD-C259-48E0-BE49-08C96C985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450" y="2326700"/>
            <a:ext cx="825900" cy="38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lt1"/>
                </a:solidFill>
                <a:highlight>
                  <a:schemeClr val="dk2"/>
                </a:highlight>
                <a:latin typeface="Proxima Nova"/>
                <a:ea typeface="Proxima Nova"/>
                <a:cs typeface="Proxima Nova"/>
              </a:rPr>
              <a:t>2016</a:t>
            </a:r>
            <a:endParaRPr sz="1200" b="0" i="0" u="none" cap="none">
              <a:solidFill>
                <a:schemeClr val="lt1"/>
              </a:solidFill>
              <a:highlight>
                <a:schemeClr val="dk2"/>
              </a:highlight>
              <a:latin typeface="Proxima Nova"/>
              <a:ea typeface="Proxima Nova"/>
              <a:cs typeface="Proxima Nova"/>
            </a:endParaRPr>
          </a:p>
        </p:txBody>
      </p:sp>
      <p:sp>
        <p:nvSpPr>
          <p:cNvPr id="440" name="Google Shape;440;p30">
            <a:extLst xmlns:a="http://schemas.openxmlformats.org/drawingml/2006/main">
              <a:ext uri="{FF2B5EF4-FFF2-40B4-BE49-F238E27FC236}">
                <a16:creationId xmlns:a16="http://schemas.microsoft.com/office/drawing/2014/main" id="{BDAF2230-7368-40F4-B4C3-601FCA54A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000" y="2326700"/>
            <a:ext cx="825900" cy="38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lt1"/>
                </a:solidFill>
                <a:highlight>
                  <a:schemeClr val="dk2"/>
                </a:highlight>
                <a:latin typeface="Proxima Nova"/>
                <a:ea typeface="Proxima Nova"/>
                <a:cs typeface="Proxima Nova"/>
              </a:rPr>
              <a:t>2000</a:t>
            </a:r>
            <a:endParaRPr sz="1200" b="0" i="0" u="none" cap="none">
              <a:solidFill>
                <a:schemeClr val="lt1"/>
              </a:solidFill>
              <a:highlight>
                <a:schemeClr val="dk2"/>
              </a:highlight>
              <a:latin typeface="Proxima Nova"/>
              <a:ea typeface="Proxima Nova"/>
              <a:cs typeface="Proxima Nova"/>
            </a:endParaRPr>
          </a:p>
        </p:txBody>
      </p:sp>
      <p:cxnSp>
        <p:nvCxnSpPr>
          <p:cNvPr id="456" name="Google Shape;441;p30"/>
          <p:cNvCxnSpPr/>
          <p:nvPr/>
        </p:nvCxnSpPr>
        <p:spPr>
          <a:xfrm xmlns:a="http://schemas.openxmlformats.org/drawingml/2006/main" rot="10800000" flipH="1">
            <a:off x="3852000" y="2770550"/>
            <a:ext cx="1224000" cy="420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flat">
            <a:solidFill>
              <a:schemeClr val="dk2"/>
            </a:solidFill>
            <a:prstDash val="solid"/>
            <a:round/>
            <a:headEnd type="none" w="sm" len="sm"/>
            <a:tailEnd type="oval" w="med" len="med"/>
          </a:ln>
        </p:spPr>
      </p:cxnSp>
      <p:sp>
        <p:nvSpPr>
          <p:cNvPr id="442" name="Google Shape;442;p30">
            <a:extLst xmlns:a="http://schemas.openxmlformats.org/drawingml/2006/main">
              <a:ext uri="{FF2B5EF4-FFF2-40B4-BE49-F238E27FC236}">
                <a16:creationId xmlns:a16="http://schemas.microsoft.com/office/drawing/2014/main" id="{1D1B6EC6-EF4F-4C84-85E5-2D9FB42E5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4975" y="2326700"/>
            <a:ext cx="825900" cy="38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lt1"/>
                </a:solidFill>
                <a:highlight>
                  <a:schemeClr val="dk2"/>
                </a:highlight>
                <a:latin typeface="Proxima Nova"/>
                <a:ea typeface="Proxima Nova"/>
                <a:cs typeface="Proxima Nova"/>
              </a:rPr>
              <a:t>2019</a:t>
            </a:r>
            <a:endParaRPr sz="1200" b="0" i="0" u="none" cap="none">
              <a:solidFill>
                <a:schemeClr val="lt1"/>
              </a:solidFill>
              <a:highlight>
                <a:schemeClr val="dk2"/>
              </a:highlight>
              <a:latin typeface="Proxima Nova"/>
              <a:ea typeface="Proxima Nova"/>
              <a:cs typeface="Proxima Nova"/>
            </a:endParaRPr>
          </a:p>
        </p:txBody>
      </p:sp>
      <p:sp>
        <p:nvSpPr>
          <p:cNvPr id="443" name="Google Shape;443;p30">
            <a:extLst xmlns:a="http://schemas.openxmlformats.org/drawingml/2006/main">
              <a:ext uri="{FF2B5EF4-FFF2-40B4-BE49-F238E27FC236}">
                <a16:creationId xmlns:a16="http://schemas.microsoft.com/office/drawing/2014/main" id="{7F27820C-AA22-4EC7-9319-B485A02A0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6975" y="3162400"/>
            <a:ext cx="12399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chemeClr val="lt1"/>
                </a:solidFill>
                <a:highlight>
                  <a:schemeClr val="accent5"/>
                </a:highlight>
                <a:latin typeface="Proxima Nova"/>
                <a:ea typeface="Proxima Nova"/>
                <a:cs typeface="Proxima Nova"/>
              </a:rPr>
              <a:t>Slide-Seq </a:t>
            </a:r>
            <a:endParaRPr sz="1400" b="0" i="0" u="none" cap="none">
              <a:solidFill>
                <a:schemeClr val="lt1"/>
              </a:solidFill>
              <a:highlight>
                <a:schemeClr val="accent5"/>
              </a:highlight>
              <a:latin typeface="Proxima Nova"/>
              <a:ea typeface="Proxima Nova"/>
              <a:cs typeface="Proxima Nova"/>
            </a:endParaRPr>
          </a:p>
        </p:txBody>
      </p:sp>
      <p:cxnSp>
        <p:nvCxnSpPr>
          <p:cNvPr id="459" name="Google Shape;444;p30"/>
          <p:cNvCxnSpPr/>
          <p:nvPr/>
        </p:nvCxnSpPr>
        <p:spPr>
          <a:xfrm xmlns:a="http://schemas.openxmlformats.org/drawingml/2006/main" flipH="1">
            <a:off x="4896125" y="2882600"/>
            <a:ext cx="120000" cy="30840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chemeClr val="accent5"/>
            </a:solidFill>
            <a:prstDash val="dash"/>
            <a:round/>
            <a:headEnd type="none" w="sm" len="sm"/>
            <a:tailEnd type="triangle" w="med" len="med"/>
          </a:ln>
        </p:spPr>
      </p:cxnSp>
      <p:cxnSp>
        <p:nvCxnSpPr>
          <p:cNvPr id="460" name="Google Shape;445;p30"/>
          <p:cNvCxnSpPr/>
          <p:nvPr/>
        </p:nvCxnSpPr>
        <p:spPr>
          <a:xfrm xmlns:a="http://schemas.openxmlformats.org/drawingml/2006/main">
            <a:off x="5016125" y="2882600"/>
            <a:ext cx="243300" cy="60600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chemeClr val="accent5"/>
            </a:solidFill>
            <a:prstDash val="dash"/>
            <a:round/>
            <a:headEnd type="none" w="sm" len="sm"/>
            <a:tailEnd type="triangle" w="med" len="med"/>
          </a:ln>
        </p:spPr>
      </p:cxnSp>
      <p:sp>
        <p:nvSpPr>
          <p:cNvPr id="446" name="Google Shape;446;p30">
            <a:extLst xmlns:a="http://schemas.openxmlformats.org/drawingml/2006/main">
              <a:ext uri="{FF2B5EF4-FFF2-40B4-BE49-F238E27FC236}">
                <a16:creationId xmlns:a16="http://schemas.microsoft.com/office/drawing/2014/main" id="{C269C3AB-E4AC-429B-BC70-B5D0A94E1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4225" y="3437125"/>
            <a:ext cx="12399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chemeClr val="lt1"/>
                </a:solidFill>
                <a:highlight>
                  <a:schemeClr val="accent5"/>
                </a:highlight>
                <a:latin typeface="Proxima Nova"/>
                <a:ea typeface="Proxima Nova"/>
                <a:cs typeface="Proxima Nova"/>
              </a:rPr>
              <a:t>Visium</a:t>
            </a:r>
            <a:endParaRPr sz="1400" b="0" i="0" u="none" cap="none">
              <a:solidFill>
                <a:schemeClr val="lt1"/>
              </a:solidFill>
              <a:highlight>
                <a:schemeClr val="accent5"/>
              </a:highlight>
              <a:latin typeface="Proxima Nova"/>
              <a:ea typeface="Proxima Nova"/>
              <a:cs typeface="Proxima Nova"/>
            </a:endParaRPr>
          </a:p>
        </p:txBody>
      </p:sp>
      <p:pic>
        <p:nvPicPr>
          <p:cNvPr id="462" name="Google Shape;447;p3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5e878e9fe03475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470225" y="3644738"/>
            <a:ext cx="1523430" cy="97933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463" name="Google Shape;448;p3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d1903a00e8d407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707875" y="3546400"/>
            <a:ext cx="1622225" cy="12900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464" name="Google Shape;449;p3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2644d37ee90427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264349" y="239750"/>
            <a:ext cx="4656476" cy="146747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465" name="Google Shape;450;p3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886e74e4b144e8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731350" y="1674688"/>
            <a:ext cx="2262300" cy="184162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2069355195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5" name="Google Shape;455;p31">
            <a:extLst xmlns:a="http://schemas.openxmlformats.org/drawingml/2006/main">
              <a:ext uri="{FF2B5EF4-FFF2-40B4-BE49-F238E27FC236}">
                <a16:creationId xmlns:a16="http://schemas.microsoft.com/office/drawing/2014/main" id="{73D428FD-0733-4CBC-AA2A-0BA6203A5F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5615400" cy="70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1800" b="1"/>
              <a:t>RNA-seq espacial</a:t>
            </a:r>
            <a:endParaRPr sz="1800" b="1"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1800"/>
              <a:t>Princípios</a:t>
            </a:r>
            <a:endParaRPr sz="1800"/>
          </a:p>
        </p:txBody>
      </p:sp>
      <p:pic>
        <p:nvPicPr>
          <p:cNvPr id="471" name="Google Shape;456;p3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03fb0cc788f481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613865" y="1442711"/>
            <a:ext cx="6014319" cy="258132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57" name="Google Shape;457;p31">
            <a:extLst xmlns:a="http://schemas.openxmlformats.org/drawingml/2006/main">
              <a:ext uri="{FF2B5EF4-FFF2-40B4-BE49-F238E27FC236}">
                <a16:creationId xmlns:a16="http://schemas.microsoft.com/office/drawing/2014/main" id="{909AA43D-1106-46BC-A3B7-65635A0C8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2748" y="1020400"/>
            <a:ext cx="1273500" cy="10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0475" tIns="30225" rIns="60475" bIns="30225" anchor="t">
            <a:normAutofit fontScale="92500" lnSpcReduction="20000"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3A299"/>
              </a:buClr>
              <a:buSzPct val="85000"/>
              <a:buFont typeface="Arial"/>
              <a:buNone/>
            </a:pPr>
            <a:r>
              <a:rPr sz="1852" b="0" i="0" u="none" cap="none">
                <a:solidFill>
                  <a:srgbClr val="292934"/>
                </a:solidFill>
                <a:latin typeface="EB Garamond"/>
                <a:ea typeface="EB Garamond"/>
                <a:cs typeface="EB Garamond"/>
              </a:rPr>
              <a:t>10x Visium</a:t>
            </a:r>
            <a:endParaRPr sz="1852" b="0" i="0" u="none" cap="none">
              <a:solidFill>
                <a:srgbClr val="292934"/>
              </a:solidFill>
              <a:latin typeface="EB Garamond"/>
              <a:ea typeface="EB Garamond"/>
              <a:cs typeface="EB Garamond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259"/>
              </a:spcBef>
              <a:spcAft>
                <a:spcPts val="0"/>
              </a:spcAft>
              <a:buClr>
                <a:srgbClr val="93A299"/>
              </a:buClr>
              <a:buSzPct val="85000"/>
              <a:buFont typeface="Arial"/>
              <a:buNone/>
            </a:pPr>
            <a:r>
              <a:rPr sz="1852" b="0" i="0" u="none" cap="none">
                <a:solidFill>
                  <a:srgbClr val="292934"/>
                </a:solidFill>
                <a:latin typeface="EB Garamond"/>
                <a:ea typeface="EB Garamond"/>
                <a:cs typeface="EB Garamond"/>
              </a:rPr>
              <a:t>GeoMX</a:t>
            </a:r>
            <a:endParaRPr sz="1852" b="0" i="0" u="none" cap="none">
              <a:solidFill>
                <a:srgbClr val="292934"/>
              </a:solidFill>
              <a:latin typeface="EB Garamond"/>
              <a:ea typeface="EB Garamond"/>
              <a:cs typeface="EB Garamond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259"/>
              </a:spcBef>
              <a:spcAft>
                <a:spcPts val="0"/>
              </a:spcAft>
              <a:buClr>
                <a:srgbClr val="93A299"/>
              </a:buClr>
              <a:buSzPct val="85000"/>
              <a:buFont typeface="Arial"/>
              <a:buNone/>
            </a:pPr>
            <a:r>
              <a:rPr sz="1852" b="0" i="0" u="none" cap="none">
                <a:solidFill>
                  <a:srgbClr val="292934"/>
                </a:solidFill>
                <a:latin typeface="EB Garamond"/>
                <a:ea typeface="EB Garamond"/>
                <a:cs typeface="EB Garamond"/>
              </a:rPr>
              <a:t>BMKMANU</a:t>
            </a:r>
            <a:endParaRPr sz="926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259"/>
              </a:spcBef>
              <a:spcAft>
                <a:spcPts val="0"/>
              </a:spcAft>
              <a:buClr>
                <a:srgbClr val="93A299"/>
              </a:buClr>
              <a:buSzPct val="85000"/>
              <a:buFont typeface="Arial"/>
              <a:buNone/>
            </a:pPr>
            <a:r>
              <a:rPr sz="1852" b="0" i="0" u="none" cap="none">
                <a:solidFill>
                  <a:srgbClr val="292934"/>
                </a:solidFill>
                <a:latin typeface="EB Garamond"/>
                <a:ea typeface="EB Garamond"/>
                <a:cs typeface="EB Garamond"/>
              </a:rPr>
              <a:t>Stereo-Seq</a:t>
            </a:r>
            <a:endParaRPr sz="926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8" name="Google Shape;458;p31">
            <a:extLst xmlns:a="http://schemas.openxmlformats.org/drawingml/2006/main">
              <a:ext uri="{FF2B5EF4-FFF2-40B4-BE49-F238E27FC236}">
                <a16:creationId xmlns:a16="http://schemas.microsoft.com/office/drawing/2014/main" id="{5E0342E7-8C1B-4F57-BE84-68AF563C7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864" y="3191734"/>
            <a:ext cx="1057800" cy="10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0475" tIns="30225" rIns="60475" bIns="30225" anchor="t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3A299"/>
              </a:buClr>
              <a:buSzPts val="1124"/>
              <a:buFont typeface="Arial"/>
              <a:buNone/>
            </a:pPr>
            <a:r>
              <a:rPr sz="1323" b="0" i="0" u="none" cap="none">
                <a:solidFill>
                  <a:srgbClr val="292934"/>
                </a:solidFill>
                <a:latin typeface="EB Garamond"/>
                <a:ea typeface="EB Garamond"/>
                <a:cs typeface="EB Garamond"/>
              </a:rPr>
              <a:t>10x Xenium</a:t>
            </a:r>
            <a:endParaRPr sz="926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265"/>
              </a:spcBef>
              <a:spcAft>
                <a:spcPts val="0"/>
              </a:spcAft>
              <a:buClr>
                <a:srgbClr val="93A299"/>
              </a:buClr>
              <a:buSzPts val="1124"/>
              <a:buFont typeface="Arial"/>
              <a:buNone/>
            </a:pPr>
            <a:r>
              <a:rPr sz="1323" b="0" i="0" u="none" cap="none">
                <a:solidFill>
                  <a:srgbClr val="292934"/>
                </a:solidFill>
                <a:latin typeface="EB Garamond"/>
                <a:ea typeface="EB Garamond"/>
                <a:cs typeface="EB Garamond"/>
              </a:rPr>
              <a:t>CosMX</a:t>
            </a:r>
            <a:endParaRPr sz="1323" b="0" i="0" u="none" cap="none">
              <a:solidFill>
                <a:srgbClr val="292934"/>
              </a:solidFill>
              <a:latin typeface="EB Garamond"/>
              <a:ea typeface="EB Garamond"/>
              <a:cs typeface="EB Garamond"/>
            </a:endParaRPr>
          </a:p>
        </p:txBody>
      </p:sp>
      <p:sp>
        <p:nvSpPr>
          <p:cNvPr id="459" name="Google Shape;459;p31">
            <a:extLst xmlns:a="http://schemas.openxmlformats.org/drawingml/2006/main">
              <a:ext uri="{FF2B5EF4-FFF2-40B4-BE49-F238E27FC236}">
                <a16:creationId xmlns:a16="http://schemas.microsoft.com/office/drawing/2014/main" id="{AA4A8E27-7B36-4A48-A4F0-D86BE43F4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0442" y="3989099"/>
            <a:ext cx="1637100" cy="90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0475" tIns="30225" rIns="60475" bIns="30225" anchor="t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3A299"/>
              </a:buClr>
              <a:buSzPts val="1124"/>
              <a:buFont typeface="Arial"/>
              <a:buNone/>
            </a:pPr>
            <a:r>
              <a:rPr sz="1323" b="0" i="0" u="none" cap="none">
                <a:solidFill>
                  <a:srgbClr val="292934"/>
                </a:solidFill>
                <a:latin typeface="EB Garamond"/>
                <a:ea typeface="EB Garamond"/>
                <a:cs typeface="EB Garamond"/>
              </a:rPr>
              <a:t>Molecular Cartography</a:t>
            </a:r>
            <a:endParaRPr sz="926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265"/>
              </a:spcBef>
              <a:spcAft>
                <a:spcPts val="0"/>
              </a:spcAft>
              <a:buClr>
                <a:srgbClr val="93A299"/>
              </a:buClr>
              <a:buSzPts val="1124"/>
              <a:buFont typeface="Arial"/>
              <a:buNone/>
            </a:pPr>
            <a:r>
              <a:rPr sz="1323" b="0" i="0" u="none" cap="none">
                <a:solidFill>
                  <a:srgbClr val="292934"/>
                </a:solidFill>
                <a:latin typeface="EB Garamond"/>
                <a:ea typeface="EB Garamond"/>
                <a:cs typeface="EB Garamond"/>
              </a:rPr>
              <a:t>MERSCOPE</a:t>
            </a:r>
            <a:endParaRPr sz="926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60" name="Google Shape;460;p31">
            <a:extLst xmlns:a="http://schemas.openxmlformats.org/drawingml/2006/main">
              <a:ext uri="{FF2B5EF4-FFF2-40B4-BE49-F238E27FC236}">
                <a16:creationId xmlns:a16="http://schemas.microsoft.com/office/drawing/2014/main" id="{2018C429-5677-430F-B2FD-A76A03DED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975" y="1340156"/>
            <a:ext cx="7964100" cy="3431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85882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0475" tIns="30225" rIns="60475" bIns="302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90"/>
              <a:buFont typeface="Arial"/>
              <a:buNone/>
            </a:pPr>
            <a:endParaRPr sz="1190" b="0" i="0" u="none" cap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62" name="Google Shape;462;p31">
            <a:extLst xmlns:a="http://schemas.openxmlformats.org/drawingml/2006/main">
              <a:ext uri="{FF2B5EF4-FFF2-40B4-BE49-F238E27FC236}">
                <a16:creationId xmlns:a16="http://schemas.microsoft.com/office/drawing/2014/main" id="{C10F034B-B4AE-4D4B-8CE4-4779F820A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533519" y="2225088"/>
            <a:ext cx="3621085" cy="253475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D2533C">
              <a:alpha val="80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0475" tIns="30225" rIns="60475" bIns="302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90"/>
              <a:buFont typeface="Arial"/>
              <a:buNone/>
            </a:pPr>
            <a:endParaRPr sz="1190" b="0" i="0" u="none" cap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63" name="Google Shape;463;p31">
            <a:extLst xmlns:a="http://schemas.openxmlformats.org/drawingml/2006/main">
              <a:ext uri="{FF2B5EF4-FFF2-40B4-BE49-F238E27FC236}">
                <a16:creationId xmlns:a16="http://schemas.microsoft.com/office/drawing/2014/main" id="{1895B88D-2983-40C5-8E42-EF38E18C0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1" flipV="0">
            <a:off x="2870437" y="2225088"/>
            <a:ext cx="3621085" cy="253475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0070C0">
              <a:alpha val="8000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0475" tIns="30225" rIns="60475" bIns="302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90"/>
              <a:buFont typeface="Arial"/>
              <a:buNone/>
            </a:pPr>
            <a:endParaRPr sz="1190" b="0" i="0" u="none" cap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64" name="Google Shape;464;p31">
            <a:extLst xmlns:a="http://schemas.openxmlformats.org/drawingml/2006/main">
              <a:ext uri="{FF2B5EF4-FFF2-40B4-BE49-F238E27FC236}">
                <a16:creationId xmlns:a16="http://schemas.microsoft.com/office/drawing/2014/main" id="{FF16248B-D2B9-48C1-A1AB-6BDB6DBE4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017" y="2124636"/>
            <a:ext cx="1273500" cy="45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0475" tIns="30225" rIns="60475" bIns="30225" anchor="t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3A299"/>
              </a:buClr>
              <a:buSzPts val="1574"/>
              <a:buFont typeface="Arial"/>
              <a:buNone/>
            </a:pPr>
            <a:r>
              <a:rPr sz="1852" b="1" i="0" u="none" cap="none">
                <a:solidFill>
                  <a:srgbClr val="292934"/>
                </a:solidFill>
                <a:latin typeface="EB Garamond"/>
                <a:ea typeface="EB Garamond"/>
                <a:cs typeface="EB Garamond"/>
              </a:rPr>
              <a:t>Resolução</a:t>
            </a:r>
            <a:endParaRPr sz="1852" b="1" i="0" u="none" cap="none">
              <a:solidFill>
                <a:srgbClr val="292934"/>
              </a:solidFill>
              <a:latin typeface="EB Garamond"/>
              <a:ea typeface="EB Garamond"/>
              <a:cs typeface="EB Garamond"/>
            </a:endParaRPr>
          </a:p>
        </p:txBody>
      </p:sp>
      <p:sp>
        <p:nvSpPr>
          <p:cNvPr id="465" name="Google Shape;465;p31">
            <a:extLst xmlns:a="http://schemas.openxmlformats.org/drawingml/2006/main">
              <a:ext uri="{FF2B5EF4-FFF2-40B4-BE49-F238E27FC236}">
                <a16:creationId xmlns:a16="http://schemas.microsoft.com/office/drawing/2014/main" id="{5EAD5F1C-2DA7-4EF2-8171-3538B1150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6595" y="2124636"/>
            <a:ext cx="1663500" cy="45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0475" tIns="30225" rIns="60475" bIns="30225" anchor="t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3A299"/>
              </a:buClr>
              <a:buSzPts val="1574"/>
              <a:buFont typeface="Arial"/>
              <a:buNone/>
            </a:pPr>
            <a:r>
              <a:rPr sz="1852" b="1" i="0" u="none" cap="none">
                <a:solidFill>
                  <a:srgbClr val="292934"/>
                </a:solidFill>
                <a:latin typeface="EB Garamond"/>
                <a:ea typeface="EB Garamond"/>
                <a:cs typeface="EB Garamond"/>
              </a:rPr>
              <a:t>Desempenho</a:t>
            </a:r>
            <a:endParaRPr sz="1852" b="1" i="0" u="none" cap="none">
              <a:solidFill>
                <a:srgbClr val="292934"/>
              </a:solidFill>
              <a:latin typeface="EB Garamond"/>
              <a:ea typeface="EB Garamond"/>
              <a:cs typeface="EB Garamond"/>
            </a:endParaRPr>
          </a:p>
        </p:txBody>
      </p:sp>
      <p:pic>
        <p:nvPicPr>
          <p:cNvPr id="480" name="Google Shape;466;p3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67700c1b78942d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91563" y="2458762"/>
            <a:ext cx="6960873" cy="179533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67" name="Google Shape;467;p31">
            <a:extLst xmlns:a="http://schemas.openxmlformats.org/drawingml/2006/main">
              <a:ext uri="{FF2B5EF4-FFF2-40B4-BE49-F238E27FC236}">
                <a16:creationId xmlns:a16="http://schemas.microsoft.com/office/drawing/2014/main" id="{C5CE5DA4-C5DB-41B9-A7C7-39D1C1EB3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8025" y="4254089"/>
            <a:ext cx="2182500" cy="25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0475" tIns="30225" rIns="60475" bIns="30225" anchor="t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3A299"/>
              </a:buClr>
              <a:buSzPts val="899"/>
              <a:buFont typeface="Arial"/>
              <a:buNone/>
            </a:pPr>
            <a:r>
              <a:rPr sz="1058" b="0" i="0" u="none" cap="none">
                <a:solidFill>
                  <a:srgbClr val="292934"/>
                </a:solidFill>
                <a:latin typeface="Proxima Nova"/>
                <a:ea typeface="Proxima Nova"/>
                <a:cs typeface="Proxima Nova"/>
              </a:rPr>
              <a:t>(Wang, Y. </a:t>
            </a:r>
            <a:r>
              <a:rPr sz="1058" b="0" i="1" u="none" cap="none">
                <a:solidFill>
                  <a:srgbClr val="292934"/>
                </a:solidFill>
                <a:latin typeface="Proxima Nova"/>
                <a:ea typeface="Proxima Nova"/>
                <a:cs typeface="Proxima Nova"/>
              </a:rPr>
              <a:t>et al., </a:t>
            </a:r>
            <a:r>
              <a:rPr sz="1058" b="0" i="0" u="none" cap="none">
                <a:solidFill>
                  <a:srgbClr val="292934"/>
                </a:solidFill>
                <a:latin typeface="Proxima Nova"/>
                <a:ea typeface="Proxima Nova"/>
                <a:cs typeface="Proxima Nova"/>
              </a:rPr>
              <a:t>Genomics 2023)</a:t>
            </a:r>
            <a:endParaRPr sz="926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</p:txBody>
      </p:sp>
    </p:spTree>
    <p:extLst>
      <p:ext uri="{BB962C8B-B14F-4D97-AF65-F5344CB8AC3E}">
        <p14:creationId xmlns:p14="http://schemas.microsoft.com/office/powerpoint/2010/main" val="578093722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98" name="Google Shape;472;p3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2b4e771f35e4b1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76223" y="1867763"/>
            <a:ext cx="2323155" cy="14854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499" name="Google Shape;473;p3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5210795130f4a4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197792" y="1763502"/>
            <a:ext cx="2258694" cy="169402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500" name="Google Shape;474;p3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b3549a8709b491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838252" y="1966401"/>
            <a:ext cx="3001478" cy="128822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75" name="Google Shape;475;p32">
            <a:extLst xmlns:a="http://schemas.openxmlformats.org/drawingml/2006/main">
              <a:ext uri="{FF2B5EF4-FFF2-40B4-BE49-F238E27FC236}">
                <a16:creationId xmlns:a16="http://schemas.microsoft.com/office/drawing/2014/main" id="{E134592F-F37B-48E1-869D-9D20C84A9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889" y="1065300"/>
            <a:ext cx="1487700" cy="34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275" tIns="34125" rIns="68275" bIns="341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93"/>
              <a:buFont typeface="Arial"/>
              <a:buNone/>
            </a:pPr>
            <a:r>
              <a:rPr sz="1793" b="1" i="0" u="none" cap="none">
                <a:solidFill>
                  <a:srgbClr val="292934"/>
                </a:solidFill>
                <a:latin typeface="Proxima Nova"/>
                <a:ea typeface="Proxima Nova"/>
                <a:cs typeface="Proxima Nova"/>
              </a:rPr>
              <a:t>bulk RNAseq</a:t>
            </a:r>
            <a:endParaRPr sz="1793" b="1" i="0" u="none" cap="none">
              <a:solidFill>
                <a:srgbClr val="292934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476" name="Google Shape;476;p32">
            <a:extLst xmlns:a="http://schemas.openxmlformats.org/drawingml/2006/main">
              <a:ext uri="{FF2B5EF4-FFF2-40B4-BE49-F238E27FC236}">
                <a16:creationId xmlns:a16="http://schemas.microsoft.com/office/drawing/2014/main" id="{E22BECE7-AC78-41A4-B4BD-28AB128DE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7483" y="1065311"/>
            <a:ext cx="1419300" cy="34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275" tIns="34125" rIns="68275" bIns="341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93"/>
              <a:buFont typeface="Arial"/>
              <a:buNone/>
            </a:pPr>
            <a:r>
              <a:rPr sz="1793" b="1" i="0" u="none" cap="none">
                <a:solidFill>
                  <a:srgbClr val="292934"/>
                </a:solidFill>
                <a:latin typeface="Proxima Nova"/>
                <a:ea typeface="Proxima Nova"/>
                <a:cs typeface="Proxima Nova"/>
              </a:rPr>
              <a:t>scRNAseq</a:t>
            </a:r>
            <a:endParaRPr sz="1793" b="1" i="0" u="none" cap="none">
              <a:solidFill>
                <a:srgbClr val="292934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477" name="Google Shape;477;p32">
            <a:extLst xmlns:a="http://schemas.openxmlformats.org/drawingml/2006/main">
              <a:ext uri="{FF2B5EF4-FFF2-40B4-BE49-F238E27FC236}">
                <a16:creationId xmlns:a16="http://schemas.microsoft.com/office/drawing/2014/main" id="{C14B3B61-DDB7-4404-8F1F-B2D6848C2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888" y="1065311"/>
            <a:ext cx="2836200" cy="34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275" tIns="34125" rIns="68275" bIns="341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93"/>
              <a:buFont typeface="Arial"/>
              <a:buNone/>
            </a:pPr>
            <a:r>
              <a:rPr sz="1793" b="1" i="0" u="none" cap="none">
                <a:solidFill>
                  <a:srgbClr val="292934"/>
                </a:solidFill>
                <a:latin typeface="Proxima Nova"/>
                <a:ea typeface="Proxima Nova"/>
                <a:cs typeface="Proxima Nova"/>
              </a:rPr>
              <a:t>Spatial Transcriptomics</a:t>
            </a:r>
            <a:endParaRPr sz="1793" b="1" i="0" u="none" cap="none">
              <a:solidFill>
                <a:srgbClr val="292934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478" name="Google Shape;478;p32">
            <a:extLst xmlns:a="http://schemas.openxmlformats.org/drawingml/2006/main">
              <a:ext uri="{FF2B5EF4-FFF2-40B4-BE49-F238E27FC236}">
                <a16:creationId xmlns:a16="http://schemas.microsoft.com/office/drawing/2014/main" id="{D879BA45-664B-4324-9C81-EC24C5B00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2549" y="1427819"/>
            <a:ext cx="1893000" cy="50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275" tIns="34125" rIns="68275" bIns="34125" anchor="t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93"/>
              <a:buFont typeface="Arial"/>
              <a:buNone/>
            </a:pPr>
            <a:r>
              <a:rPr sz="1793" b="1" i="0" u="none" cap="none">
                <a:solidFill>
                  <a:srgbClr val="FF0000"/>
                </a:solidFill>
                <a:latin typeface="Proxima Nova"/>
                <a:ea typeface="Proxima Nova"/>
                <a:cs typeface="Proxima Nova"/>
              </a:rPr>
              <a:t>2016</a:t>
            </a:r>
            <a:endParaRPr sz="1793" b="0" i="0" u="none" cap="none">
              <a:solidFill>
                <a:srgbClr val="292934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479" name="Google Shape;479;p32">
            <a:extLst xmlns:a="http://schemas.openxmlformats.org/drawingml/2006/main">
              <a:ext uri="{FF2B5EF4-FFF2-40B4-BE49-F238E27FC236}">
                <a16:creationId xmlns:a16="http://schemas.microsoft.com/office/drawing/2014/main" id="{0A4BD2FD-C1A8-4841-B725-280D62580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04" y="3708843"/>
            <a:ext cx="1161300" cy="154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275" tIns="34125" rIns="68275" bIns="34125" anchor="t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93A299"/>
              </a:buClr>
              <a:buSzPts val="1524"/>
              <a:buFont typeface="Arial"/>
              <a:buNone/>
            </a:pPr>
            <a:r>
              <a:rPr sz="1793" i="0" u="none" cap="none">
                <a:solidFill>
                  <a:srgbClr val="292934"/>
                </a:solidFill>
                <a:latin typeface="Proxima Nova"/>
                <a:ea typeface="Proxima Nova"/>
                <a:cs typeface="Proxima Nova"/>
              </a:rPr>
              <a:t>RNA</a:t>
            </a:r>
            <a:endParaRPr sz="1046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50000"/>
              </a:lnSpc>
              <a:spcBef>
                <a:spcPts val="359"/>
              </a:spcBef>
              <a:spcAft>
                <a:spcPts val="0"/>
              </a:spcAft>
              <a:buClr>
                <a:srgbClr val="93A299"/>
              </a:buClr>
              <a:buSzPts val="1524"/>
              <a:buFont typeface="Arial"/>
              <a:buNone/>
            </a:pPr>
            <a:r>
              <a:rPr sz="1793" i="0" u="none" cap="none">
                <a:solidFill>
                  <a:srgbClr val="292934"/>
                </a:solidFill>
                <a:latin typeface="Proxima Nova"/>
                <a:ea typeface="Proxima Nova"/>
                <a:cs typeface="Proxima Nova"/>
              </a:rPr>
              <a:t>Célula</a:t>
            </a:r>
            <a:endParaRPr sz="1793" i="0" u="none" cap="none">
              <a:solidFill>
                <a:srgbClr val="292934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50000"/>
              </a:lnSpc>
              <a:spcBef>
                <a:spcPts val="359"/>
              </a:spcBef>
              <a:spcAft>
                <a:spcPts val="0"/>
              </a:spcAft>
              <a:buClr>
                <a:srgbClr val="93A299"/>
              </a:buClr>
              <a:buSzPts val="1524"/>
              <a:buFont typeface="Arial"/>
              <a:buNone/>
            </a:pPr>
            <a:r>
              <a:rPr sz="1793" i="0" u="none" cap="none">
                <a:solidFill>
                  <a:srgbClr val="292934"/>
                </a:solidFill>
                <a:latin typeface="Proxima Nova"/>
                <a:ea typeface="Proxima Nova"/>
                <a:cs typeface="Proxima Nova"/>
              </a:rPr>
              <a:t>Tecido</a:t>
            </a:r>
            <a:endParaRPr sz="1793" i="0" u="none" cap="none">
              <a:solidFill>
                <a:srgbClr val="292934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480" name="Google Shape;480;p32">
            <a:extLst xmlns:a="http://schemas.openxmlformats.org/drawingml/2006/main">
              <a:ext uri="{FF2B5EF4-FFF2-40B4-BE49-F238E27FC236}">
                <a16:creationId xmlns:a16="http://schemas.microsoft.com/office/drawing/2014/main" id="{64744CF0-7A93-4C2F-893F-6F07481B8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359" y="1427819"/>
            <a:ext cx="1893000" cy="50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275" tIns="34125" rIns="68275" bIns="34125" anchor="t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3A299"/>
              </a:buClr>
              <a:buSzPts val="1524"/>
              <a:buFont typeface="Arial"/>
              <a:buNone/>
            </a:pPr>
            <a:r>
              <a:rPr sz="1793" b="1" i="0" u="none" cap="none">
                <a:solidFill>
                  <a:srgbClr val="FF0000"/>
                </a:solidFill>
                <a:latin typeface="Proxima Nova"/>
                <a:ea typeface="Proxima Nova"/>
                <a:cs typeface="Proxima Nova"/>
              </a:rPr>
              <a:t>2006</a:t>
            </a:r>
            <a:endParaRPr sz="1046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481" name="Google Shape;481;p32">
            <a:extLst xmlns:a="http://schemas.openxmlformats.org/drawingml/2006/main">
              <a:ext uri="{FF2B5EF4-FFF2-40B4-BE49-F238E27FC236}">
                <a16:creationId xmlns:a16="http://schemas.microsoft.com/office/drawing/2014/main" id="{31C9A8E6-2BFD-4359-B0C7-95B663857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0698" y="1427819"/>
            <a:ext cx="1893000" cy="50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275" tIns="34125" rIns="68275" bIns="34125" anchor="t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3A299"/>
              </a:buClr>
              <a:buSzPts val="1524"/>
              <a:buFont typeface="Arial"/>
              <a:buNone/>
            </a:pPr>
            <a:r>
              <a:rPr sz="1793" b="1" i="0" u="none" cap="none">
                <a:solidFill>
                  <a:srgbClr val="FF0000"/>
                </a:solidFill>
                <a:latin typeface="Proxima Nova"/>
                <a:ea typeface="Proxima Nova"/>
                <a:cs typeface="Proxima Nova"/>
              </a:rPr>
              <a:t>2009</a:t>
            </a:r>
            <a:endParaRPr sz="1046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</p:txBody>
      </p:sp>
      <p:cxnSp>
        <p:nvCxnSpPr>
          <p:cNvPr id="508" name="Google Shape;482;p32"/>
          <p:cNvCxnSpPr/>
          <p:nvPr/>
        </p:nvCxnSpPr>
        <p:spPr>
          <a:xfrm xmlns:a="http://schemas.openxmlformats.org/drawingml/2006/main">
            <a:off x="2331862" y="1425341"/>
            <a:ext cx="1048800" cy="0"/>
          </a:xfrm>
          <a:prstGeom xmlns:a="http://schemas.openxmlformats.org/drawingml/2006/main" prst="straightConnector1">
            <a:avLst/>
          </a:prstGeom>
          <a:ln xmlns:a="http://schemas.openxmlformats.org/drawingml/2006/main" w="21350" cap="flat">
            <a:solidFill>
              <a:srgbClr val="D2533C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509" name="Google Shape;483;p32"/>
          <p:cNvCxnSpPr/>
          <p:nvPr/>
        </p:nvCxnSpPr>
        <p:spPr>
          <a:xfrm xmlns:a="http://schemas.openxmlformats.org/drawingml/2006/main">
            <a:off x="5036796" y="1432685"/>
            <a:ext cx="952200" cy="0"/>
          </a:xfrm>
          <a:prstGeom xmlns:a="http://schemas.openxmlformats.org/drawingml/2006/main" prst="straightConnector1">
            <a:avLst/>
          </a:prstGeom>
          <a:ln xmlns:a="http://schemas.openxmlformats.org/drawingml/2006/main" w="21350" cap="flat">
            <a:solidFill>
              <a:srgbClr val="D2533C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84" name="Google Shape;484;p32">
            <a:extLst xmlns:a="http://schemas.openxmlformats.org/drawingml/2006/main">
              <a:ext uri="{FF2B5EF4-FFF2-40B4-BE49-F238E27FC236}">
                <a16:creationId xmlns:a16="http://schemas.microsoft.com/office/drawing/2014/main" id="{2BE7F8D7-17C7-4B8E-8014-7FB8DDF19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3288" y="3673576"/>
            <a:ext cx="328800" cy="41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275" tIns="34125" rIns="68275" bIns="34125" anchor="t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3A299"/>
              </a:buClr>
              <a:buSzPts val="1778"/>
              <a:buFont typeface="Arial"/>
              <a:buNone/>
            </a:pPr>
            <a:r>
              <a:rPr sz="2091" b="1" i="0" u="none" cap="none">
                <a:solidFill>
                  <a:srgbClr val="292934"/>
                </a:solidFill>
                <a:latin typeface="Proxima Nova"/>
                <a:ea typeface="Proxima Nova"/>
                <a:cs typeface="Proxima Nova"/>
              </a:rPr>
              <a:t>X</a:t>
            </a:r>
            <a:endParaRPr sz="1046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485" name="Google Shape;485;p32">
            <a:extLst xmlns:a="http://schemas.openxmlformats.org/drawingml/2006/main">
              <a:ext uri="{FF2B5EF4-FFF2-40B4-BE49-F238E27FC236}">
                <a16:creationId xmlns:a16="http://schemas.microsoft.com/office/drawing/2014/main" id="{2D5B50C1-CF08-4043-B41C-D62DC4D6C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627" y="3673576"/>
            <a:ext cx="328800" cy="41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275" tIns="34125" rIns="68275" bIns="34125" anchor="t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3A299"/>
              </a:buClr>
              <a:buSzPts val="1778"/>
              <a:buFont typeface="Arial"/>
              <a:buNone/>
            </a:pPr>
            <a:r>
              <a:rPr sz="2091" b="1" i="0" u="none" cap="none">
                <a:solidFill>
                  <a:srgbClr val="292934"/>
                </a:solidFill>
                <a:latin typeface="Proxima Nova"/>
                <a:ea typeface="Proxima Nova"/>
                <a:cs typeface="Proxima Nova"/>
              </a:rPr>
              <a:t>X</a:t>
            </a:r>
            <a:endParaRPr sz="1046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486" name="Google Shape;486;p32">
            <a:extLst xmlns:a="http://schemas.openxmlformats.org/drawingml/2006/main">
              <a:ext uri="{FF2B5EF4-FFF2-40B4-BE49-F238E27FC236}">
                <a16:creationId xmlns:a16="http://schemas.microsoft.com/office/drawing/2014/main" id="{D76365CB-2FAF-401D-B0BD-53A0BE1B4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627" y="4086149"/>
            <a:ext cx="328800" cy="41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275" tIns="34125" rIns="68275" bIns="34125" anchor="t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3A299"/>
              </a:buClr>
              <a:buSzPts val="1778"/>
              <a:buFont typeface="Arial"/>
              <a:buNone/>
            </a:pPr>
            <a:r>
              <a:rPr sz="2091" b="1" i="0" u="none" cap="none">
                <a:solidFill>
                  <a:srgbClr val="292934"/>
                </a:solidFill>
                <a:latin typeface="Proxima Nova"/>
                <a:ea typeface="Proxima Nova"/>
                <a:cs typeface="Proxima Nova"/>
              </a:rPr>
              <a:t>X</a:t>
            </a:r>
            <a:endParaRPr sz="1046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487" name="Google Shape;487;p32">
            <a:extLst xmlns:a="http://schemas.openxmlformats.org/drawingml/2006/main">
              <a:ext uri="{FF2B5EF4-FFF2-40B4-BE49-F238E27FC236}">
                <a16:creationId xmlns:a16="http://schemas.microsoft.com/office/drawing/2014/main" id="{A891B7AA-CC55-42EE-B662-A90A9702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4478" y="3673576"/>
            <a:ext cx="328800" cy="41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275" tIns="34125" rIns="68275" bIns="34125" anchor="t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3A299"/>
              </a:buClr>
              <a:buSzPts val="1778"/>
              <a:buFont typeface="Arial"/>
              <a:buNone/>
            </a:pPr>
            <a:r>
              <a:rPr sz="2091" b="1" i="0" u="none" cap="none">
                <a:solidFill>
                  <a:srgbClr val="292934"/>
                </a:solidFill>
                <a:latin typeface="Proxima Nova"/>
                <a:ea typeface="Proxima Nova"/>
                <a:cs typeface="Proxima Nova"/>
              </a:rPr>
              <a:t>X</a:t>
            </a:r>
            <a:endParaRPr sz="1046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488" name="Google Shape;488;p32">
            <a:extLst xmlns:a="http://schemas.openxmlformats.org/drawingml/2006/main">
              <a:ext uri="{FF2B5EF4-FFF2-40B4-BE49-F238E27FC236}">
                <a16:creationId xmlns:a16="http://schemas.microsoft.com/office/drawing/2014/main" id="{9AE88049-F817-44C9-986E-32AEEA184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4478" y="4086149"/>
            <a:ext cx="328800" cy="41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275" tIns="34125" rIns="68275" bIns="34125" anchor="t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3A299"/>
              </a:buClr>
              <a:buSzPts val="1778"/>
              <a:buFont typeface="Arial"/>
              <a:buNone/>
            </a:pPr>
            <a:r>
              <a:rPr sz="2091" b="1" i="0" u="none" cap="none">
                <a:solidFill>
                  <a:srgbClr val="292934"/>
                </a:solidFill>
                <a:latin typeface="Proxima Nova"/>
                <a:ea typeface="Proxima Nova"/>
                <a:cs typeface="Proxima Nova"/>
              </a:rPr>
              <a:t>X</a:t>
            </a:r>
            <a:endParaRPr sz="1046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489" name="Google Shape;489;p32">
            <a:extLst xmlns:a="http://schemas.openxmlformats.org/drawingml/2006/main">
              <a:ext uri="{FF2B5EF4-FFF2-40B4-BE49-F238E27FC236}">
                <a16:creationId xmlns:a16="http://schemas.microsoft.com/office/drawing/2014/main" id="{6691EDAD-4A94-4320-90CE-1368044B6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4478" y="4516079"/>
            <a:ext cx="328800" cy="41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275" tIns="34125" rIns="68275" bIns="34125" anchor="t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3A299"/>
              </a:buClr>
              <a:buSzPts val="1778"/>
              <a:buFont typeface="Arial"/>
              <a:buNone/>
            </a:pPr>
            <a:r>
              <a:rPr sz="2091" b="1" i="0" u="none" cap="none">
                <a:solidFill>
                  <a:srgbClr val="292934"/>
                </a:solidFill>
                <a:latin typeface="Proxima Nova"/>
                <a:ea typeface="Proxima Nova"/>
                <a:cs typeface="Proxima Nova"/>
              </a:rPr>
              <a:t>X</a:t>
            </a:r>
            <a:endParaRPr sz="1046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490" name="Google Shape;490;p32">
            <a:extLst xmlns:a="http://schemas.openxmlformats.org/drawingml/2006/main">
              <a:ext uri="{FF2B5EF4-FFF2-40B4-BE49-F238E27FC236}">
                <a16:creationId xmlns:a16="http://schemas.microsoft.com/office/drawing/2014/main" id="{0EC915FE-F2FA-4818-9553-9CFA59558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00" y="1478104"/>
            <a:ext cx="8995500" cy="211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85882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275" tIns="34125" rIns="68275" bIns="341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4"/>
              <a:buFont typeface="Arial"/>
              <a:buNone/>
            </a:pPr>
            <a:endParaRPr sz="1344" i="0" u="none" cap="none">
              <a:solidFill>
                <a:srgbClr val="FFFFFF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491" name="Google Shape;491;p32">
            <a:extLst xmlns:a="http://schemas.openxmlformats.org/drawingml/2006/main">
              <a:ext uri="{FF2B5EF4-FFF2-40B4-BE49-F238E27FC236}">
                <a16:creationId xmlns:a16="http://schemas.microsoft.com/office/drawing/2014/main" id="{066DCD92-B314-4F8E-B1AA-6787C60EF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93" y="2277440"/>
            <a:ext cx="1163100" cy="34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275" tIns="34125" rIns="68275" bIns="341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93"/>
              <a:buFont typeface="Arial"/>
              <a:buNone/>
            </a:pPr>
            <a:r>
              <a:rPr sz="1793" b="1" i="0" u="none" cap="none">
                <a:solidFill>
                  <a:srgbClr val="292934"/>
                </a:solidFill>
                <a:latin typeface="Proxima Nova"/>
                <a:ea typeface="Proxima Nova"/>
                <a:cs typeface="Proxima Nova"/>
              </a:rPr>
              <a:t>OBJETO</a:t>
            </a:r>
            <a:endParaRPr sz="1793" b="1" i="0" u="none" cap="none">
              <a:solidFill>
                <a:srgbClr val="292934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492" name="Google Shape;492;p32">
            <a:extLst xmlns:a="http://schemas.openxmlformats.org/drawingml/2006/main">
              <a:ext uri="{FF2B5EF4-FFF2-40B4-BE49-F238E27FC236}">
                <a16:creationId xmlns:a16="http://schemas.microsoft.com/office/drawing/2014/main" id="{68D55254-2266-4876-9DD3-E7E18F3F9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5534" y="2277440"/>
            <a:ext cx="1163100" cy="34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275" tIns="34125" rIns="68275" bIns="341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93"/>
              <a:buFont typeface="Arial"/>
              <a:buNone/>
            </a:pPr>
            <a:r>
              <a:rPr sz="1793" b="1" i="0" u="none" cap="none">
                <a:solidFill>
                  <a:srgbClr val="292934"/>
                </a:solidFill>
                <a:latin typeface="Proxima Nova"/>
                <a:ea typeface="Proxima Nova"/>
                <a:cs typeface="Proxima Nova"/>
              </a:rPr>
              <a:t>SUJEITO</a:t>
            </a:r>
            <a:endParaRPr sz="1793" b="1" i="0" u="none" cap="none">
              <a:solidFill>
                <a:srgbClr val="292934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493" name="Google Shape;493;p32">
            <a:extLst xmlns:a="http://schemas.openxmlformats.org/drawingml/2006/main">
              <a:ext uri="{FF2B5EF4-FFF2-40B4-BE49-F238E27FC236}">
                <a16:creationId xmlns:a16="http://schemas.microsoft.com/office/drawing/2014/main" id="{90783552-6B74-4517-B43A-786C91369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1898" y="2277440"/>
            <a:ext cx="1487700" cy="34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275" tIns="34125" rIns="68275" bIns="341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93"/>
              <a:buFont typeface="Arial"/>
              <a:buNone/>
            </a:pPr>
            <a:r>
              <a:rPr sz="1793" b="1" i="0" u="none" cap="none">
                <a:solidFill>
                  <a:srgbClr val="292934"/>
                </a:solidFill>
                <a:latin typeface="Proxima Nova"/>
                <a:ea typeface="Proxima Nova"/>
                <a:cs typeface="Proxima Nova"/>
              </a:rPr>
              <a:t>CONTEXTO</a:t>
            </a:r>
            <a:endParaRPr sz="1793" b="1" i="0" u="none" cap="none">
              <a:solidFill>
                <a:srgbClr val="292934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494" name="Google Shape;494;p32">
            <a:extLst xmlns:a="http://schemas.openxmlformats.org/drawingml/2006/main">
              <a:ext uri="{FF2B5EF4-FFF2-40B4-BE49-F238E27FC236}">
                <a16:creationId xmlns:a16="http://schemas.microsoft.com/office/drawing/2014/main" id="{8FCE012F-A55D-43B7-A455-DF4D9A73AC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5615400" cy="70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1800" b="1"/>
              <a:t>RNA-seq espacial</a:t>
            </a:r>
            <a:endParaRPr sz="1800" b="1"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1800"/>
              <a:t>Princípios</a:t>
            </a:r>
            <a:endParaRPr sz="1800"/>
          </a:p>
        </p:txBody>
      </p:sp>
    </p:spTree>
    <p:extLst>
      <p:ext uri="{BB962C8B-B14F-4D97-AF65-F5344CB8AC3E}">
        <p14:creationId xmlns:p14="http://schemas.microsoft.com/office/powerpoint/2010/main" val="1363512336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9" name="Google Shape;499;p33">
            <a:extLst xmlns:a="http://schemas.openxmlformats.org/drawingml/2006/main">
              <a:ext uri="{FF2B5EF4-FFF2-40B4-BE49-F238E27FC236}">
                <a16:creationId xmlns:a16="http://schemas.microsoft.com/office/drawing/2014/main" id="{665C1A26-89E2-4F31-B58B-83B6122BE6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5615400" cy="70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1800" b="1"/>
              <a:t>RNA-seq espacial</a:t>
            </a:r>
            <a:endParaRPr sz="1800" b="1"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1800"/>
              <a:t>Princípios</a:t>
            </a:r>
            <a:endParaRPr sz="1800"/>
          </a:p>
        </p:txBody>
      </p:sp>
      <p:sp>
        <p:nvSpPr>
          <p:cNvPr id="500" name="Google Shape;500;p33">
            <a:extLst xmlns:a="http://schemas.openxmlformats.org/drawingml/2006/main">
              <a:ext uri="{FF2B5EF4-FFF2-40B4-BE49-F238E27FC236}">
                <a16:creationId xmlns:a16="http://schemas.microsoft.com/office/drawing/2014/main" id="{A2FD23B1-CEAC-46BD-8407-E035FCDCC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189" y="1691250"/>
            <a:ext cx="1487700" cy="34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275" tIns="34125" rIns="68275" bIns="341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93"/>
              <a:buFont typeface="Arial"/>
              <a:buNone/>
            </a:pPr>
            <a:r>
              <a:rPr sz="1793" b="1" i="0" u="none" cap="none">
                <a:solidFill>
                  <a:srgbClr val="292934"/>
                </a:solidFill>
                <a:latin typeface="Proxima Nova"/>
                <a:ea typeface="Proxima Nova"/>
                <a:cs typeface="Proxima Nova"/>
              </a:rPr>
              <a:t>bulk RNAseq</a:t>
            </a:r>
            <a:endParaRPr sz="1793" b="1" i="0" u="none" cap="none">
              <a:solidFill>
                <a:srgbClr val="292934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501" name="Google Shape;501;p33">
            <a:extLst xmlns:a="http://schemas.openxmlformats.org/drawingml/2006/main">
              <a:ext uri="{FF2B5EF4-FFF2-40B4-BE49-F238E27FC236}">
                <a16:creationId xmlns:a16="http://schemas.microsoft.com/office/drawing/2014/main" id="{906F23CA-E976-4D3E-B753-33B7A6927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5773" y="1691261"/>
            <a:ext cx="1419300" cy="34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275" tIns="34125" rIns="68275" bIns="341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93"/>
              <a:buFont typeface="Arial"/>
              <a:buNone/>
            </a:pPr>
            <a:r>
              <a:rPr sz="1793" b="1" i="0" u="none" cap="none">
                <a:solidFill>
                  <a:srgbClr val="292934"/>
                </a:solidFill>
                <a:latin typeface="Proxima Nova"/>
                <a:ea typeface="Proxima Nova"/>
                <a:cs typeface="Proxima Nova"/>
              </a:rPr>
              <a:t>scRNAseq</a:t>
            </a:r>
            <a:endParaRPr sz="1793" b="1" i="0" u="none" cap="none">
              <a:solidFill>
                <a:srgbClr val="292934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502" name="Google Shape;502;p33">
            <a:extLst xmlns:a="http://schemas.openxmlformats.org/drawingml/2006/main">
              <a:ext uri="{FF2B5EF4-FFF2-40B4-BE49-F238E27FC236}">
                <a16:creationId xmlns:a16="http://schemas.microsoft.com/office/drawing/2014/main" id="{E5583AF0-CF6A-417F-82CF-0D1FD10AE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2336" y="1691261"/>
            <a:ext cx="2836200" cy="34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275" tIns="34125" rIns="68275" bIns="341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93"/>
              <a:buFont typeface="Arial"/>
              <a:buNone/>
            </a:pPr>
            <a:r>
              <a:rPr sz="1793" b="1" i="0" u="none" cap="none">
                <a:solidFill>
                  <a:srgbClr val="292934"/>
                </a:solidFill>
                <a:latin typeface="Proxima Nova"/>
                <a:ea typeface="Proxima Nova"/>
                <a:cs typeface="Proxima Nova"/>
              </a:rPr>
              <a:t>Spatial Transcriptomics</a:t>
            </a:r>
            <a:endParaRPr sz="1793" b="1" i="0" u="none" cap="none">
              <a:solidFill>
                <a:srgbClr val="292934"/>
              </a:solidFill>
              <a:latin typeface="Proxima Nova"/>
              <a:ea typeface="Proxima Nova"/>
              <a:cs typeface="Proxima Nova"/>
            </a:endParaRPr>
          </a:p>
        </p:txBody>
      </p:sp>
      <p:pic>
        <p:nvPicPr>
          <p:cNvPr id="514" name="Google Shape;503;p3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bc3ea252c464da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75142" y="2404370"/>
            <a:ext cx="1379795" cy="188952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515" name="Google Shape;504;p3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4e10ffdd3ae43a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952876" y="2426342"/>
            <a:ext cx="3445094" cy="184558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516" name="Google Shape;505;p3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daf129697b9433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600312" y="2202235"/>
            <a:ext cx="3480248" cy="22938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06" name="Google Shape;506;p33">
            <a:extLst xmlns:a="http://schemas.openxmlformats.org/drawingml/2006/main">
              <a:ext uri="{FF2B5EF4-FFF2-40B4-BE49-F238E27FC236}">
                <a16:creationId xmlns:a16="http://schemas.microsoft.com/office/drawing/2014/main" id="{65340CC7-AF11-4962-A8BC-165D4314D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2225" y="2612561"/>
            <a:ext cx="3252000" cy="435600"/>
          </a:xfrm>
          <a:prstGeom xmlns:a="http://schemas.openxmlformats.org/drawingml/2006/main" prst="roundRect">
            <a:avLst>
              <a:gd name="adj" fmla="val 16667"/>
            </a:avLst>
          </a:prstGeom>
          <a:noFill xmlns:a="http://schemas.openxmlformats.org/drawingml/2006/main"/>
          <a:ln xmlns:a="http://schemas.openxmlformats.org/drawingml/2006/main" w="28575" cmpd="sng">
            <a:solidFill>
              <a:srgbClr val="D2533C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</p:txBody>
      </p:sp>
    </p:spTree>
    <p:extLst>
      <p:ext uri="{BB962C8B-B14F-4D97-AF65-F5344CB8AC3E}">
        <p14:creationId xmlns:p14="http://schemas.microsoft.com/office/powerpoint/2010/main" val="381218506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1" name="Google Shape;511;p34">
            <a:extLst xmlns:a="http://schemas.openxmlformats.org/drawingml/2006/main">
              <a:ext uri="{FF2B5EF4-FFF2-40B4-BE49-F238E27FC236}">
                <a16:creationId xmlns:a16="http://schemas.microsoft.com/office/drawing/2014/main" id="{E4833341-E893-43EB-879A-DEED65E2F11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5615400" cy="70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1800" b="1"/>
              <a:t>RNA-seq espacial</a:t>
            </a:r>
            <a:endParaRPr sz="1800" b="1"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1800"/>
              <a:t>Princípios - Tecnologia Visium</a:t>
            </a:r>
            <a:endParaRPr sz="1800"/>
          </a:p>
        </p:txBody>
      </p:sp>
      <p:sp>
        <p:nvSpPr>
          <p:cNvPr id="512" name="Google Shape;512;p34">
            <a:extLst xmlns:a="http://schemas.openxmlformats.org/drawingml/2006/main">
              <a:ext uri="{FF2B5EF4-FFF2-40B4-BE49-F238E27FC236}">
                <a16:creationId xmlns:a16="http://schemas.microsoft.com/office/drawing/2014/main" id="{E4DC5FC3-7D5E-40F7-A27D-076B8FD0D05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33200" y="1324600"/>
            <a:ext cx="3431100" cy="339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sz="1500">
                <a:solidFill>
                  <a:schemeClr val="dk1"/>
                </a:solidFill>
              </a:rPr>
              <a:t>Visium Spatial Gene Expression</a:t>
            </a:r>
            <a:endParaRPr sz="1500">
              <a:solidFill>
                <a:schemeClr val="dk1"/>
              </a:solidFill>
            </a:endParaRPr>
          </a:p>
          <a:p xmlns:a="http://schemas.openxmlformats.org/drawingml/2006/main">
            <a:pPr marL="914400" lvl="0" indent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endParaRPr sz="1500">
              <a:solidFill>
                <a:schemeClr val="dk1"/>
              </a:solidFill>
            </a:endParaRPr>
          </a:p>
        </p:txBody>
      </p:sp>
      <p:pic>
        <p:nvPicPr>
          <p:cNvPr id="518" name="Google Shape;513;p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398e58a473b403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29188" y="1793150"/>
            <a:ext cx="7685624" cy="2927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14" name="Google Shape;514;p34">
            <a:extLst xmlns:a="http://schemas.openxmlformats.org/drawingml/2006/main">
              <a:ext uri="{FF2B5EF4-FFF2-40B4-BE49-F238E27FC236}">
                <a16:creationId xmlns:a16="http://schemas.microsoft.com/office/drawing/2014/main" id="{417B362C-CB30-447A-B893-C0161F258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1425" y="4303825"/>
            <a:ext cx="2412300" cy="48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275" tIns="34125" rIns="68275" bIns="341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rPr sz="2493" b="1" i="0" u="none" cap="none">
                <a:solidFill>
                  <a:srgbClr val="292934"/>
                </a:solidFill>
                <a:highlight>
                  <a:srgbClr val="D2533C"/>
                </a:highlight>
                <a:latin typeface="Proxima Nova"/>
                <a:ea typeface="Proxima Nova"/>
                <a:cs typeface="Proxima Nova"/>
              </a:rPr>
              <a:t>Visium v1 &amp;</a:t>
            </a:r>
            <a:r>
              <a:rPr sz="2693" b="1" i="0" u="none" cap="none">
                <a:solidFill>
                  <a:srgbClr val="292934"/>
                </a:solidFill>
                <a:highlight>
                  <a:srgbClr val="D2533C"/>
                </a:highlight>
                <a:latin typeface="Proxima Nova"/>
                <a:ea typeface="Proxima Nova"/>
                <a:cs typeface="Proxima Nova"/>
              </a:rPr>
              <a:t> </a:t>
            </a:r>
            <a:r>
              <a:rPr sz="2493" b="1" i="0" u="none" cap="none">
                <a:solidFill>
                  <a:srgbClr val="292934"/>
                </a:solidFill>
                <a:highlight>
                  <a:srgbClr val="D2533C"/>
                </a:highlight>
                <a:latin typeface="Proxima Nova"/>
                <a:ea typeface="Proxima Nova"/>
                <a:cs typeface="Proxima Nova"/>
              </a:rPr>
              <a:t>v2</a:t>
            </a:r>
            <a:endParaRPr sz="2493" b="1" i="0" u="none" cap="none">
              <a:solidFill>
                <a:srgbClr val="292934"/>
              </a:solidFill>
              <a:highlight>
                <a:srgbClr val="D2533C"/>
              </a:highlight>
              <a:latin typeface="Proxima Nova"/>
              <a:ea typeface="Proxima Nova"/>
              <a:cs typeface="Proxima Nova"/>
            </a:endParaRPr>
          </a:p>
        </p:txBody>
      </p:sp>
    </p:spTree>
    <p:extLst>
      <p:ext uri="{BB962C8B-B14F-4D97-AF65-F5344CB8AC3E}">
        <p14:creationId xmlns:p14="http://schemas.microsoft.com/office/powerpoint/2010/main" val="273372591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9" name="Google Shape;519;p35">
            <a:extLst xmlns:a="http://schemas.openxmlformats.org/drawingml/2006/main">
              <a:ext uri="{FF2B5EF4-FFF2-40B4-BE49-F238E27FC236}">
                <a16:creationId xmlns:a16="http://schemas.microsoft.com/office/drawing/2014/main" id="{F5EE2579-D323-459B-A903-00A4BD2BEFA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5615400" cy="70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1800" b="1"/>
              <a:t>RNA-seq espacial</a:t>
            </a:r>
            <a:endParaRPr sz="1800" b="1"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1800"/>
              <a:t>Princípios - Tecnologia Visium</a:t>
            </a:r>
            <a:endParaRPr sz="1800"/>
          </a:p>
        </p:txBody>
      </p:sp>
      <p:sp>
        <p:nvSpPr>
          <p:cNvPr id="520" name="Google Shape;520;p35">
            <a:extLst xmlns:a="http://schemas.openxmlformats.org/drawingml/2006/main">
              <a:ext uri="{FF2B5EF4-FFF2-40B4-BE49-F238E27FC236}">
                <a16:creationId xmlns:a16="http://schemas.microsoft.com/office/drawing/2014/main" id="{61E17A69-B45F-4A9A-8E33-AA6C2F090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6275" y="1596000"/>
            <a:ext cx="1524000" cy="37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275" tIns="34125" rIns="68275" bIns="341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sz="2000" b="1" i="0" u="none" cap="none">
                <a:solidFill>
                  <a:srgbClr val="292934"/>
                </a:solidFill>
                <a:latin typeface="Proxima Nova"/>
                <a:ea typeface="Proxima Nova"/>
                <a:cs typeface="Proxima Nova"/>
              </a:rPr>
              <a:t>Visium: </a:t>
            </a:r>
            <a:endParaRPr sz="2000" b="1" i="0" u="none" cap="none">
              <a:solidFill>
                <a:srgbClr val="292934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521" name="Google Shape;521;p35">
            <a:extLst xmlns:a="http://schemas.openxmlformats.org/drawingml/2006/main">
              <a:ext uri="{FF2B5EF4-FFF2-40B4-BE49-F238E27FC236}">
                <a16:creationId xmlns:a16="http://schemas.microsoft.com/office/drawing/2014/main" id="{502DB8AE-480C-4659-8402-CF321B4F8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5420" y="1596000"/>
            <a:ext cx="1524000" cy="37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275" tIns="34125" rIns="68275" bIns="341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sz="2000" b="1" i="0" u="none" cap="none">
                <a:solidFill>
                  <a:srgbClr val="292934"/>
                </a:solidFill>
                <a:latin typeface="Proxima Nova"/>
                <a:ea typeface="Proxima Nova"/>
                <a:cs typeface="Proxima Nova"/>
              </a:rPr>
              <a:t>v1 &amp;v2 </a:t>
            </a:r>
            <a:endParaRPr sz="2000" b="1" i="0" u="none" cap="none">
              <a:solidFill>
                <a:srgbClr val="292934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522" name="Google Shape;522;p35">
            <a:extLst xmlns:a="http://schemas.openxmlformats.org/drawingml/2006/main">
              <a:ext uri="{FF2B5EF4-FFF2-40B4-BE49-F238E27FC236}">
                <a16:creationId xmlns:a16="http://schemas.microsoft.com/office/drawing/2014/main" id="{A3F54815-846D-495A-A23C-7FB23203A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675" y="2279075"/>
            <a:ext cx="2424600" cy="37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275" tIns="34125" rIns="68275" bIns="341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sz="2000" b="1" i="0" u="none" cap="none">
                <a:solidFill>
                  <a:srgbClr val="292934"/>
                </a:solidFill>
                <a:latin typeface="Proxima Nova"/>
                <a:ea typeface="Proxima Nova"/>
                <a:cs typeface="Proxima Nova"/>
              </a:rPr>
              <a:t>Diâmetro do Spot:</a:t>
            </a:r>
            <a:endParaRPr sz="2000" b="1" i="0" u="none" cap="none">
              <a:solidFill>
                <a:srgbClr val="292934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523" name="Google Shape;523;p35">
            <a:extLst xmlns:a="http://schemas.openxmlformats.org/drawingml/2006/main">
              <a:ext uri="{FF2B5EF4-FFF2-40B4-BE49-F238E27FC236}">
                <a16:creationId xmlns:a16="http://schemas.microsoft.com/office/drawing/2014/main" id="{3D291BFC-1253-441F-8910-4EBCE7746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6173" y="1596000"/>
            <a:ext cx="1524000" cy="37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275" tIns="34125" rIns="68275" bIns="341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sz="2000" b="1" i="0" u="none" cap="none">
                <a:solidFill>
                  <a:srgbClr val="292934"/>
                </a:solidFill>
                <a:latin typeface="Proxima Nova"/>
                <a:ea typeface="Proxima Nova"/>
                <a:cs typeface="Proxima Nova"/>
              </a:rPr>
              <a:t>HD</a:t>
            </a:r>
            <a:endParaRPr sz="2000" b="1" i="0" u="none" cap="none">
              <a:solidFill>
                <a:srgbClr val="292934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524" name="Google Shape;524;p35">
            <a:extLst xmlns:a="http://schemas.openxmlformats.org/drawingml/2006/main">
              <a:ext uri="{FF2B5EF4-FFF2-40B4-BE49-F238E27FC236}">
                <a16:creationId xmlns:a16="http://schemas.microsoft.com/office/drawing/2014/main" id="{39AC7B58-F57D-498C-87F6-1AFC87DB4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675" y="3234300"/>
            <a:ext cx="2424600" cy="37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275" tIns="34125" rIns="68275" bIns="341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sz="2000" b="1" i="0" u="none" cap="none">
                <a:solidFill>
                  <a:srgbClr val="292934"/>
                </a:solidFill>
                <a:latin typeface="Proxima Nova"/>
                <a:ea typeface="Proxima Nova"/>
                <a:cs typeface="Proxima Nova"/>
              </a:rPr>
              <a:t>~Células por Spot:</a:t>
            </a:r>
            <a:endParaRPr sz="2000" b="1" i="0" u="none" cap="none">
              <a:solidFill>
                <a:srgbClr val="292934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525" name="Google Shape;525;p35">
            <a:extLst xmlns:a="http://schemas.openxmlformats.org/drawingml/2006/main">
              <a:ext uri="{FF2B5EF4-FFF2-40B4-BE49-F238E27FC236}">
                <a16:creationId xmlns:a16="http://schemas.microsoft.com/office/drawing/2014/main" id="{13AC15A8-01A9-4A84-A9DC-1DEE1AA2B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5420" y="2279075"/>
            <a:ext cx="1524000" cy="37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275" tIns="34125" rIns="68275" bIns="341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sz="2000" b="0" i="0" u="none" cap="none">
                <a:solidFill>
                  <a:srgbClr val="292934"/>
                </a:solidFill>
                <a:latin typeface="Proxima Nova"/>
                <a:ea typeface="Proxima Nova"/>
                <a:cs typeface="Proxima Nova"/>
              </a:rPr>
              <a:t>55</a:t>
            </a:r>
            <a:r>
              <a:rPr sz="2000" b="0" i="0" u="none" cap="none">
                <a:solidFill>
                  <a:schemeClr val="dk1"/>
                </a:solidFill>
                <a:highlight>
                  <a:srgbClr val="FFFFFF"/>
                </a:highlight>
                <a:latin typeface="Proxima Nova"/>
                <a:ea typeface="Proxima Nova"/>
                <a:cs typeface="Proxima Nova"/>
              </a:rPr>
              <a:t>µ</a:t>
            </a:r>
            <a:r>
              <a:rPr sz="2000" b="0" i="0" u="none" cap="none">
                <a:solidFill>
                  <a:srgbClr val="292934"/>
                </a:solidFill>
                <a:latin typeface="Proxima Nova"/>
                <a:ea typeface="Proxima Nova"/>
                <a:cs typeface="Proxima Nova"/>
              </a:rPr>
              <a:t>m</a:t>
            </a:r>
            <a:endParaRPr sz="2000" b="0" i="0" u="none" cap="none">
              <a:solidFill>
                <a:srgbClr val="292934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526" name="Google Shape;526;p35">
            <a:extLst xmlns:a="http://schemas.openxmlformats.org/drawingml/2006/main">
              <a:ext uri="{FF2B5EF4-FFF2-40B4-BE49-F238E27FC236}">
                <a16:creationId xmlns:a16="http://schemas.microsoft.com/office/drawing/2014/main" id="{36F5FBD3-A209-48DE-BCF2-F6AC70DA1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6173" y="2279075"/>
            <a:ext cx="1524000" cy="37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275" tIns="34125" rIns="68275" bIns="341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sz="2000" b="0" i="0" u="none" cap="none">
                <a:solidFill>
                  <a:srgbClr val="292934"/>
                </a:solidFill>
                <a:latin typeface="Proxima Nova"/>
                <a:ea typeface="Proxima Nova"/>
                <a:cs typeface="Proxima Nova"/>
              </a:rPr>
              <a:t>2</a:t>
            </a:r>
            <a:r>
              <a:rPr sz="2000" b="0" i="0" u="none" cap="none">
                <a:solidFill>
                  <a:schemeClr val="dk1"/>
                </a:solidFill>
                <a:highlight>
                  <a:srgbClr val="FFFFFF"/>
                </a:highlight>
                <a:latin typeface="Proxima Nova"/>
                <a:ea typeface="Proxima Nova"/>
                <a:cs typeface="Proxima Nova"/>
              </a:rPr>
              <a:t>µ</a:t>
            </a:r>
            <a:r>
              <a:rPr sz="2000" b="0" i="0" u="none" cap="none">
                <a:solidFill>
                  <a:srgbClr val="292934"/>
                </a:solidFill>
                <a:latin typeface="Proxima Nova"/>
                <a:ea typeface="Proxima Nova"/>
                <a:cs typeface="Proxima Nova"/>
              </a:rPr>
              <a:t>m</a:t>
            </a:r>
            <a:endParaRPr sz="2000" b="0" i="0" u="none" cap="none">
              <a:solidFill>
                <a:srgbClr val="292934"/>
              </a:solidFill>
              <a:latin typeface="Proxima Nova"/>
              <a:ea typeface="Proxima Nova"/>
              <a:cs typeface="Proxima Nova"/>
            </a:endParaRPr>
          </a:p>
        </p:txBody>
      </p:sp>
      <p:pic>
        <p:nvPicPr>
          <p:cNvPr id="547" name="Google Shape;527;p3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6df870f611e4ff0">
            <a:alphaModFix/>
          </a:blip>
          <a:srcRect xmlns:a="http://schemas.openxmlformats.org/drawingml/2006/main" l="20528" t="0" r="19782" b="0"/>
          <a:stretch xmlns:a="http://schemas.openxmlformats.org/drawingml/2006/main"/>
        </p:blipFill>
        <p:spPr>
          <a:xfrm xmlns:a="http://schemas.openxmlformats.org/drawingml/2006/main">
            <a:off x="3571880" y="3861857"/>
            <a:ext cx="754068" cy="707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28" name="Google Shape;528;p35">
            <a:extLst xmlns:a="http://schemas.openxmlformats.org/drawingml/2006/main">
              <a:ext uri="{FF2B5EF4-FFF2-40B4-BE49-F238E27FC236}">
                <a16:creationId xmlns:a16="http://schemas.microsoft.com/office/drawing/2014/main" id="{D2E461EF-744C-46A7-9F52-113C89D07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5420" y="3302332"/>
            <a:ext cx="1524000" cy="37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275" tIns="34125" rIns="68275" bIns="341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sz="2000" b="0" i="0" u="none" cap="none">
                <a:solidFill>
                  <a:srgbClr val="292934"/>
                </a:solidFill>
                <a:latin typeface="Proxima Nova"/>
                <a:ea typeface="Proxima Nova"/>
                <a:cs typeface="Proxima Nova"/>
              </a:rPr>
              <a:t>1 a 10</a:t>
            </a:r>
            <a:endParaRPr sz="2000" b="0" i="0" u="none" cap="none">
              <a:solidFill>
                <a:srgbClr val="292934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529" name="Google Shape;529;p35">
            <a:extLst xmlns:a="http://schemas.openxmlformats.org/drawingml/2006/main">
              <a:ext uri="{FF2B5EF4-FFF2-40B4-BE49-F238E27FC236}">
                <a16:creationId xmlns:a16="http://schemas.microsoft.com/office/drawing/2014/main" id="{76C9883D-D7AD-4358-A678-9C1A3C7A2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6173" y="3302332"/>
            <a:ext cx="1524000" cy="68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275" tIns="34125" rIns="68275" bIns="341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sz="2000" b="0" i="0" u="none" cap="none">
                <a:solidFill>
                  <a:srgbClr val="292934"/>
                </a:solidFill>
                <a:latin typeface="Proxima Nova"/>
                <a:ea typeface="Proxima Nova"/>
                <a:cs typeface="Proxima Nova"/>
              </a:rPr>
              <a:t>até 1 </a:t>
            </a:r>
            <a:endParaRPr sz="2000" b="0" i="0" u="none" cap="none">
              <a:solidFill>
                <a:srgbClr val="292934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sz="2000" b="0" i="0" u="none" cap="none">
                <a:solidFill>
                  <a:srgbClr val="292934"/>
                </a:solidFill>
                <a:latin typeface="Proxima Nova"/>
                <a:ea typeface="Proxima Nova"/>
                <a:cs typeface="Proxima Nova"/>
              </a:rPr>
              <a:t>(subcelular)</a:t>
            </a:r>
            <a:endParaRPr sz="2000" b="0" i="0" u="none" cap="none">
              <a:solidFill>
                <a:srgbClr val="292934"/>
              </a:solidFill>
              <a:latin typeface="Proxima Nova"/>
              <a:ea typeface="Proxima Nova"/>
              <a:cs typeface="Proxima Nova"/>
            </a:endParaRPr>
          </a:p>
        </p:txBody>
      </p:sp>
      <p:pic>
        <p:nvPicPr>
          <p:cNvPr id="550" name="Google Shape;530;p3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6df870f611e4ff0">
            <a:alphaModFix/>
          </a:blip>
          <a:srcRect xmlns:a="http://schemas.openxmlformats.org/drawingml/2006/main" l="20528" t="0" r="19782" b="0"/>
          <a:stretch xmlns:a="http://schemas.openxmlformats.org/drawingml/2006/main"/>
        </p:blipFill>
        <p:spPr>
          <a:xfrm xmlns:a="http://schemas.openxmlformats.org/drawingml/2006/main">
            <a:off x="6191139" y="3919000"/>
            <a:ext cx="754068" cy="707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551" name="Google Shape;531;p3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6df870f611e4ff0">
            <a:alphaModFix/>
          </a:blip>
          <a:srcRect xmlns:a="http://schemas.openxmlformats.org/drawingml/2006/main" l="20528" t="0" r="19782" b="0"/>
          <a:stretch xmlns:a="http://schemas.openxmlformats.org/drawingml/2006/main"/>
        </p:blipFill>
        <p:spPr>
          <a:xfrm xmlns:a="http://schemas.openxmlformats.org/drawingml/2006/main">
            <a:off x="3724280" y="4014257"/>
            <a:ext cx="754068" cy="707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552" name="Google Shape;532;p3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6df870f611e4ff0">
            <a:alphaModFix/>
          </a:blip>
          <a:srcRect xmlns:a="http://schemas.openxmlformats.org/drawingml/2006/main" l="20528" t="0" r="19782" b="0"/>
          <a:stretch xmlns:a="http://schemas.openxmlformats.org/drawingml/2006/main"/>
        </p:blipFill>
        <p:spPr>
          <a:xfrm xmlns:a="http://schemas.openxmlformats.org/drawingml/2006/main">
            <a:off x="3876680" y="4166657"/>
            <a:ext cx="754068" cy="707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553" name="Google Shape;533;p3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6df870f611e4ff0">
            <a:alphaModFix/>
          </a:blip>
          <a:srcRect xmlns:a="http://schemas.openxmlformats.org/drawingml/2006/main" l="20528" t="0" r="19782" b="0"/>
          <a:stretch xmlns:a="http://schemas.openxmlformats.org/drawingml/2006/main"/>
        </p:blipFill>
        <p:spPr>
          <a:xfrm xmlns:a="http://schemas.openxmlformats.org/drawingml/2006/main">
            <a:off x="4029080" y="4319057"/>
            <a:ext cx="754068" cy="707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554" name="Google Shape;534;p3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6df870f611e4ff0">
            <a:alphaModFix/>
          </a:blip>
          <a:srcRect xmlns:a="http://schemas.openxmlformats.org/drawingml/2006/main" l="20528" t="0" r="19782" b="0"/>
          <a:stretch xmlns:a="http://schemas.openxmlformats.org/drawingml/2006/main"/>
        </p:blipFill>
        <p:spPr>
          <a:xfrm xmlns:a="http://schemas.openxmlformats.org/drawingml/2006/main">
            <a:off x="4241351" y="3742114"/>
            <a:ext cx="754068" cy="707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555" name="Google Shape;535;p3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6df870f611e4ff0">
            <a:alphaModFix/>
          </a:blip>
          <a:srcRect xmlns:a="http://schemas.openxmlformats.org/drawingml/2006/main" l="20528" t="0" r="19782" b="0"/>
          <a:stretch xmlns:a="http://schemas.openxmlformats.org/drawingml/2006/main"/>
        </p:blipFill>
        <p:spPr>
          <a:xfrm xmlns:a="http://schemas.openxmlformats.org/drawingml/2006/main">
            <a:off x="4393751" y="3894514"/>
            <a:ext cx="754068" cy="707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556" name="Google Shape;536;p3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6df870f611e4ff0">
            <a:alphaModFix/>
          </a:blip>
          <a:srcRect xmlns:a="http://schemas.openxmlformats.org/drawingml/2006/main" l="20528" t="0" r="19782" b="0"/>
          <a:stretch xmlns:a="http://schemas.openxmlformats.org/drawingml/2006/main"/>
        </p:blipFill>
        <p:spPr>
          <a:xfrm xmlns:a="http://schemas.openxmlformats.org/drawingml/2006/main">
            <a:off x="4546151" y="4046914"/>
            <a:ext cx="754068" cy="707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557" name="Google Shape;537;p3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6df870f611e4ff0">
            <a:alphaModFix/>
          </a:blip>
          <a:srcRect xmlns:a="http://schemas.openxmlformats.org/drawingml/2006/main" l="20528" t="0" r="19782" b="0"/>
          <a:stretch xmlns:a="http://schemas.openxmlformats.org/drawingml/2006/main"/>
        </p:blipFill>
        <p:spPr>
          <a:xfrm xmlns:a="http://schemas.openxmlformats.org/drawingml/2006/main">
            <a:off x="4698551" y="4199314"/>
            <a:ext cx="754068" cy="707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206262145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2" name="Google Shape;542;g3fa37cb035d_0_0">
            <a:extLst xmlns:a="http://schemas.openxmlformats.org/drawingml/2006/main">
              <a:ext uri="{FF2B5EF4-FFF2-40B4-BE49-F238E27FC236}">
                <a16:creationId xmlns:a16="http://schemas.microsoft.com/office/drawing/2014/main" id="{A73E0C73-18EA-4317-A746-C87721A5C6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5615400" cy="70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1800" b="1"/>
              <a:t>RNA-seq espacial</a:t>
            </a:r>
            <a:endParaRPr sz="1800" b="1"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1800"/>
              <a:t>Princípios - Tecnologia Visium</a:t>
            </a:r>
            <a:endParaRPr sz="1800"/>
          </a:p>
        </p:txBody>
      </p:sp>
      <p:sp>
        <p:nvSpPr>
          <p:cNvPr id="543" name="Google Shape;543;g3fa37cb035d_0_0">
            <a:extLst xmlns:a="http://schemas.openxmlformats.org/drawingml/2006/main">
              <a:ext uri="{FF2B5EF4-FFF2-40B4-BE49-F238E27FC236}">
                <a16:creationId xmlns:a16="http://schemas.microsoft.com/office/drawing/2014/main" id="{F3F37441-EC5A-4EF7-8235-0D4109FC3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700" y="4390375"/>
            <a:ext cx="4433400" cy="34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275" tIns="34125" rIns="68275" bIns="341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93"/>
              <a:buFont typeface="Arial"/>
              <a:buNone/>
            </a:pPr>
            <a:r>
              <a:rPr sz="1793" b="1" i="0" u="sng" cap="none">
                <a:solidFill>
                  <a:srgbClr val="3C78D8"/>
                </a:solidFill>
                <a:latin typeface="Proxima Nova"/>
                <a:ea typeface="Proxima Nova"/>
                <a:cs typeface="Proxima Nova"/>
                <a:hlinkClick xmlns:r="http://schemas.openxmlformats.org/officeDocument/2006/relationships" r:id="Rce684c1757ac4b2c"/>
              </a:rPr>
              <a:t>Visium HD paper</a:t>
            </a:r>
            <a:r>
              <a:rPr sz="1793" b="1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: Oliveira </a:t>
            </a:r>
            <a:r>
              <a:rPr sz="1793" b="1" i="1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et al.</a:t>
            </a:r>
            <a:r>
              <a:rPr sz="1793" b="1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 (2025)</a:t>
            </a:r>
            <a:endParaRPr sz="1793" b="1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544" name="Google Shape;544;g3fa37cb035d_0_0">
            <a:extLst xmlns:a="http://schemas.openxmlformats.org/drawingml/2006/main">
              <a:ext uri="{FF2B5EF4-FFF2-40B4-BE49-F238E27FC236}">
                <a16:creationId xmlns:a16="http://schemas.microsoft.com/office/drawing/2014/main" id="{2987DA85-6220-409D-9F79-BA063C11E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9320" y="3183463"/>
            <a:ext cx="1524000" cy="37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275" tIns="34125" rIns="68275" bIns="341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sz="2000" b="1">
                <a:latin typeface="Proxima Nova"/>
                <a:ea typeface="Proxima Nova"/>
                <a:cs typeface="Proxima Nova"/>
              </a:rPr>
              <a:t>Visium </a:t>
            </a:r>
            <a:r>
              <a:rPr sz="2000" b="1" i="0" u="none" cap="none">
                <a:latin typeface="Proxima Nova"/>
                <a:ea typeface="Proxima Nova"/>
                <a:cs typeface="Proxima Nova"/>
              </a:rPr>
              <a:t>v2 </a:t>
            </a:r>
            <a:endParaRPr sz="2000" b="1" i="0" u="none" cap="none">
              <a:latin typeface="Proxima Nova"/>
              <a:ea typeface="Proxima Nova"/>
              <a:cs typeface="Proxima Nova"/>
            </a:endParaRPr>
          </a:p>
        </p:txBody>
      </p:sp>
      <p:sp>
        <p:nvSpPr>
          <p:cNvPr id="545" name="Google Shape;545;g3fa37cb035d_0_0">
            <a:extLst xmlns:a="http://schemas.openxmlformats.org/drawingml/2006/main">
              <a:ext uri="{FF2B5EF4-FFF2-40B4-BE49-F238E27FC236}">
                <a16:creationId xmlns:a16="http://schemas.microsoft.com/office/drawing/2014/main" id="{56D6DF45-C4AB-4BFA-8E91-D7B799D2D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9323" y="1976575"/>
            <a:ext cx="1524000" cy="37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275" tIns="34125" rIns="68275" bIns="341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sz="2000" b="1">
                <a:latin typeface="Proxima Nova"/>
                <a:ea typeface="Proxima Nova"/>
                <a:cs typeface="Proxima Nova"/>
              </a:rPr>
              <a:t>Visium </a:t>
            </a:r>
            <a:r>
              <a:rPr sz="2000" b="1" i="0" u="none" cap="none">
                <a:latin typeface="Proxima Nova"/>
                <a:ea typeface="Proxima Nova"/>
                <a:cs typeface="Proxima Nova"/>
              </a:rPr>
              <a:t>HD</a:t>
            </a:r>
            <a:endParaRPr sz="2000" b="1" i="0" u="none" cap="none">
              <a:latin typeface="Proxima Nova"/>
              <a:ea typeface="Proxima Nova"/>
              <a:cs typeface="Proxima Nova"/>
            </a:endParaRPr>
          </a:p>
        </p:txBody>
      </p:sp>
      <p:cxnSp>
        <p:nvCxnSpPr>
          <p:cNvPr id="556" name="Google Shape;546;g3fa37cb035d_0_0"/>
          <p:cNvCxnSpPr>
            <a:endCxn xmlns:a="http://schemas.openxmlformats.org/drawingml/2006/main" id="545" idx="1"/>
          </p:cNvCxnSpPr>
          <p:nvPr/>
        </p:nvCxnSpPr>
        <p:spPr>
          <a:xfrm xmlns:a="http://schemas.openxmlformats.org/drawingml/2006/main" rot="10800000" flipH="1">
            <a:off x="6080723" y="2164975"/>
            <a:ext cx="1008600" cy="3300"/>
          </a:xfrm>
          <a:prstGeom xmlns:a="http://schemas.openxmlformats.org/drawingml/2006/main" prst="straightConnector1">
            <a:avLst/>
          </a:prstGeom>
          <a:ln xmlns:a="http://schemas.openxmlformats.org/drawingml/2006/main" w="38100" cap="flat">
            <a:solidFill>
              <a:srgbClr val="FF0000"/>
            </a:solidFill>
            <a:prstDash val="solid"/>
            <a:round/>
            <a:headEnd type="none" w="med" len="med"/>
            <a:tailEnd type="stealth" w="med" len="med"/>
          </a:ln>
        </p:spPr>
      </p:cxnSp>
      <p:cxnSp>
        <p:nvCxnSpPr>
          <p:cNvPr id="557" name="Google Shape;547;g3fa37cb035d_0_0"/>
          <p:cNvCxnSpPr>
            <a:endCxn xmlns:a="http://schemas.openxmlformats.org/drawingml/2006/main" id="544" idx="1"/>
          </p:cNvCxnSpPr>
          <p:nvPr/>
        </p:nvCxnSpPr>
        <p:spPr>
          <a:xfrm xmlns:a="http://schemas.openxmlformats.org/drawingml/2006/main">
            <a:off x="6069920" y="3364363"/>
            <a:ext cx="1019400" cy="7500"/>
          </a:xfrm>
          <a:prstGeom xmlns:a="http://schemas.openxmlformats.org/drawingml/2006/main" prst="straightConnector1">
            <a:avLst/>
          </a:prstGeom>
          <a:ln xmlns:a="http://schemas.openxmlformats.org/drawingml/2006/main" w="38100" cap="flat">
            <a:solidFill>
              <a:srgbClr val="FF0000"/>
            </a:solidFill>
            <a:prstDash val="solid"/>
            <a:round/>
            <a:headEnd type="none" w="med" len="med"/>
            <a:tailEnd type="stealth" w="med" len="med"/>
          </a:ln>
        </p:spPr>
      </p:cxnSp>
      <p:pic>
        <p:nvPicPr>
          <p:cNvPr id="558" name="Google Shape;548;g3fa37cb035d_0_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4d89664d5942db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59327" y="3622025"/>
            <a:ext cx="2182625" cy="135257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49" name="Google Shape;549;g3fa37cb035d_0_0">
            <a:extLst xmlns:a="http://schemas.openxmlformats.org/drawingml/2006/main">
              <a:ext uri="{FF2B5EF4-FFF2-40B4-BE49-F238E27FC236}">
                <a16:creationId xmlns:a16="http://schemas.microsoft.com/office/drawing/2014/main" id="{CE0D1256-9244-4549-B68A-D9826434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2873" y="4673118"/>
            <a:ext cx="1241700" cy="34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275" tIns="34125" rIns="68275" bIns="341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93"/>
              <a:buFont typeface="Arial"/>
              <a:buNone/>
            </a:pPr>
            <a:r>
              <a:rPr sz="1793" b="1">
                <a:solidFill>
                  <a:srgbClr val="FF0000"/>
                </a:solidFill>
                <a:latin typeface="Proxima Nova"/>
                <a:ea typeface="Proxima Nova"/>
                <a:cs typeface="Proxima Nova"/>
              </a:rPr>
              <a:t>É do BR!!!</a:t>
            </a:r>
            <a:endParaRPr sz="1793" b="1" i="0" u="none" cap="none">
              <a:solidFill>
                <a:srgbClr val="FF0000"/>
              </a:solidFill>
              <a:latin typeface="Proxima Nova"/>
              <a:ea typeface="Proxima Nova"/>
              <a:cs typeface="Proxima Nova"/>
            </a:endParaRPr>
          </a:p>
        </p:txBody>
      </p:sp>
      <p:pic>
        <p:nvPicPr>
          <p:cNvPr id="560" name="Google Shape;550;g3fa37cb035d_0_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5dcc8480d9422e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1700" y="1152424"/>
            <a:ext cx="5884931" cy="3037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899531084"/>
      </p:ext>
    </p:extLst>
  </p:cSld>
</p:sld>
</file>

<file path=ppt/slides/slide3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5" name="Google Shape;555;p36">
            <a:extLst xmlns:a="http://schemas.openxmlformats.org/drawingml/2006/main">
              <a:ext uri="{FF2B5EF4-FFF2-40B4-BE49-F238E27FC236}">
                <a16:creationId xmlns:a16="http://schemas.microsoft.com/office/drawing/2014/main" id="{81B8CBED-BF18-4BBB-93EE-97161980E55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33200" y="1324600"/>
            <a:ext cx="3431100" cy="339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sz="1500">
                <a:solidFill>
                  <a:schemeClr val="dk1"/>
                </a:solidFill>
              </a:rPr>
              <a:t>Visium Spatial Gene Expression</a:t>
            </a:r>
            <a:endParaRPr sz="1500">
              <a:solidFill>
                <a:schemeClr val="dk1"/>
              </a:solidFill>
            </a:endParaRPr>
          </a:p>
          <a:p xmlns:a="http://schemas.openxmlformats.org/drawingml/2006/main">
            <a:pPr marL="914400" lvl="0" indent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endParaRPr sz="1500">
              <a:solidFill>
                <a:schemeClr val="dk1"/>
              </a:solidFill>
            </a:endParaRPr>
          </a:p>
        </p:txBody>
      </p:sp>
      <p:pic>
        <p:nvPicPr>
          <p:cNvPr id="562" name="Google Shape;556;p3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dced7c89b7948c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68038" y="1823875"/>
            <a:ext cx="7207924" cy="27701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57" name="Google Shape;557;p36">
            <a:extLst xmlns:a="http://schemas.openxmlformats.org/drawingml/2006/main">
              <a:ext uri="{FF2B5EF4-FFF2-40B4-BE49-F238E27FC236}">
                <a16:creationId xmlns:a16="http://schemas.microsoft.com/office/drawing/2014/main" id="{8C6CF762-D285-421D-8CBB-0035357DC0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5615400" cy="70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1800" b="1"/>
              <a:t>RNA-seq espacial</a:t>
            </a:r>
            <a:endParaRPr sz="1800" b="1"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1800"/>
              <a:t>Princípios - Tecnologia Visium</a:t>
            </a:r>
            <a:endParaRPr sz="1800"/>
          </a:p>
        </p:txBody>
      </p:sp>
      <p:sp>
        <p:nvSpPr>
          <p:cNvPr id="558" name="Google Shape;558;p36">
            <a:extLst xmlns:a="http://schemas.openxmlformats.org/drawingml/2006/main">
              <a:ext uri="{FF2B5EF4-FFF2-40B4-BE49-F238E27FC236}">
                <a16:creationId xmlns:a16="http://schemas.microsoft.com/office/drawing/2014/main" id="{3028ADD0-A767-43EF-A3EB-BF1F3963B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6209055">
            <a:off x="5766239" y="3602263"/>
            <a:ext cx="417559" cy="404899"/>
          </a:xfrm>
          <a:custGeom xmlns:a="http://schemas.openxmlformats.org/drawingml/2006/main">
            <a:rect l="l" t="t" r="r" b="b"/>
            <a:pathLst>
              <a:path w="31897" h="34999">
                <a:moveTo>
                  <a:pt x="31897" y="0"/>
                </a:moveTo>
                <a:cubicBezTo>
                  <a:pt x="23294" y="0"/>
                  <a:pt x="20667" y="13053"/>
                  <a:pt x="15505" y="19936"/>
                </a:cubicBezTo>
                <a:cubicBezTo>
                  <a:pt x="11182" y="25701"/>
                  <a:pt x="6445" y="31777"/>
                  <a:pt x="0" y="34999"/>
                </a:cubicBezTo>
              </a:path>
            </a:pathLst>
          </a:custGeom>
          <a:noFill xmlns:a="http://schemas.openxmlformats.org/drawingml/2006/main"/>
          <a:ln xmlns:a="http://schemas.openxmlformats.org/drawingml/2006/main" w="28575" cmpd="sng">
            <a:solidFill>
              <a:schemeClr val="accent3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36">
            <a:extLst xmlns:a="http://schemas.openxmlformats.org/drawingml/2006/main">
              <a:ext uri="{FF2B5EF4-FFF2-40B4-BE49-F238E27FC236}">
                <a16:creationId xmlns:a16="http://schemas.microsoft.com/office/drawing/2014/main" id="{2DBFF823-A30F-44F1-A011-08DBFD773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8925" y="4054950"/>
            <a:ext cx="1292700" cy="55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275" tIns="34125" rIns="68275" bIns="341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93"/>
              <a:buFont typeface="Arial"/>
              <a:buNone/>
            </a:pPr>
            <a:r>
              <a:rPr sz="1593" b="1" i="0" u="none" cap="none">
                <a:solidFill>
                  <a:srgbClr val="292934"/>
                </a:solidFill>
                <a:highlight>
                  <a:srgbClr val="D2533C"/>
                </a:highlight>
                <a:latin typeface="Proxima Nova"/>
                <a:ea typeface="Proxima Nova"/>
                <a:cs typeface="Proxima Nova"/>
              </a:rPr>
              <a:t>Barcode com info XY</a:t>
            </a:r>
            <a:endParaRPr sz="1593" b="1" i="0" u="none" cap="none">
              <a:solidFill>
                <a:srgbClr val="292934"/>
              </a:solidFill>
              <a:highlight>
                <a:srgbClr val="D2533C"/>
              </a:highlight>
              <a:latin typeface="Proxima Nova"/>
              <a:ea typeface="Proxima Nova"/>
              <a:cs typeface="Proxima Nova"/>
            </a:endParaRPr>
          </a:p>
        </p:txBody>
      </p:sp>
    </p:spTree>
    <p:extLst>
      <p:ext uri="{BB962C8B-B14F-4D97-AF65-F5344CB8AC3E}">
        <p14:creationId xmlns:p14="http://schemas.microsoft.com/office/powerpoint/2010/main" val="1125792491"/>
      </p:ext>
    </p:extLst>
  </p:cSld>
</p:sld>
</file>

<file path=ppt/slides/slide3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4" name="Google Shape;564;p37">
            <a:extLst xmlns:a="http://schemas.openxmlformats.org/drawingml/2006/main">
              <a:ext uri="{FF2B5EF4-FFF2-40B4-BE49-F238E27FC236}">
                <a16:creationId xmlns:a16="http://schemas.microsoft.com/office/drawing/2014/main" id="{B2D7E406-7E71-4151-BF38-48EDE2C703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t>Conteúdos extras</a:t>
            </a:r>
            <a:endParaRPr/>
          </a:p>
        </p:txBody>
      </p:sp>
      <p:sp>
        <p:nvSpPr>
          <p:cNvPr id="565" name="Google Shape;565;p37">
            <a:extLst xmlns:a="http://schemas.openxmlformats.org/drawingml/2006/main">
              <a:ext uri="{FF2B5EF4-FFF2-40B4-BE49-F238E27FC236}">
                <a16:creationId xmlns:a16="http://schemas.microsoft.com/office/drawing/2014/main" id="{AE1B1C4D-3CF2-4C5C-B239-3D8A341B4CA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60625" y="1324600"/>
            <a:ext cx="67164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1800"/>
              <a:buNone/>
            </a:pPr>
            <a:r>
              <a:rPr sz="1500">
                <a:solidFill>
                  <a:schemeClr val="dk1"/>
                </a:solidFill>
              </a:rPr>
              <a:t>Métodos de geração de bibliotecas de RNA-seq espacial</a:t>
            </a:r>
            <a:endParaRPr sz="1500">
              <a:solidFill>
                <a:schemeClr val="dk1"/>
              </a:solidFill>
            </a:endParaRPr>
          </a:p>
        </p:txBody>
      </p:sp>
      <p:pic>
        <p:nvPicPr>
          <p:cNvPr id="574" name="Google Shape;566;p3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5903122e2a04ae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22575" y="2022300"/>
            <a:ext cx="681025" cy="654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67" name="Google Shape;567;p37">
            <a:extLst xmlns:a="http://schemas.openxmlformats.org/drawingml/2006/main">
              <a:ext uri="{FF2B5EF4-FFF2-40B4-BE49-F238E27FC236}">
                <a16:creationId xmlns:a16="http://schemas.microsoft.com/office/drawing/2014/main" id="{D565EEBA-3B2A-4AB7-92AC-9AC745265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3600" y="1946050"/>
            <a:ext cx="3921000" cy="69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</a:rPr>
              <a:t>Moffitt et al, 2022. DOI 10.1038/s41576-022-00515-3</a:t>
            </a:r>
            <a:endParaRPr sz="1100" b="1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</a:rPr>
              <a:t>The emerging landscape of spatial profiling technologies.</a:t>
            </a:r>
            <a:endParaRPr sz="1100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</p:txBody>
      </p:sp>
      <p:pic>
        <p:nvPicPr>
          <p:cNvPr id="576" name="Google Shape;568;p3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5903122e2a04ae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22575" y="3070500"/>
            <a:ext cx="681025" cy="654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69" name="Google Shape;569;p37">
            <a:extLst xmlns:a="http://schemas.openxmlformats.org/drawingml/2006/main">
              <a:ext uri="{FF2B5EF4-FFF2-40B4-BE49-F238E27FC236}">
                <a16:creationId xmlns:a16="http://schemas.microsoft.com/office/drawing/2014/main" id="{81F7C8C7-BE07-49F7-B6FB-FB5AD9C4A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3600" y="2994250"/>
            <a:ext cx="3921000" cy="103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</a:rPr>
              <a:t>Vídeo</a:t>
            </a:r>
            <a:endParaRPr sz="1100" b="1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</a:rPr>
              <a:t>Série Visium Spatial Gene Expression Protocol</a:t>
            </a:r>
            <a:endParaRPr sz="1100" b="1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</a:rPr>
              <a:t>https://www.youtube.com/playlist?list=PLfaSRwcfHcq1acX1nuTFcUGClpNRPEyHH</a:t>
            </a:r>
            <a:endParaRPr sz="1100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</p:txBody>
      </p:sp>
    </p:spTree>
    <p:extLst>
      <p:ext uri="{BB962C8B-B14F-4D97-AF65-F5344CB8AC3E}">
        <p14:creationId xmlns:p14="http://schemas.microsoft.com/office/powerpoint/2010/main" val="1365031366"/>
      </p:ext>
    </p:extLst>
  </p:cSld>
</p:sld>
</file>

<file path=ppt/slides/slide4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4" name="Google Shape;574;p38">
            <a:extLst xmlns:a="http://schemas.openxmlformats.org/drawingml/2006/main">
              <a:ext uri="{FF2B5EF4-FFF2-40B4-BE49-F238E27FC236}">
                <a16:creationId xmlns:a16="http://schemas.microsoft.com/office/drawing/2014/main" id="{0BDC2C10-89D5-4D12-A996-0CAF3433F2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49225" y="526350"/>
            <a:ext cx="8265900" cy="40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sz="4500"/>
              <a:t>Análise de dados</a:t>
            </a:r>
            <a:endParaRPr sz="6000"/>
          </a:p>
        </p:txBody>
      </p:sp>
    </p:spTree>
    <p:extLst>
      <p:ext uri="{BB962C8B-B14F-4D97-AF65-F5344CB8AC3E}">
        <p14:creationId xmlns:p14="http://schemas.microsoft.com/office/powerpoint/2010/main" val="1423030668"/>
      </p:ext>
    </p:extLst>
  </p:cSld>
</p:sld>
</file>

<file path=ppt/slides/slide4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9" name="Google Shape;579;p39">
            <a:extLst xmlns:a="http://schemas.openxmlformats.org/drawingml/2006/main">
              <a:ext uri="{FF2B5EF4-FFF2-40B4-BE49-F238E27FC236}">
                <a16:creationId xmlns:a16="http://schemas.microsoft.com/office/drawing/2014/main" id="{414136A1-1E62-40DB-9218-A23E4DA4ED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140225"/>
            <a:ext cx="84912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2000"/>
              <a:t>Passos da </a:t>
            </a:r>
            <a:r>
              <a:rPr sz="2000" b="1"/>
              <a:t>análise de dados</a:t>
            </a:r>
            <a:r>
              <a:rPr sz="2000"/>
              <a:t> de transcriptômica de alta resolução</a:t>
            </a:r>
            <a:endParaRPr/>
          </a:p>
        </p:txBody>
      </p:sp>
      <p:sp>
        <p:nvSpPr>
          <p:cNvPr id="581" name="Google Shape;581;p39">
            <a:extLst xmlns:a="http://schemas.openxmlformats.org/drawingml/2006/main">
              <a:ext uri="{FF2B5EF4-FFF2-40B4-BE49-F238E27FC236}">
                <a16:creationId xmlns:a16="http://schemas.microsoft.com/office/drawing/2014/main" id="{15072BA4-0FD1-458E-8B56-D7D7F45E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5699" y="807100"/>
            <a:ext cx="2004300" cy="62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1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Preparo da matriz de </a:t>
            </a:r>
            <a:r>
              <a:rPr sz="1600" b="1" i="1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counts</a:t>
            </a:r>
            <a:endParaRPr sz="1600" b="1" i="1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582" name="Google Shape;582;p39">
            <a:extLst xmlns:a="http://schemas.openxmlformats.org/drawingml/2006/main">
              <a:ext uri="{FF2B5EF4-FFF2-40B4-BE49-F238E27FC236}">
                <a16:creationId xmlns:a16="http://schemas.microsoft.com/office/drawing/2014/main" id="{0FD9D237-EAD2-43BA-97B3-AB2185456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84800" y="756925"/>
            <a:ext cx="3256800" cy="7317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583" name="Google Shape;583;p39">
            <a:extLst xmlns:a="http://schemas.openxmlformats.org/drawingml/2006/main">
              <a:ext uri="{FF2B5EF4-FFF2-40B4-BE49-F238E27FC236}">
                <a16:creationId xmlns:a16="http://schemas.microsoft.com/office/drawing/2014/main" id="{D09C2844-8B97-42C6-8359-A0BD9EFE5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09425" y="841200"/>
            <a:ext cx="3132300" cy="57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1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Trimming</a:t>
            </a:r>
            <a:r>
              <a:rPr sz="14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, controle de qualidade, alinhamento, contagem.</a:t>
            </a:r>
            <a:endParaRPr sz="1400" b="0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585" name="Google Shape;585;p39">
            <a:extLst xmlns:a="http://schemas.openxmlformats.org/drawingml/2006/main">
              <a:ext uri="{FF2B5EF4-FFF2-40B4-BE49-F238E27FC236}">
                <a16:creationId xmlns:a16="http://schemas.microsoft.com/office/drawing/2014/main" id="{F29E91C5-9710-4BB5-B05F-F797A3422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604943" y="1714950"/>
            <a:ext cx="2715300" cy="62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1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Pré-processamento</a:t>
            </a:r>
            <a:endParaRPr sz="1600" b="1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586" name="Google Shape;586;p39">
            <a:extLst xmlns:a="http://schemas.openxmlformats.org/drawingml/2006/main">
              <a:ext uri="{FF2B5EF4-FFF2-40B4-BE49-F238E27FC236}">
                <a16:creationId xmlns:a16="http://schemas.microsoft.com/office/drawing/2014/main" id="{B021B125-037B-4F2E-A04F-62BFA27D3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84825" y="1664750"/>
            <a:ext cx="3642900" cy="7317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587" name="Google Shape;587;p39">
            <a:extLst xmlns:a="http://schemas.openxmlformats.org/drawingml/2006/main">
              <a:ext uri="{FF2B5EF4-FFF2-40B4-BE49-F238E27FC236}">
                <a16:creationId xmlns:a16="http://schemas.microsoft.com/office/drawing/2014/main" id="{9E20E3E4-E80F-473D-8FB3-DC1971D8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09425" y="1871325"/>
            <a:ext cx="3518400" cy="33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Controle de qualidade, normalização, redução de dimensionalidade</a:t>
            </a:r>
            <a:endParaRPr sz="1400" b="0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589" name="Google Shape;589;p39">
            <a:extLst xmlns:a="http://schemas.openxmlformats.org/drawingml/2006/main">
              <a:ext uri="{FF2B5EF4-FFF2-40B4-BE49-F238E27FC236}">
                <a16:creationId xmlns:a16="http://schemas.microsoft.com/office/drawing/2014/main" id="{A5D7269A-CC6A-4E37-9D28-FD1026F52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0130" y="2546213"/>
            <a:ext cx="1959900" cy="62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1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Separação das populações</a:t>
            </a:r>
            <a:endParaRPr sz="1600" b="1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590" name="Google Shape;590;p39">
            <a:extLst xmlns:a="http://schemas.openxmlformats.org/drawingml/2006/main">
              <a:ext uri="{FF2B5EF4-FFF2-40B4-BE49-F238E27FC236}">
                <a16:creationId xmlns:a16="http://schemas.microsoft.com/office/drawing/2014/main" id="{F9ED3D84-E03C-4958-842D-4B6BE1797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84800" y="2572213"/>
            <a:ext cx="3642900" cy="5727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591" name="Google Shape;591;p39">
            <a:extLst xmlns:a="http://schemas.openxmlformats.org/drawingml/2006/main">
              <a:ext uri="{FF2B5EF4-FFF2-40B4-BE49-F238E27FC236}">
                <a16:creationId xmlns:a16="http://schemas.microsoft.com/office/drawing/2014/main" id="{C4156383-2DBC-4F4A-801D-D3AB8E166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09425" y="2702563"/>
            <a:ext cx="3518400" cy="33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Clusterização</a:t>
            </a:r>
            <a:endParaRPr sz="1400" b="0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pic>
        <p:nvPicPr>
          <p:cNvPr id="621" name="Google Shape;592;p3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a9cd8ad5456461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548775" y="637700"/>
            <a:ext cx="1316575" cy="8069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622" name="Google Shape;593;p3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6c3ed80cae34690">
            <a:alphaModFix/>
          </a:blip>
          <a:srcRect xmlns:a="http://schemas.openxmlformats.org/drawingml/2006/main" l="0" t="970" r="0" b="0"/>
          <a:stretch xmlns:a="http://schemas.openxmlformats.org/drawingml/2006/main"/>
        </p:blipFill>
        <p:spPr>
          <a:xfrm xmlns:a="http://schemas.openxmlformats.org/drawingml/2006/main">
            <a:off x="6354325" y="2571750"/>
            <a:ext cx="1969025" cy="1472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623" name="Google Shape;594;p3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a070ca060be47a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891575" y="1444625"/>
            <a:ext cx="1234200" cy="1261800"/>
          </a:xfrm>
          <a:prstGeom xmlns:a="http://schemas.openxmlformats.org/drawingml/2006/main" prst="ellipse">
            <a:avLst/>
          </a:prstGeom>
          <a:ln xmlns:a="http://schemas.openxmlformats.org/drawingml/2006/main">
            <a:noFill/>
          </a:ln>
        </p:spPr>
      </p:pic>
      <p:sp>
        <p:nvSpPr>
          <p:cNvPr id="596" name="Google Shape;596;p39">
            <a:extLst xmlns:a="http://schemas.openxmlformats.org/drawingml/2006/main">
              <a:ext uri="{FF2B5EF4-FFF2-40B4-BE49-F238E27FC236}">
                <a16:creationId xmlns:a16="http://schemas.microsoft.com/office/drawing/2014/main" id="{D6AF1C8E-E9B5-416D-9BB2-C571D412E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0130" y="3312500"/>
            <a:ext cx="1959900" cy="62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1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Anotação das populações</a:t>
            </a:r>
            <a:endParaRPr sz="1600" b="1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597" name="Google Shape;597;p39">
            <a:extLst xmlns:a="http://schemas.openxmlformats.org/drawingml/2006/main">
              <a:ext uri="{FF2B5EF4-FFF2-40B4-BE49-F238E27FC236}">
                <a16:creationId xmlns:a16="http://schemas.microsoft.com/office/drawing/2014/main" id="{D38E1C55-0D01-42B1-87EE-712B12692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84800" y="3338500"/>
            <a:ext cx="3966300" cy="5727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598" name="Google Shape;598;p39">
            <a:extLst xmlns:a="http://schemas.openxmlformats.org/drawingml/2006/main">
              <a:ext uri="{FF2B5EF4-FFF2-40B4-BE49-F238E27FC236}">
                <a16:creationId xmlns:a16="http://schemas.microsoft.com/office/drawing/2014/main" id="{722123FC-72F8-40F5-8789-5B7D22BF9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09425" y="3468850"/>
            <a:ext cx="3841800" cy="33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Automatizada ou não, assistida por </a:t>
            </a:r>
            <a:r>
              <a:rPr sz="1400" b="0" i="1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scores</a:t>
            </a:r>
            <a:r>
              <a:rPr sz="14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.</a:t>
            </a:r>
            <a:endParaRPr sz="1400" b="0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600" name="Google Shape;600;p39">
            <a:extLst xmlns:a="http://schemas.openxmlformats.org/drawingml/2006/main">
              <a:ext uri="{FF2B5EF4-FFF2-40B4-BE49-F238E27FC236}">
                <a16:creationId xmlns:a16="http://schemas.microsoft.com/office/drawing/2014/main" id="{7A165F32-3493-4F8C-8460-7056B6B78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0130" y="4154975"/>
            <a:ext cx="1959900" cy="62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1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Análise em si</a:t>
            </a:r>
            <a:endParaRPr sz="1600" b="1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601" name="Google Shape;601;p39">
            <a:extLst xmlns:a="http://schemas.openxmlformats.org/drawingml/2006/main">
              <a:ext uri="{FF2B5EF4-FFF2-40B4-BE49-F238E27FC236}">
                <a16:creationId xmlns:a16="http://schemas.microsoft.com/office/drawing/2014/main" id="{AF57D93C-80F9-40BF-B489-58DD2BA31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84800" y="4104775"/>
            <a:ext cx="4254300" cy="7317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602" name="Google Shape;602;p39">
            <a:extLst xmlns:a="http://schemas.openxmlformats.org/drawingml/2006/main">
              <a:ext uri="{FF2B5EF4-FFF2-40B4-BE49-F238E27FC236}">
                <a16:creationId xmlns:a16="http://schemas.microsoft.com/office/drawing/2014/main" id="{7429E9D4-0189-42D2-A881-6EA7F1E45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09425" y="4311325"/>
            <a:ext cx="4197300" cy="33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Expressão diferencial, pseudotime, predição de comunicação celular, enriquecimento funcional</a:t>
            </a:r>
            <a:endParaRPr sz="1400" b="0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pic>
        <p:nvPicPr>
          <p:cNvPr id="630" name="Google Shape;603;p3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f126b62923142a8">
            <a:alphaModFix/>
          </a:blip>
          <a:srcRect xmlns:a="http://schemas.openxmlformats.org/drawingml/2006/main" l="0" t="0" r="0" b="35342"/>
          <a:stretch xmlns:a="http://schemas.openxmlformats.org/drawingml/2006/main"/>
        </p:blipFill>
        <p:spPr>
          <a:xfrm xmlns:a="http://schemas.openxmlformats.org/drawingml/2006/main">
            <a:off x="6669525" y="4104776"/>
            <a:ext cx="1496973" cy="10387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604" name="Google Shape;604;p39">
            <a:extLst xmlns:a="http://schemas.openxmlformats.org/drawingml/2006/main">
              <a:ext uri="{FF2B5EF4-FFF2-40B4-BE49-F238E27FC236}">
                <a16:creationId xmlns:a16="http://schemas.microsoft.com/office/drawing/2014/main" id="{B77A382D-A40A-4B9E-97EC-4EC603C0D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3000" y="988332"/>
            <a:ext cx="490200" cy="636375"/>
          </a:xfrm>
          <a:custGeom xmlns:a="http://schemas.openxmlformats.org/drawingml/2006/main">
            <a:rect l="l" t="t" r="r" b="b"/>
            <a:pathLst>
              <a:path w="19608" h="25455">
                <a:moveTo>
                  <a:pt x="0" y="1615"/>
                </a:moveTo>
                <a:cubicBezTo>
                  <a:pt x="6244" y="-466"/>
                  <a:pt x="18343" y="-1345"/>
                  <a:pt x="19426" y="5147"/>
                </a:cubicBezTo>
                <a:cubicBezTo>
                  <a:pt x="20887" y="13901"/>
                  <a:pt x="6180" y="17519"/>
                  <a:pt x="2207" y="25456"/>
                </a:cubicBezTo>
              </a:path>
            </a:pathLst>
          </a:custGeom>
          <a:noFill xmlns:a="http://schemas.openxmlformats.org/drawingml/2006/main"/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5" name="Google Shape;605;p39">
            <a:extLst xmlns:a="http://schemas.openxmlformats.org/drawingml/2006/main">
              <a:ext uri="{FF2B5EF4-FFF2-40B4-BE49-F238E27FC236}">
                <a16:creationId xmlns:a16="http://schemas.microsoft.com/office/drawing/2014/main" id="{2900694E-8808-47D0-8B9E-538F2E460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025" y="2078749"/>
            <a:ext cx="530300" cy="527250"/>
          </a:xfrm>
          <a:custGeom xmlns:a="http://schemas.openxmlformats.org/drawingml/2006/main">
            <a:rect l="l" t="t" r="r" b="b"/>
            <a:pathLst>
              <a:path w="21212" h="21090">
                <a:moveTo>
                  <a:pt x="0" y="3872"/>
                </a:moveTo>
                <a:cubicBezTo>
                  <a:pt x="4841" y="3872"/>
                  <a:pt x="9016" y="7455"/>
                  <a:pt x="13686" y="8728"/>
                </a:cubicBezTo>
                <a:cubicBezTo>
                  <a:pt x="16899" y="9604"/>
                  <a:pt x="22599" y="4435"/>
                  <a:pt x="20751" y="1664"/>
                </a:cubicBezTo>
                <a:cubicBezTo>
                  <a:pt x="16109" y="-5297"/>
                  <a:pt x="4856" y="12723"/>
                  <a:pt x="4856" y="21090"/>
                </a:cubicBezTo>
              </a:path>
            </a:pathLst>
          </a:custGeom>
          <a:noFill xmlns:a="http://schemas.openxmlformats.org/drawingml/2006/main"/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6" name="Google Shape;606;p39">
            <a:extLst xmlns:a="http://schemas.openxmlformats.org/drawingml/2006/main">
              <a:ext uri="{FF2B5EF4-FFF2-40B4-BE49-F238E27FC236}">
                <a16:creationId xmlns:a16="http://schemas.microsoft.com/office/drawing/2014/main" id="{678DBFA7-4FCE-413C-8845-EFCE88660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9575" y="3411750"/>
            <a:ext cx="419325" cy="993375"/>
          </a:xfrm>
          <a:custGeom xmlns:a="http://schemas.openxmlformats.org/drawingml/2006/main">
            <a:rect l="l" t="t" r="r" b="b"/>
            <a:pathLst>
              <a:path w="16773" h="39735">
                <a:moveTo>
                  <a:pt x="2208" y="0"/>
                </a:moveTo>
                <a:cubicBezTo>
                  <a:pt x="10560" y="1669"/>
                  <a:pt x="10155" y="15766"/>
                  <a:pt x="10155" y="24283"/>
                </a:cubicBezTo>
                <a:cubicBezTo>
                  <a:pt x="10155" y="28427"/>
                  <a:pt x="8548" y="33715"/>
                  <a:pt x="11479" y="36645"/>
                </a:cubicBezTo>
                <a:cubicBezTo>
                  <a:pt x="13173" y="38339"/>
                  <a:pt x="18030" y="33041"/>
                  <a:pt x="16336" y="31347"/>
                </a:cubicBezTo>
                <a:cubicBezTo>
                  <a:pt x="15394" y="30405"/>
                  <a:pt x="13554" y="31192"/>
                  <a:pt x="12362" y="31788"/>
                </a:cubicBezTo>
                <a:cubicBezTo>
                  <a:pt x="7980" y="33979"/>
                  <a:pt x="2193" y="35354"/>
                  <a:pt x="0" y="39735"/>
                </a:cubicBezTo>
              </a:path>
            </a:pathLst>
          </a:custGeom>
          <a:noFill xmlns:a="http://schemas.openxmlformats.org/drawingml/2006/main"/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50252614"/>
      </p:ext>
    </p:extLst>
  </p:cSld>
</p:sld>
</file>

<file path=ppt/slides/slide4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1" name="Google Shape;611;p40">
            <a:extLst xmlns:a="http://schemas.openxmlformats.org/drawingml/2006/main">
              <a:ext uri="{FF2B5EF4-FFF2-40B4-BE49-F238E27FC236}">
                <a16:creationId xmlns:a16="http://schemas.microsoft.com/office/drawing/2014/main" id="{FEA2FD67-1F1F-498F-8A0A-70F01DEEEC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140225"/>
            <a:ext cx="84912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2000"/>
              <a:t>Passos da </a:t>
            </a:r>
            <a:r>
              <a:rPr sz="2000" b="1"/>
              <a:t>análise de dados</a:t>
            </a:r>
            <a:r>
              <a:rPr sz="2000"/>
              <a:t> de transcriptômica de alta resolução</a:t>
            </a:r>
            <a:endParaRPr/>
          </a:p>
        </p:txBody>
      </p:sp>
      <p:sp>
        <p:nvSpPr>
          <p:cNvPr id="613" name="Google Shape;613;p40">
            <a:extLst xmlns:a="http://schemas.openxmlformats.org/drawingml/2006/main">
              <a:ext uri="{FF2B5EF4-FFF2-40B4-BE49-F238E27FC236}">
                <a16:creationId xmlns:a16="http://schemas.microsoft.com/office/drawing/2014/main" id="{7A06996C-5C0C-4392-8029-84FEC1F11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5699" y="807100"/>
            <a:ext cx="2004300" cy="62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1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Preparo da matriz de </a:t>
            </a:r>
            <a:r>
              <a:rPr sz="1600" b="1" i="1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counts</a:t>
            </a:r>
            <a:endParaRPr sz="1600" b="1" i="1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614" name="Google Shape;614;p40">
            <a:extLst xmlns:a="http://schemas.openxmlformats.org/drawingml/2006/main">
              <a:ext uri="{FF2B5EF4-FFF2-40B4-BE49-F238E27FC236}">
                <a16:creationId xmlns:a16="http://schemas.microsoft.com/office/drawing/2014/main" id="{D31ACB9C-8922-4BF9-A6AC-424E75FD6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84800" y="756925"/>
            <a:ext cx="3256800" cy="7317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615" name="Google Shape;615;p40">
            <a:extLst xmlns:a="http://schemas.openxmlformats.org/drawingml/2006/main">
              <a:ext uri="{FF2B5EF4-FFF2-40B4-BE49-F238E27FC236}">
                <a16:creationId xmlns:a16="http://schemas.microsoft.com/office/drawing/2014/main" id="{E4912084-5001-45AF-AB01-30A6C6EF9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09425" y="841200"/>
            <a:ext cx="3132300" cy="57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1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Trimming</a:t>
            </a:r>
            <a:r>
              <a:rPr sz="14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, controle de qualidade, alinhamento, contagem.</a:t>
            </a:r>
            <a:endParaRPr sz="1400" b="0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pic>
        <p:nvPicPr>
          <p:cNvPr id="628" name="Google Shape;616;p4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a9900049633422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87900" y="1859150"/>
            <a:ext cx="2919191" cy="27838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629" name="Google Shape;617;p4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77ddb9efa724993">
            <a:alphaModFix/>
          </a:blip>
          <a:srcRect xmlns:a="http://schemas.openxmlformats.org/drawingml/2006/main" l="0" t="0" r="0" b="794"/>
          <a:stretch xmlns:a="http://schemas.openxmlformats.org/drawingml/2006/main"/>
        </p:blipFill>
        <p:spPr>
          <a:xfrm xmlns:a="http://schemas.openxmlformats.org/drawingml/2006/main">
            <a:off x="3394375" y="1577300"/>
            <a:ext cx="5538574" cy="303114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618" name="Google Shape;618;p40">
            <a:extLst xmlns:a="http://schemas.openxmlformats.org/drawingml/2006/main">
              <a:ext uri="{FF2B5EF4-FFF2-40B4-BE49-F238E27FC236}">
                <a16:creationId xmlns:a16="http://schemas.microsoft.com/office/drawing/2014/main" id="{9DA8B2CB-7C9D-4566-A80A-2C76D3A81EC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33200" y="4721350"/>
            <a:ext cx="8410800" cy="33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600">
                <a:solidFill>
                  <a:schemeClr val="accent3"/>
                </a:solidFill>
              </a:rPr>
              <a:t>Malte D Luecken1 &amp; Fabian J Theis. Mol Syst Biol. (2019) 15: e8746, Current best practices in single-cell RNA-seq analysis: a tutorial  doi: 10.15252/msb.20188746</a:t>
            </a:r>
            <a:endParaRPr sz="600">
              <a:solidFill>
                <a:schemeClr val="accent3"/>
              </a:solidFill>
            </a:endParaRPr>
          </a:p>
          <a:p xmlns:a="http://schemas.openxmlformats.org/drawingml/2006/main">
            <a: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600">
                <a:solidFill>
                  <a:schemeClr val="accent3"/>
                </a:solidFill>
              </a:rPr>
              <a:t>Jiang et al. BMC Genomics (2024) 25:631 A comprehensive workfow for optimizing RNA-seq data analysis. doi:  https://doi.org/10.1186/s12864-024-10414-y</a:t>
            </a:r>
            <a:endParaRPr sz="600">
              <a:solidFill>
                <a:schemeClr val="accent3"/>
              </a:solidFill>
            </a:endParaRPr>
          </a:p>
          <a:p xmlns:a="http://schemas.openxmlformats.org/drawingml/2006/main">
            <a: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600">
              <a:solidFill>
                <a:schemeClr val="accent3"/>
              </a:solidFill>
            </a:endParaRPr>
          </a:p>
          <a:p xmlns:a="http://schemas.openxmlformats.org/drawingml/2006/main">
            <a: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600">
              <a:solidFill>
                <a:schemeClr val="accent3"/>
              </a:solidFill>
            </a:endParaRPr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endParaRPr sz="600">
              <a:solidFill>
                <a:schemeClr val="accent3"/>
              </a:solidFill>
            </a:endParaRPr>
          </a:p>
        </p:txBody>
      </p:sp>
      <p:sp>
        <p:nvSpPr>
          <p:cNvPr id="619" name="Google Shape;619;p40">
            <a:extLst xmlns:a="http://schemas.openxmlformats.org/drawingml/2006/main">
              <a:ext uri="{FF2B5EF4-FFF2-40B4-BE49-F238E27FC236}">
                <a16:creationId xmlns:a16="http://schemas.microsoft.com/office/drawing/2014/main" id="{4173F17B-E6ED-4EA5-88A3-823F6A67D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000" y="1577298"/>
            <a:ext cx="5761800" cy="303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85880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275" tIns="34125" rIns="68275" bIns="341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4"/>
              <a:buFont typeface="Arial"/>
              <a:buNone/>
            </a:pPr>
            <a:endParaRPr sz="1344" i="0" u="none" cap="none">
              <a:solidFill>
                <a:srgbClr val="FFFFFF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620" name="Google Shape;620;p40">
            <a:extLst xmlns:a="http://schemas.openxmlformats.org/drawingml/2006/main">
              <a:ext uri="{FF2B5EF4-FFF2-40B4-BE49-F238E27FC236}">
                <a16:creationId xmlns:a16="http://schemas.microsoft.com/office/drawing/2014/main" id="{A1CCEA16-E2E9-4350-8F7F-227197339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7698" y="1761375"/>
            <a:ext cx="4965300" cy="62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275" tIns="34125" rIns="68275" bIns="341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93"/>
              <a:buFont typeface="Arial"/>
              <a:buNone/>
            </a:pPr>
            <a:r>
              <a:rPr sz="1793" b="1">
                <a:latin typeface="Proxima Nova"/>
                <a:ea typeface="Proxima Nova"/>
                <a:cs typeface="Proxima Nova"/>
              </a:rPr>
              <a:t>No caso de tecnologias da 10x Genomics (Visium):</a:t>
            </a:r>
            <a:endParaRPr sz="1793" b="1" i="0" u="none" cap="none">
              <a:latin typeface="Proxima Nova"/>
              <a:ea typeface="Proxima Nova"/>
              <a:cs typeface="Proxima Nova"/>
            </a:endParaRPr>
          </a:p>
        </p:txBody>
      </p:sp>
      <p:sp>
        <p:nvSpPr>
          <p:cNvPr id="621" name="Google Shape;621;p40">
            <a:extLst xmlns:a="http://schemas.openxmlformats.org/drawingml/2006/main">
              <a:ext uri="{FF2B5EF4-FFF2-40B4-BE49-F238E27FC236}">
                <a16:creationId xmlns:a16="http://schemas.microsoft.com/office/drawing/2014/main" id="{ACE39935-3BB8-4DB0-95DB-1C4DAECAF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7912" y="2518488"/>
            <a:ext cx="3751500" cy="117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275" tIns="34125" rIns="68275" bIns="341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93"/>
              <a:buFont typeface="Arial"/>
              <a:buNone/>
            </a:pPr>
            <a:r>
              <a:rPr sz="1793" b="1">
                <a:solidFill>
                  <a:srgbClr val="CC0000"/>
                </a:solidFill>
                <a:latin typeface="Proxima Nova"/>
                <a:ea typeface="Proxima Nova"/>
                <a:cs typeface="Proxima Nova"/>
              </a:rPr>
              <a:t>Essas etapas são realizadas ferramentas internas:</a:t>
            </a:r>
            <a:br/>
            <a:r>
              <a:rPr sz="1793" b="1">
                <a:solidFill>
                  <a:srgbClr val="CC0000"/>
                </a:solidFill>
                <a:latin typeface="Proxima Nova"/>
                <a:ea typeface="Proxima Nova"/>
                <a:cs typeface="Proxima Nova"/>
              </a:rPr>
              <a:t>- Cell Ranger</a:t>
            </a:r>
            <a:br/>
            <a:r>
              <a:rPr sz="1793" b="1">
                <a:solidFill>
                  <a:srgbClr val="CC0000"/>
                </a:solidFill>
                <a:latin typeface="Proxima Nova"/>
                <a:ea typeface="Proxima Nova"/>
                <a:cs typeface="Proxima Nova"/>
              </a:rPr>
              <a:t>- </a:t>
            </a:r>
            <a:r>
              <a:rPr sz="1793" b="1" u="sng">
                <a:solidFill>
                  <a:schemeClr val="hlink"/>
                </a:solidFill>
                <a:latin typeface="Proxima Nova"/>
                <a:ea typeface="Proxima Nova"/>
                <a:cs typeface="Proxima Nova"/>
                <a:hlinkClick xmlns:r="http://schemas.openxmlformats.org/officeDocument/2006/relationships" r:id="Rd21265c6cd244adc"/>
              </a:rPr>
              <a:t>Space Ranger</a:t>
            </a:r>
            <a:endParaRPr sz="1793" b="1" i="0" u="none" cap="none">
              <a:solidFill>
                <a:srgbClr val="CC0000"/>
              </a:solidFill>
              <a:latin typeface="Proxima Nova"/>
              <a:ea typeface="Proxima Nova"/>
              <a:cs typeface="Proxima Nova"/>
            </a:endParaRPr>
          </a:p>
        </p:txBody>
      </p:sp>
    </p:spTree>
    <p:extLst>
      <p:ext uri="{BB962C8B-B14F-4D97-AF65-F5344CB8AC3E}">
        <p14:creationId xmlns:p14="http://schemas.microsoft.com/office/powerpoint/2010/main" val="1581408599"/>
      </p:ext>
    </p:extLst>
  </p:cSld>
</p:sld>
</file>

<file path=ppt/slides/slide4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6" name="Google Shape;626;p41">
            <a:extLst xmlns:a="http://schemas.openxmlformats.org/drawingml/2006/main">
              <a:ext uri="{FF2B5EF4-FFF2-40B4-BE49-F238E27FC236}">
                <a16:creationId xmlns:a16="http://schemas.microsoft.com/office/drawing/2014/main" id="{2E29E104-02AB-4A3C-B0CB-9D2491EE66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140225"/>
            <a:ext cx="84912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2000"/>
              <a:t>Passos da </a:t>
            </a:r>
            <a:r>
              <a:rPr sz="2000" b="1"/>
              <a:t>análise de dados</a:t>
            </a:r>
            <a:r>
              <a:rPr sz="2000"/>
              <a:t> de transcriptômica de alta resolução</a:t>
            </a:r>
            <a:endParaRPr/>
          </a:p>
        </p:txBody>
      </p:sp>
      <p:sp>
        <p:nvSpPr>
          <p:cNvPr id="628" name="Google Shape;628;p41">
            <a:extLst xmlns:a="http://schemas.openxmlformats.org/drawingml/2006/main">
              <a:ext uri="{FF2B5EF4-FFF2-40B4-BE49-F238E27FC236}">
                <a16:creationId xmlns:a16="http://schemas.microsoft.com/office/drawing/2014/main" id="{B918D3BB-5A68-42FF-9736-958D2B96A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5699" y="807100"/>
            <a:ext cx="2004300" cy="62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1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Preparo da matriz de </a:t>
            </a:r>
            <a:r>
              <a:rPr sz="1600" b="1" i="1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counts</a:t>
            </a:r>
            <a:endParaRPr sz="1600" b="1" i="1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629" name="Google Shape;629;p41">
            <a:extLst xmlns:a="http://schemas.openxmlformats.org/drawingml/2006/main">
              <a:ext uri="{FF2B5EF4-FFF2-40B4-BE49-F238E27FC236}">
                <a16:creationId xmlns:a16="http://schemas.microsoft.com/office/drawing/2014/main" id="{698AB903-07D8-4AD1-A63A-B1942CF0D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84800" y="756925"/>
            <a:ext cx="3256800" cy="7317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630" name="Google Shape;630;p41">
            <a:extLst xmlns:a="http://schemas.openxmlformats.org/drawingml/2006/main">
              <a:ext uri="{FF2B5EF4-FFF2-40B4-BE49-F238E27FC236}">
                <a16:creationId xmlns:a16="http://schemas.microsoft.com/office/drawing/2014/main" id="{29F3205F-8A48-451A-ACEE-E8C6A6BB7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09425" y="841200"/>
            <a:ext cx="3132300" cy="57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1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Trimming</a:t>
            </a:r>
            <a:r>
              <a:rPr sz="14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, controle de qualidade, alinhamento, contagem.</a:t>
            </a:r>
            <a:endParaRPr sz="1400" b="0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631" name="Google Shape;631;p41">
            <a:extLst xmlns:a="http://schemas.openxmlformats.org/drawingml/2006/main">
              <a:ext uri="{FF2B5EF4-FFF2-40B4-BE49-F238E27FC236}">
                <a16:creationId xmlns:a16="http://schemas.microsoft.com/office/drawing/2014/main" id="{3CE0E77B-F6C2-4BDC-AD3E-5465EFE24A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33200" y="1520396"/>
            <a:ext cx="7498800" cy="3044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sz="1400" b="1">
                <a:solidFill>
                  <a:schemeClr val="dk1"/>
                </a:solidFill>
              </a:rPr>
              <a:t>Pré contagem</a:t>
            </a:r>
            <a:r>
              <a:rPr sz="1400">
                <a:solidFill>
                  <a:schemeClr val="dk1"/>
                </a:solidFill>
              </a:rPr>
              <a:t>:</a:t>
            </a:r>
            <a:endParaRPr sz="1400">
              <a:solidFill>
                <a:schemeClr val="dk1"/>
              </a:solidFill>
            </a:endParaRP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None/>
            </a:pPr>
            <a:r>
              <a:rPr sz="1400">
                <a:solidFill>
                  <a:schemeClr val="dk1"/>
                </a:solidFill>
              </a:rPr>
              <a:t>As transcriptômicas de alta resolução demandam </a:t>
            </a:r>
            <a:r>
              <a:rPr sz="1400" b="1">
                <a:solidFill>
                  <a:schemeClr val="dk1"/>
                </a:solidFill>
              </a:rPr>
              <a:t>demultiplexação por barcodes</a:t>
            </a:r>
            <a:r>
              <a:rPr sz="1400">
                <a:solidFill>
                  <a:schemeClr val="dk1"/>
                </a:solidFill>
              </a:rPr>
              <a:t> e </a:t>
            </a:r>
            <a:r>
              <a:rPr sz="1400" b="1">
                <a:solidFill>
                  <a:schemeClr val="dk1"/>
                </a:solidFill>
              </a:rPr>
              <a:t>deduplicação por UMI (Unique Molecular Identifier)</a:t>
            </a:r>
            <a:r>
              <a:rPr sz="1400">
                <a:solidFill>
                  <a:schemeClr val="dk1"/>
                </a:solidFill>
              </a:rPr>
              <a:t> — inexistentes no bulk.</a:t>
            </a:r>
            <a:endParaRPr sz="1400">
              <a:solidFill>
                <a:schemeClr val="dk1"/>
              </a:solidFill>
            </a:endParaRPr>
          </a:p>
          <a:p xmlns:a="http://schemas.openxmlformats.org/drawingml/2006/main">
            <a:pPr marL="457200" lvl="0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sz="1400" b="1">
                <a:solidFill>
                  <a:schemeClr val="dk1"/>
                </a:solidFill>
              </a:rPr>
              <a:t>Barcodes celulares</a:t>
            </a:r>
            <a:r>
              <a:rPr sz="1400">
                <a:solidFill>
                  <a:schemeClr val="dk1"/>
                </a:solidFill>
              </a:rPr>
              <a:t>: para identificar a célula de origem.</a:t>
            </a:r>
            <a:endParaRPr sz="1400">
              <a:solidFill>
                <a:schemeClr val="dk1"/>
              </a:solidFill>
            </a:endParaRPr>
          </a:p>
          <a:p xmlns:a="http://schemas.openxmlformats.org/drawingml/2006/main">
            <a: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sz="1400" b="1">
                <a:solidFill>
                  <a:schemeClr val="dk1"/>
                </a:solidFill>
              </a:rPr>
              <a:t>UMIs (Unique Molecular Identifiers)</a:t>
            </a:r>
            <a:r>
              <a:rPr sz="1400">
                <a:solidFill>
                  <a:schemeClr val="dk1"/>
                </a:solidFill>
              </a:rPr>
              <a:t>: para evitar contagens infladas por PCR.</a:t>
            </a:r>
            <a:endParaRPr sz="1400">
              <a:solidFill>
                <a:schemeClr val="dk1"/>
              </a:solidFill>
            </a:endParaRPr>
          </a:p>
        </p:txBody>
      </p:sp>
      <p:pic>
        <p:nvPicPr>
          <p:cNvPr id="638" name="Google Shape;632;p4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ad768bd046d49bd">
            <a:alphaModFix/>
          </a:blip>
          <a:srcRect xmlns:a="http://schemas.openxmlformats.org/drawingml/2006/main" l="34089" t="43089" r="0" b="15428"/>
          <a:stretch xmlns:a="http://schemas.openxmlformats.org/drawingml/2006/main"/>
        </p:blipFill>
        <p:spPr>
          <a:xfrm xmlns:a="http://schemas.openxmlformats.org/drawingml/2006/main">
            <a:off x="733200" y="3422625"/>
            <a:ext cx="5409549" cy="129676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583993165"/>
      </p:ext>
    </p:extLst>
  </p:cSld>
</p:sld>
</file>

<file path=ppt/slides/slide4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37" name="Google Shape;637;g3fa37cb035d_0_41">
            <a:extLst xmlns:a="http://schemas.openxmlformats.org/drawingml/2006/main">
              <a:ext uri="{FF2B5EF4-FFF2-40B4-BE49-F238E27FC236}">
                <a16:creationId xmlns:a16="http://schemas.microsoft.com/office/drawing/2014/main" id="{FE6CF7FA-0475-49F2-9342-E8A6DA4EB71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140225"/>
            <a:ext cx="84912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2000"/>
              <a:t>Passos da </a:t>
            </a:r>
            <a:r>
              <a:rPr sz="2000" b="1"/>
              <a:t>análise de dados</a:t>
            </a:r>
            <a:r>
              <a:rPr sz="2000"/>
              <a:t> de transcriptômica de alta resolução</a:t>
            </a:r>
            <a:endParaRPr/>
          </a:p>
        </p:txBody>
      </p:sp>
      <p:sp>
        <p:nvSpPr>
          <p:cNvPr id="639" name="Google Shape;639;g3fa37cb035d_0_41">
            <a:extLst xmlns:a="http://schemas.openxmlformats.org/drawingml/2006/main">
              <a:ext uri="{FF2B5EF4-FFF2-40B4-BE49-F238E27FC236}">
                <a16:creationId xmlns:a16="http://schemas.microsoft.com/office/drawing/2014/main" id="{04F88F26-B4CA-499D-96CB-C06AFC717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5699" y="807100"/>
            <a:ext cx="2004300" cy="62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1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Preparo da matriz de </a:t>
            </a:r>
            <a:r>
              <a:rPr sz="1600" b="1" i="1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counts</a:t>
            </a:r>
            <a:endParaRPr sz="1600" b="1" i="1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640" name="Google Shape;640;g3fa37cb035d_0_41">
            <a:extLst xmlns:a="http://schemas.openxmlformats.org/drawingml/2006/main">
              <a:ext uri="{FF2B5EF4-FFF2-40B4-BE49-F238E27FC236}">
                <a16:creationId xmlns:a16="http://schemas.microsoft.com/office/drawing/2014/main" id="{FA997343-5F2E-4B3D-AD06-C8C1619BD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84800" y="756925"/>
            <a:ext cx="3256800" cy="7317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641" name="Google Shape;641;g3fa37cb035d_0_41">
            <a:extLst xmlns:a="http://schemas.openxmlformats.org/drawingml/2006/main">
              <a:ext uri="{FF2B5EF4-FFF2-40B4-BE49-F238E27FC236}">
                <a16:creationId xmlns:a16="http://schemas.microsoft.com/office/drawing/2014/main" id="{7DD8C1DC-7805-4F3F-82C1-2284C0E16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09425" y="841200"/>
            <a:ext cx="3132300" cy="57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1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Trimming</a:t>
            </a:r>
            <a:r>
              <a:rPr sz="14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, controle de qualidade, alinhamento, contagem.</a:t>
            </a:r>
            <a:endParaRPr sz="1400" b="0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642" name="Google Shape;642;g3fa37cb035d_0_41">
            <a:extLst xmlns:a="http://schemas.openxmlformats.org/drawingml/2006/main">
              <a:ext uri="{FF2B5EF4-FFF2-40B4-BE49-F238E27FC236}">
                <a16:creationId xmlns:a16="http://schemas.microsoft.com/office/drawing/2014/main" id="{D3C82FD1-4625-44B1-A2CE-B4312EA97B2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33200" y="1520396"/>
            <a:ext cx="7498800" cy="3044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sz="1400" b="1">
                <a:solidFill>
                  <a:schemeClr val="dk1"/>
                </a:solidFill>
              </a:rPr>
              <a:t>Pré contagem</a:t>
            </a:r>
            <a:r>
              <a:rPr sz="1400">
                <a:solidFill>
                  <a:schemeClr val="dk1"/>
                </a:solidFill>
              </a:rPr>
              <a:t>:</a:t>
            </a:r>
            <a:endParaRPr sz="1400">
              <a:solidFill>
                <a:schemeClr val="dk1"/>
              </a:solidFill>
            </a:endParaRP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None/>
            </a:pPr>
            <a:r>
              <a:rPr sz="1400">
                <a:solidFill>
                  <a:schemeClr val="dk1"/>
                </a:solidFill>
              </a:rPr>
              <a:t>As transcriptômicas de alta resolução demandam </a:t>
            </a:r>
            <a:r>
              <a:rPr sz="1400" b="1">
                <a:solidFill>
                  <a:schemeClr val="dk1"/>
                </a:solidFill>
              </a:rPr>
              <a:t>demultiplexação por barcodes</a:t>
            </a:r>
            <a:r>
              <a:rPr sz="1400">
                <a:solidFill>
                  <a:schemeClr val="dk1"/>
                </a:solidFill>
              </a:rPr>
              <a:t> e </a:t>
            </a:r>
            <a:r>
              <a:rPr sz="1400" b="1">
                <a:solidFill>
                  <a:schemeClr val="dk1"/>
                </a:solidFill>
              </a:rPr>
              <a:t>deduplicação por UMI (Unique Molecular Identifier)</a:t>
            </a:r>
            <a:r>
              <a:rPr sz="1400">
                <a:solidFill>
                  <a:schemeClr val="dk1"/>
                </a:solidFill>
              </a:rPr>
              <a:t> — inexistentes no bulk.</a:t>
            </a:r>
            <a:endParaRPr sz="1400">
              <a:solidFill>
                <a:schemeClr val="dk1"/>
              </a:solidFill>
            </a:endParaRPr>
          </a:p>
          <a:p xmlns:a="http://schemas.openxmlformats.org/drawingml/2006/main">
            <a:pPr marL="457200" lvl="0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sz="1400" b="1">
                <a:solidFill>
                  <a:schemeClr val="dk1"/>
                </a:solidFill>
              </a:rPr>
              <a:t>Barcodes celulares</a:t>
            </a:r>
            <a:r>
              <a:rPr sz="1400">
                <a:solidFill>
                  <a:schemeClr val="dk1"/>
                </a:solidFill>
              </a:rPr>
              <a:t>: para identificar a célula de origem.</a:t>
            </a:r>
            <a:endParaRPr sz="1400">
              <a:solidFill>
                <a:schemeClr val="dk1"/>
              </a:solidFill>
            </a:endParaRPr>
          </a:p>
          <a:p xmlns:a="http://schemas.openxmlformats.org/drawingml/2006/main">
            <a: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sz="1400" b="1">
                <a:solidFill>
                  <a:schemeClr val="dk1"/>
                </a:solidFill>
              </a:rPr>
              <a:t>UMIs (Unique Molecular Identifiers)</a:t>
            </a:r>
            <a:r>
              <a:rPr sz="1400">
                <a:solidFill>
                  <a:schemeClr val="dk1"/>
                </a:solidFill>
              </a:rPr>
              <a:t>: para evitar contagens infladas por PCR.</a:t>
            </a:r>
            <a:endParaRPr sz="1400">
              <a:solidFill>
                <a:schemeClr val="dk1"/>
              </a:solidFill>
            </a:endParaRPr>
          </a:p>
        </p:txBody>
      </p:sp>
      <p:sp>
        <p:nvSpPr>
          <p:cNvPr id="643" name="Google Shape;643;g3fa37cb035d_0_41">
            <a:extLst xmlns:a="http://schemas.openxmlformats.org/drawingml/2006/main">
              <a:ext uri="{FF2B5EF4-FFF2-40B4-BE49-F238E27FC236}">
                <a16:creationId xmlns:a16="http://schemas.microsoft.com/office/drawing/2014/main" id="{4C7ED0E2-DB14-48A4-B3D3-709EA70D4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6825" y="3340950"/>
            <a:ext cx="2764800" cy="62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275" tIns="34125" rIns="68275" bIns="341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93"/>
              <a:buFont typeface="Arial"/>
              <a:buNone/>
            </a:pPr>
            <a:r>
              <a:rPr sz="1793" b="1">
                <a:latin typeface="Proxima Nova"/>
                <a:ea typeface="Proxima Nova"/>
                <a:cs typeface="Proxima Nova"/>
              </a:rPr>
              <a:t>Caso queira ler mais:</a:t>
            </a:r>
            <a:endParaRPr sz="1793" b="1"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93"/>
              <a:buFont typeface="Arial"/>
              <a:buNone/>
            </a:pPr>
            <a:endParaRPr sz="1793" b="1">
              <a:latin typeface="Proxima Nova"/>
              <a:ea typeface="Proxima Nova"/>
              <a:cs typeface="Proxima Nova"/>
            </a:endParaRPr>
          </a:p>
        </p:txBody>
      </p:sp>
      <p:pic>
        <p:nvPicPr>
          <p:cNvPr id="654" name="Google Shape;644;g3fa37cb035d_0_4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813bc64281d49b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302125" y="3774725"/>
            <a:ext cx="531525" cy="51082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645" name="Google Shape;645;g3fa37cb035d_0_41">
            <a:extLst xmlns:a="http://schemas.openxmlformats.org/drawingml/2006/main">
              <a:ext uri="{FF2B5EF4-FFF2-40B4-BE49-F238E27FC236}">
                <a16:creationId xmlns:a16="http://schemas.microsoft.com/office/drawing/2014/main" id="{3AF1210D-5080-4363-A178-14C2B15F5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3650" y="3708350"/>
            <a:ext cx="2157900" cy="120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1">
                <a:latin typeface="Proxima Nova"/>
                <a:ea typeface="Proxima Nova"/>
                <a:cs typeface="Proxima Nova"/>
              </a:rPr>
              <a:t>Reads to countos. OSTA, Bioconductor</a:t>
            </a:r>
            <a:endParaRPr sz="1100" b="1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>
                <a:latin typeface="Proxima Nova"/>
                <a:ea typeface="Proxima Nova"/>
                <a:cs typeface="Proxima Nova"/>
              </a:rPr>
              <a:t>https://bioconductor.org/books/3.22/OSTA/pages/seq-reads-to-counts.html</a:t>
            </a:r>
            <a:endParaRPr sz="1100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</p:txBody>
      </p:sp>
      <p:pic>
        <p:nvPicPr>
          <p:cNvPr id="656" name="Google Shape;646;g3fa37cb035d_0_4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a9afd340ffd445d">
            <a:alphaModFix/>
          </a:blip>
          <a:srcRect xmlns:a="http://schemas.openxmlformats.org/drawingml/2006/main" l="34089" t="43089" r="0" b="15428"/>
          <a:stretch xmlns:a="http://schemas.openxmlformats.org/drawingml/2006/main"/>
        </p:blipFill>
        <p:spPr>
          <a:xfrm xmlns:a="http://schemas.openxmlformats.org/drawingml/2006/main">
            <a:off x="733200" y="3422625"/>
            <a:ext cx="5409549" cy="129676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849511012"/>
      </p:ext>
    </p:extLst>
  </p:cSld>
</p:sld>
</file>

<file path=ppt/slides/slide4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51" name="Google Shape;651;p42">
            <a:extLst xmlns:a="http://schemas.openxmlformats.org/drawingml/2006/main">
              <a:ext uri="{FF2B5EF4-FFF2-40B4-BE49-F238E27FC236}">
                <a16:creationId xmlns:a16="http://schemas.microsoft.com/office/drawing/2014/main" id="{D730FB24-8E4B-46B8-8B7C-C4D1240CA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140225"/>
            <a:ext cx="84912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2000"/>
              <a:t>Passos da </a:t>
            </a:r>
            <a:r>
              <a:rPr sz="2000" b="1"/>
              <a:t>análise de dados</a:t>
            </a:r>
            <a:r>
              <a:rPr sz="2000"/>
              <a:t> de transcriptômica de alta resolução</a:t>
            </a:r>
            <a:endParaRPr/>
          </a:p>
        </p:txBody>
      </p:sp>
      <p:sp>
        <p:nvSpPr>
          <p:cNvPr id="653" name="Google Shape;653;p42">
            <a:extLst xmlns:a="http://schemas.openxmlformats.org/drawingml/2006/main">
              <a:ext uri="{FF2B5EF4-FFF2-40B4-BE49-F238E27FC236}">
                <a16:creationId xmlns:a16="http://schemas.microsoft.com/office/drawing/2014/main" id="{BBBB6185-2DB8-46F8-A7C4-DF38C9AF4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5699" y="807100"/>
            <a:ext cx="2004300" cy="62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1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Preparo da matriz de </a:t>
            </a:r>
            <a:r>
              <a:rPr sz="1600" b="1" i="1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counts</a:t>
            </a:r>
            <a:endParaRPr sz="1600" b="1" i="1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654" name="Google Shape;654;p42">
            <a:extLst xmlns:a="http://schemas.openxmlformats.org/drawingml/2006/main">
              <a:ext uri="{FF2B5EF4-FFF2-40B4-BE49-F238E27FC236}">
                <a16:creationId xmlns:a16="http://schemas.microsoft.com/office/drawing/2014/main" id="{87A54B2A-077D-4448-85F6-65E0F42E4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84800" y="756925"/>
            <a:ext cx="3256800" cy="7317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655" name="Google Shape;655;p42">
            <a:extLst xmlns:a="http://schemas.openxmlformats.org/drawingml/2006/main">
              <a:ext uri="{FF2B5EF4-FFF2-40B4-BE49-F238E27FC236}">
                <a16:creationId xmlns:a16="http://schemas.microsoft.com/office/drawing/2014/main" id="{9A66C03B-DCE2-43AF-BD3F-AF023B327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09425" y="841200"/>
            <a:ext cx="3132300" cy="57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1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Trimming</a:t>
            </a:r>
            <a:r>
              <a:rPr sz="14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, controle de qualidade, alinhamento, contagem.</a:t>
            </a:r>
            <a:endParaRPr sz="1400" b="0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656" name="Google Shape;656;p42">
            <a:extLst xmlns:a="http://schemas.openxmlformats.org/drawingml/2006/main">
              <a:ext uri="{FF2B5EF4-FFF2-40B4-BE49-F238E27FC236}">
                <a16:creationId xmlns:a16="http://schemas.microsoft.com/office/drawing/2014/main" id="{8ED295FF-64A9-47D7-8E2C-F25F2B9B7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7950" y="1250850"/>
            <a:ext cx="30888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chemeClr val="lt1"/>
                </a:solidFill>
                <a:highlight>
                  <a:schemeClr val="dk2"/>
                </a:highlight>
                <a:latin typeface="Proxima Nova"/>
                <a:ea typeface="Proxima Nova"/>
                <a:cs typeface="Proxima Nova"/>
              </a:rPr>
              <a:t>Ferramentas</a:t>
            </a:r>
            <a:endParaRPr sz="1800" b="0" i="0" u="none" cap="none">
              <a:solidFill>
                <a:schemeClr val="lt1"/>
              </a:solidFill>
              <a:highlight>
                <a:schemeClr val="dk2"/>
              </a:highlight>
              <a:latin typeface="Proxima Nova"/>
              <a:ea typeface="Proxima Nova"/>
              <a:cs typeface="Proxima Nova"/>
            </a:endParaRPr>
          </a:p>
        </p:txBody>
      </p:sp>
      <p:pic>
        <p:nvPicPr>
          <p:cNvPr id="669" name="Google Shape;657;p4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5cb206b509049e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11700" y="2015625"/>
            <a:ext cx="6499024" cy="20402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670" name="Google Shape;658;p4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b9cb0a492bf412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014883" y="2342575"/>
            <a:ext cx="2001765" cy="630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671" name="Google Shape;659;p4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fba771e7a7b42e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211275" y="3081775"/>
            <a:ext cx="2932725" cy="164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660" name="Google Shape;660;p42">
            <a:extLst xmlns:a="http://schemas.openxmlformats.org/drawingml/2006/main">
              <a:ext uri="{FF2B5EF4-FFF2-40B4-BE49-F238E27FC236}">
                <a16:creationId xmlns:a16="http://schemas.microsoft.com/office/drawing/2014/main" id="{9DDC353F-8BBB-4A63-977D-EA15DD30F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3149" y="2067425"/>
            <a:ext cx="1847700" cy="34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275" tIns="34125" rIns="68275" bIns="341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93"/>
              <a:buFont typeface="Arial"/>
              <a:buNone/>
            </a:pPr>
            <a:r>
              <a:rPr sz="1793" b="1">
                <a:solidFill>
                  <a:srgbClr val="FF0000"/>
                </a:solidFill>
                <a:latin typeface="Proxima Nova"/>
                <a:ea typeface="Proxima Nova"/>
                <a:cs typeface="Proxima Nova"/>
              </a:rPr>
              <a:t>single-cell</a:t>
            </a:r>
            <a:endParaRPr sz="1793" b="1" i="0" u="none" cap="none">
              <a:solidFill>
                <a:srgbClr val="FF0000"/>
              </a:solidFill>
              <a:latin typeface="Proxima Nova"/>
              <a:ea typeface="Proxima Nova"/>
              <a:cs typeface="Proxima Nova"/>
            </a:endParaRPr>
          </a:p>
        </p:txBody>
      </p:sp>
    </p:spTree>
    <p:extLst>
      <p:ext uri="{BB962C8B-B14F-4D97-AF65-F5344CB8AC3E}">
        <p14:creationId xmlns:p14="http://schemas.microsoft.com/office/powerpoint/2010/main" val="1780509197"/>
      </p:ext>
    </p:extLst>
  </p:cSld>
</p:sld>
</file>

<file path=ppt/slides/slide4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65" name="Google Shape;665;p43">
            <a:extLst xmlns:a="http://schemas.openxmlformats.org/drawingml/2006/main">
              <a:ext uri="{FF2B5EF4-FFF2-40B4-BE49-F238E27FC236}">
                <a16:creationId xmlns:a16="http://schemas.microsoft.com/office/drawing/2014/main" id="{E8E436D3-1F24-4EA4-99E4-499DECB7B2E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140225"/>
            <a:ext cx="84912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2000"/>
              <a:t>Passos da </a:t>
            </a:r>
            <a:r>
              <a:rPr sz="2000" b="1"/>
              <a:t>análise de dados</a:t>
            </a:r>
            <a:r>
              <a:rPr sz="2000"/>
              <a:t> de transcriptômica de alta resolução</a:t>
            </a:r>
            <a:endParaRPr/>
          </a:p>
        </p:txBody>
      </p:sp>
      <p:sp>
        <p:nvSpPr>
          <p:cNvPr id="667" name="Google Shape;667;p43">
            <a:extLst xmlns:a="http://schemas.openxmlformats.org/drawingml/2006/main">
              <a:ext uri="{FF2B5EF4-FFF2-40B4-BE49-F238E27FC236}">
                <a16:creationId xmlns:a16="http://schemas.microsoft.com/office/drawing/2014/main" id="{B9292858-A833-4AD4-B81E-0D0297928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5699" y="807100"/>
            <a:ext cx="2004300" cy="62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1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Preparo da matriz de </a:t>
            </a:r>
            <a:r>
              <a:rPr sz="1600" b="1" i="1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counts</a:t>
            </a:r>
            <a:endParaRPr sz="1600" b="1" i="1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668" name="Google Shape;668;p43">
            <a:extLst xmlns:a="http://schemas.openxmlformats.org/drawingml/2006/main">
              <a:ext uri="{FF2B5EF4-FFF2-40B4-BE49-F238E27FC236}">
                <a16:creationId xmlns:a16="http://schemas.microsoft.com/office/drawing/2014/main" id="{18A48268-BBC1-4F66-A556-7D69126B5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84800" y="756925"/>
            <a:ext cx="3256800" cy="7317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669" name="Google Shape;669;p43">
            <a:extLst xmlns:a="http://schemas.openxmlformats.org/drawingml/2006/main">
              <a:ext uri="{FF2B5EF4-FFF2-40B4-BE49-F238E27FC236}">
                <a16:creationId xmlns:a16="http://schemas.microsoft.com/office/drawing/2014/main" id="{DCAA5A09-845B-488E-B537-19E3061BD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09425" y="841200"/>
            <a:ext cx="3132300" cy="57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1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Trimming</a:t>
            </a:r>
            <a:r>
              <a:rPr sz="14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, controle de qualidade, alinhamento, contagem.</a:t>
            </a:r>
            <a:endParaRPr sz="1400" b="0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670" name="Google Shape;670;p43">
            <a:extLst xmlns:a="http://schemas.openxmlformats.org/drawingml/2006/main">
              <a:ext uri="{FF2B5EF4-FFF2-40B4-BE49-F238E27FC236}">
                <a16:creationId xmlns:a16="http://schemas.microsoft.com/office/drawing/2014/main" id="{FE24883F-FBF0-4751-AB9D-C09D28B2F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7950" y="1250850"/>
            <a:ext cx="3088800" cy="63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chemeClr val="lt1"/>
                </a:solidFill>
                <a:highlight>
                  <a:schemeClr val="dk2"/>
                </a:highlight>
                <a:latin typeface="Proxima Nova"/>
                <a:ea typeface="Proxima Nova"/>
                <a:cs typeface="Proxima Nova"/>
              </a:rPr>
              <a:t>Ferramentas</a:t>
            </a:r>
            <a:endParaRPr sz="1800" b="0" i="0" u="none" cap="none">
              <a:solidFill>
                <a:schemeClr val="lt1"/>
              </a:solidFill>
              <a:highlight>
                <a:schemeClr val="dk2"/>
              </a:highlight>
              <a:latin typeface="Proxima Nova"/>
              <a:ea typeface="Proxima Nova"/>
              <a:cs typeface="Proxima Nova"/>
            </a:endParaRPr>
          </a:p>
        </p:txBody>
      </p:sp>
      <p:pic>
        <p:nvPicPr>
          <p:cNvPr id="685" name="Google Shape;671;p4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4671fdd58d44b8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014883" y="2342575"/>
            <a:ext cx="2001765" cy="630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686" name="Google Shape;672;p4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16be1bc035048d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211275" y="3081775"/>
            <a:ext cx="2932725" cy="164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687" name="Google Shape;673;p4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978cbf497c3411e">
            <a:alphaModFix/>
          </a:blip>
          <a:srcRect xmlns:a="http://schemas.openxmlformats.org/drawingml/2006/main" l="15233" t="0" r="0" b="0"/>
          <a:stretch xmlns:a="http://schemas.openxmlformats.org/drawingml/2006/main"/>
        </p:blipFill>
        <p:spPr>
          <a:xfrm xmlns:a="http://schemas.openxmlformats.org/drawingml/2006/main">
            <a:off x="611800" y="2115725"/>
            <a:ext cx="6171674" cy="1393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688" name="Google Shape;674;p4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adaa6b1294e480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2697075" y="3444075"/>
            <a:ext cx="2647801" cy="15141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675" name="Google Shape;675;p43">
            <a:extLst xmlns:a="http://schemas.openxmlformats.org/drawingml/2006/main">
              <a:ext uri="{FF2B5EF4-FFF2-40B4-BE49-F238E27FC236}">
                <a16:creationId xmlns:a16="http://schemas.microsoft.com/office/drawing/2014/main" id="{ED2DFDE5-C57F-45C0-89CC-DCDAA10AD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801" y="1770725"/>
            <a:ext cx="2835600" cy="34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275" tIns="34125" rIns="68275" bIns="341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93"/>
              <a:buFont typeface="Arial"/>
              <a:buNone/>
            </a:pPr>
            <a:r>
              <a:rPr sz="1793" b="1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Space Ranger: Visium</a:t>
            </a:r>
            <a:endParaRPr sz="1793" b="1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</p:spTree>
    <p:extLst>
      <p:ext uri="{BB962C8B-B14F-4D97-AF65-F5344CB8AC3E}">
        <p14:creationId xmlns:p14="http://schemas.microsoft.com/office/powerpoint/2010/main" val="454129798"/>
      </p:ext>
    </p:extLst>
  </p:cSld>
</p:sld>
</file>

<file path=ppt/slides/slide4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80" name="Google Shape;680;p44">
            <a:extLst xmlns:a="http://schemas.openxmlformats.org/drawingml/2006/main">
              <a:ext uri="{FF2B5EF4-FFF2-40B4-BE49-F238E27FC236}">
                <a16:creationId xmlns:a16="http://schemas.microsoft.com/office/drawing/2014/main" id="{05855D69-400B-4917-A2F2-01D6DFF8DD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5615400" cy="70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1900" b="1"/>
              <a:t>Volume</a:t>
            </a:r>
            <a:r>
              <a:rPr sz="1900"/>
              <a:t> e complexidade de dados</a:t>
            </a:r>
            <a:endParaRPr sz="2700"/>
          </a:p>
        </p:txBody>
      </p:sp>
    </p:spTree>
    <p:extLst>
      <p:ext uri="{BB962C8B-B14F-4D97-AF65-F5344CB8AC3E}">
        <p14:creationId xmlns:p14="http://schemas.microsoft.com/office/powerpoint/2010/main" val="454497236"/>
      </p:ext>
    </p:extLst>
  </p:cSld>
</p:sld>
</file>

<file path=ppt/slides/slide4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85" name="Google Shape;685;g3fa37cb035d_0_78">
            <a:extLst xmlns:a="http://schemas.openxmlformats.org/drawingml/2006/main">
              <a:ext uri="{FF2B5EF4-FFF2-40B4-BE49-F238E27FC236}">
                <a16:creationId xmlns:a16="http://schemas.microsoft.com/office/drawing/2014/main" id="{6D507D36-F250-45B4-B031-64CEAA90FF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5615400" cy="70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1900" b="1"/>
              <a:t>Volume</a:t>
            </a:r>
            <a:r>
              <a:rPr sz="1900"/>
              <a:t> e complexidade de dados</a:t>
            </a:r>
            <a:endParaRPr sz="2700"/>
          </a:p>
        </p:txBody>
      </p:sp>
      <p:sp>
        <p:nvSpPr>
          <p:cNvPr id="686" name="Google Shape;686;g3fa37cb035d_0_78">
            <a:extLst xmlns:a="http://schemas.openxmlformats.org/drawingml/2006/main">
              <a:ext uri="{FF2B5EF4-FFF2-40B4-BE49-F238E27FC236}">
                <a16:creationId xmlns:a16="http://schemas.microsoft.com/office/drawing/2014/main" id="{40960EC1-C518-42D7-BB0D-7CF908E6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0" y="1900675"/>
            <a:ext cx="3200700" cy="266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D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</a:rPr>
              <a:t>counts</a:t>
            </a:r>
            <a:endParaRPr sz="1400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687" name="Google Shape;687;g3fa37cb035d_0_78">
            <a:extLst xmlns:a="http://schemas.openxmlformats.org/drawingml/2006/main">
              <a:ext uri="{FF2B5EF4-FFF2-40B4-BE49-F238E27FC236}">
                <a16:creationId xmlns:a16="http://schemas.microsoft.com/office/drawing/2014/main" id="{B865DC8F-FE4A-4D13-B362-A98D69C2A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125" y="1900675"/>
            <a:ext cx="664500" cy="2660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gene1</a:t>
            </a:r>
            <a:endParaRPr sz="1100" b="0" i="0" u="non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gene2</a:t>
            </a:r>
            <a:endParaRPr sz="1100" b="0" i="0" u="non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gene3</a:t>
            </a:r>
            <a:endParaRPr sz="1100" b="0" i="0" u="non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gene4</a:t>
            </a:r>
            <a:endParaRPr sz="1100" b="0" i="0" u="non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gene5</a:t>
            </a:r>
            <a:endParaRPr sz="1100" b="0" i="0" u="non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gene6</a:t>
            </a:r>
            <a:endParaRPr sz="1100" b="0" i="0" u="non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gene7</a:t>
            </a:r>
            <a:endParaRPr sz="1100" b="0" i="0" u="non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gene8</a:t>
            </a:r>
            <a:endParaRPr sz="1100" b="0" i="0" u="non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gene9</a:t>
            </a:r>
            <a:endParaRPr sz="1100" b="0" i="0" u="non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gene10</a:t>
            </a:r>
            <a:endParaRPr sz="1100" b="0" i="0" u="non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gene11</a:t>
            </a:r>
            <a:endParaRPr sz="1100" b="0" i="0" u="non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gene12</a:t>
            </a:r>
            <a:endParaRPr sz="1100" b="0" i="0" u="non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…</a:t>
            </a:r>
            <a:endParaRPr sz="1100" b="0" i="0" u="non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(&gt;10^3)</a:t>
            </a:r>
            <a:endParaRPr sz="1100" b="0" i="0" u="non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688" name="Google Shape;688;g3fa37cb035d_0_78">
            <a:extLst xmlns:a="http://schemas.openxmlformats.org/drawingml/2006/main">
              <a:ext uri="{FF2B5EF4-FFF2-40B4-BE49-F238E27FC236}">
                <a16:creationId xmlns:a16="http://schemas.microsoft.com/office/drawing/2014/main" id="{84B64CEC-D4FD-4A1D-BB80-4A53D6163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0" y="1188575"/>
            <a:ext cx="734100" cy="628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amostra1</a:t>
            </a:r>
            <a:endParaRPr sz="1200" b="0" i="0" u="non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689" name="Google Shape;689;g3fa37cb035d_0_78">
            <a:extLst xmlns:a="http://schemas.openxmlformats.org/drawingml/2006/main">
              <a:ext uri="{FF2B5EF4-FFF2-40B4-BE49-F238E27FC236}">
                <a16:creationId xmlns:a16="http://schemas.microsoft.com/office/drawing/2014/main" id="{2DF2234B-411C-4A91-803D-566D920D7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8074" y="1188575"/>
            <a:ext cx="734100" cy="628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amostra2</a:t>
            </a:r>
            <a:endParaRPr sz="1200" b="0" i="0" u="non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690" name="Google Shape;690;g3fa37cb035d_0_78">
            <a:extLst xmlns:a="http://schemas.openxmlformats.org/drawingml/2006/main">
              <a:ext uri="{FF2B5EF4-FFF2-40B4-BE49-F238E27FC236}">
                <a16:creationId xmlns:a16="http://schemas.microsoft.com/office/drawing/2014/main" id="{2880E64B-0B15-4EB3-876D-1C20C4207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0299" y="1188575"/>
            <a:ext cx="734100" cy="628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amostra3</a:t>
            </a:r>
            <a:endParaRPr sz="1200" b="0" i="0" u="non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691" name="Google Shape;691;g3fa37cb035d_0_78">
            <a:extLst xmlns:a="http://schemas.openxmlformats.org/drawingml/2006/main">
              <a:ext uri="{FF2B5EF4-FFF2-40B4-BE49-F238E27FC236}">
                <a16:creationId xmlns:a16="http://schemas.microsoft.com/office/drawing/2014/main" id="{E37D9EA0-A150-4A20-B584-C60401CC6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2523" y="1188575"/>
            <a:ext cx="734100" cy="628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amostra4</a:t>
            </a:r>
            <a:endParaRPr sz="1200" b="0" i="0" u="non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692" name="Google Shape;692;g3fa37cb035d_0_78">
            <a:extLst xmlns:a="http://schemas.openxmlformats.org/drawingml/2006/main">
              <a:ext uri="{FF2B5EF4-FFF2-40B4-BE49-F238E27FC236}">
                <a16:creationId xmlns:a16="http://schemas.microsoft.com/office/drawing/2014/main" id="{75253681-908C-460E-800E-D64CDC63A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0" y="1900675"/>
            <a:ext cx="3200700" cy="266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D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</a:rPr>
              <a:t>counts</a:t>
            </a:r>
            <a:endParaRPr sz="1400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693" name="Google Shape;693;g3fa37cb035d_0_78">
            <a:extLst xmlns:a="http://schemas.openxmlformats.org/drawingml/2006/main">
              <a:ext uri="{FF2B5EF4-FFF2-40B4-BE49-F238E27FC236}">
                <a16:creationId xmlns:a16="http://schemas.microsoft.com/office/drawing/2014/main" id="{392CDB6C-19FE-474B-9F62-A9BB79A99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9325" y="830025"/>
            <a:ext cx="1578375" cy="242825"/>
          </a:xfrm>
          <a:custGeom xmlns:a="http://schemas.openxmlformats.org/drawingml/2006/main">
            <a:rect l="l" t="t" r="r" b="b"/>
            <a:pathLst>
              <a:path w="63135" h="9713">
                <a:moveTo>
                  <a:pt x="0" y="9713"/>
                </a:moveTo>
                <a:cubicBezTo>
                  <a:pt x="9522" y="-9332"/>
                  <a:pt x="48079" y="15056"/>
                  <a:pt x="63135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4" name="Google Shape;694;g3fa37cb035d_0_78">
            <a:extLst xmlns:a="http://schemas.openxmlformats.org/drawingml/2006/main">
              <a:ext uri="{FF2B5EF4-FFF2-40B4-BE49-F238E27FC236}">
                <a16:creationId xmlns:a16="http://schemas.microsoft.com/office/drawing/2014/main" id="{9183DEDA-4758-4954-836F-940E0DD6A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7700" y="445025"/>
            <a:ext cx="2494500" cy="77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chemeClr val="lt1"/>
                </a:solidFill>
                <a:highlight>
                  <a:schemeClr val="dk2"/>
                </a:highlight>
                <a:latin typeface="Proxima Nova"/>
                <a:ea typeface="Proxima Nova"/>
                <a:cs typeface="Proxima Nova"/>
              </a:rPr>
              <a:t>Amostra = barcode</a:t>
            </a:r>
            <a:endParaRPr sz="1600" b="0" i="0" u="none" cap="none">
              <a:solidFill>
                <a:schemeClr val="lt1"/>
              </a:solidFill>
              <a:highlight>
                <a:schemeClr val="dk2"/>
              </a:highlight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                    </a:t>
            </a:r>
            <a:r>
              <a:rPr sz="1600" b="0" i="0" u="none" cap="none">
                <a:solidFill>
                  <a:schemeClr val="lt1"/>
                </a:solidFill>
                <a:highlight>
                  <a:schemeClr val="dk2"/>
                </a:highlight>
                <a:latin typeface="Proxima Nova"/>
                <a:ea typeface="Proxima Nova"/>
                <a:cs typeface="Proxima Nova"/>
              </a:rPr>
              <a:t>(célula/spot)</a:t>
            </a:r>
            <a:endParaRPr sz="1600" b="0" i="0" u="none" cap="none">
              <a:solidFill>
                <a:schemeClr val="lt1"/>
              </a:solidFill>
              <a:highlight>
                <a:schemeClr val="dk2"/>
              </a:highlight>
              <a:latin typeface="Proxima Nova"/>
              <a:ea typeface="Proxima Nova"/>
              <a:cs typeface="Proxima Nova"/>
            </a:endParaRPr>
          </a:p>
        </p:txBody>
      </p:sp>
      <p:sp>
        <p:nvSpPr>
          <p:cNvPr id="695" name="Google Shape;695;g3fa37cb035d_0_78">
            <a:extLst xmlns:a="http://schemas.openxmlformats.org/drawingml/2006/main">
              <a:ext uri="{FF2B5EF4-FFF2-40B4-BE49-F238E27FC236}">
                <a16:creationId xmlns:a16="http://schemas.microsoft.com/office/drawing/2014/main" id="{8A4BA04B-D013-4C9D-AE24-D8BCBCD32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4626" y="2767850"/>
            <a:ext cx="2835600" cy="34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275" tIns="34125" rIns="68275" bIns="341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93"/>
              <a:buFont typeface="Arial"/>
              <a:buNone/>
            </a:pPr>
            <a:r>
              <a:rPr sz="1793" b="1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Bulk RNA</a:t>
            </a:r>
            <a:endParaRPr sz="1793" b="1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</p:spTree>
    <p:extLst>
      <p:ext uri="{BB962C8B-B14F-4D97-AF65-F5344CB8AC3E}">
        <p14:creationId xmlns:p14="http://schemas.microsoft.com/office/powerpoint/2010/main" val="2131827197"/>
      </p:ext>
    </p:extLst>
  </p:cSld>
</p:sld>
</file>

<file path=ppt/slides/slide4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00" name="Google Shape;700;g3fa37cb035d_0_60">
            <a:extLst xmlns:a="http://schemas.openxmlformats.org/drawingml/2006/main">
              <a:ext uri="{FF2B5EF4-FFF2-40B4-BE49-F238E27FC236}">
                <a16:creationId xmlns:a16="http://schemas.microsoft.com/office/drawing/2014/main" id="{255D6188-6D73-4FA0-BD22-876C94AC27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5615400" cy="70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1900" b="1"/>
              <a:t>Volume</a:t>
            </a:r>
            <a:r>
              <a:rPr sz="1900"/>
              <a:t> e complexidade de dados</a:t>
            </a:r>
            <a:endParaRPr sz="2700"/>
          </a:p>
        </p:txBody>
      </p:sp>
      <p:sp>
        <p:nvSpPr>
          <p:cNvPr id="701" name="Google Shape;701;g3fa37cb035d_0_60">
            <a:extLst xmlns:a="http://schemas.openxmlformats.org/drawingml/2006/main">
              <a:ext uri="{FF2B5EF4-FFF2-40B4-BE49-F238E27FC236}">
                <a16:creationId xmlns:a16="http://schemas.microsoft.com/office/drawing/2014/main" id="{36AE72B4-70FC-4505-A641-19F64EF07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0" y="1900675"/>
            <a:ext cx="3200700" cy="266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D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</a:rPr>
              <a:t>counts</a:t>
            </a:r>
            <a:endParaRPr sz="1400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702" name="Google Shape;702;g3fa37cb035d_0_60">
            <a:extLst xmlns:a="http://schemas.openxmlformats.org/drawingml/2006/main">
              <a:ext uri="{FF2B5EF4-FFF2-40B4-BE49-F238E27FC236}">
                <a16:creationId xmlns:a16="http://schemas.microsoft.com/office/drawing/2014/main" id="{7753358D-CCB9-4ADF-A442-3CC88B9C2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125" y="1900675"/>
            <a:ext cx="664500" cy="2660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gene1</a:t>
            </a:r>
            <a:endParaRPr sz="1100" b="0" i="0" u="non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gene2</a:t>
            </a:r>
            <a:endParaRPr sz="1100" b="0" i="0" u="non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gene3</a:t>
            </a:r>
            <a:endParaRPr sz="1100" b="0" i="0" u="non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gene4</a:t>
            </a:r>
            <a:endParaRPr sz="1100" b="0" i="0" u="non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gene5</a:t>
            </a:r>
            <a:endParaRPr sz="1100" b="0" i="0" u="non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gene6</a:t>
            </a:r>
            <a:endParaRPr sz="1100" b="0" i="0" u="non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gene7</a:t>
            </a:r>
            <a:endParaRPr sz="1100" b="0" i="0" u="non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gene8</a:t>
            </a:r>
            <a:endParaRPr sz="1100" b="0" i="0" u="non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gene9</a:t>
            </a:r>
            <a:endParaRPr sz="1100" b="0" i="0" u="non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gene10</a:t>
            </a:r>
            <a:endParaRPr sz="1100" b="0" i="0" u="non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gene11</a:t>
            </a:r>
            <a:endParaRPr sz="1100" b="0" i="0" u="non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gene12</a:t>
            </a:r>
            <a:endParaRPr sz="1100" b="0" i="0" u="non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…</a:t>
            </a:r>
            <a:endParaRPr sz="1100" b="0" i="0" u="non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(&gt;10^3)</a:t>
            </a:r>
            <a:endParaRPr sz="1100" b="0" i="0" u="non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703" name="Google Shape;703;g3fa37cb035d_0_60">
            <a:extLst xmlns:a="http://schemas.openxmlformats.org/drawingml/2006/main">
              <a:ext uri="{FF2B5EF4-FFF2-40B4-BE49-F238E27FC236}">
                <a16:creationId xmlns:a16="http://schemas.microsoft.com/office/drawing/2014/main" id="{3EB3900F-55AF-481B-9972-2A7AFBADD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0" y="1900675"/>
            <a:ext cx="3200700" cy="266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D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</a:rPr>
              <a:t>counts</a:t>
            </a:r>
            <a:endParaRPr sz="1400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704" name="Google Shape;704;g3fa37cb035d_0_60">
            <a:extLst xmlns:a="http://schemas.openxmlformats.org/drawingml/2006/main">
              <a:ext uri="{FF2B5EF4-FFF2-40B4-BE49-F238E27FC236}">
                <a16:creationId xmlns:a16="http://schemas.microsoft.com/office/drawing/2014/main" id="{2CC4C02D-A466-44CB-B2C6-15F80C189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9325" y="830025"/>
            <a:ext cx="1578375" cy="242825"/>
          </a:xfrm>
          <a:custGeom xmlns:a="http://schemas.openxmlformats.org/drawingml/2006/main">
            <a:rect l="l" t="t" r="r" b="b"/>
            <a:pathLst>
              <a:path w="63135" h="9713">
                <a:moveTo>
                  <a:pt x="0" y="9713"/>
                </a:moveTo>
                <a:cubicBezTo>
                  <a:pt x="9522" y="-9332"/>
                  <a:pt x="48079" y="15056"/>
                  <a:pt x="63135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5" name="Google Shape;705;g3fa37cb035d_0_60">
            <a:extLst xmlns:a="http://schemas.openxmlformats.org/drawingml/2006/main">
              <a:ext uri="{FF2B5EF4-FFF2-40B4-BE49-F238E27FC236}">
                <a16:creationId xmlns:a16="http://schemas.microsoft.com/office/drawing/2014/main" id="{4A2E2034-6F88-45E9-98A0-93D24FB57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7700" y="445025"/>
            <a:ext cx="2494500" cy="77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chemeClr val="lt1"/>
                </a:solidFill>
                <a:highlight>
                  <a:schemeClr val="dk2"/>
                </a:highlight>
                <a:latin typeface="Proxima Nova"/>
                <a:ea typeface="Proxima Nova"/>
                <a:cs typeface="Proxima Nova"/>
              </a:rPr>
              <a:t>Amostra = barcode</a:t>
            </a:r>
            <a:endParaRPr sz="1600" b="0" i="0" u="none" cap="none">
              <a:solidFill>
                <a:schemeClr val="lt1"/>
              </a:solidFill>
              <a:highlight>
                <a:schemeClr val="dk2"/>
              </a:highlight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                    </a:t>
            </a:r>
            <a:r>
              <a:rPr sz="1600" b="0" i="0" u="none" cap="none">
                <a:solidFill>
                  <a:schemeClr val="lt1"/>
                </a:solidFill>
                <a:highlight>
                  <a:schemeClr val="dk2"/>
                </a:highlight>
                <a:latin typeface="Proxima Nova"/>
                <a:ea typeface="Proxima Nova"/>
                <a:cs typeface="Proxima Nova"/>
              </a:rPr>
              <a:t>(célula/spot)</a:t>
            </a:r>
            <a:endParaRPr sz="1600" b="0" i="0" u="none" cap="none">
              <a:solidFill>
                <a:schemeClr val="lt1"/>
              </a:solidFill>
              <a:highlight>
                <a:schemeClr val="dk2"/>
              </a:highlight>
              <a:latin typeface="Proxima Nova"/>
              <a:ea typeface="Proxima Nova"/>
              <a:cs typeface="Proxima Nova"/>
            </a:endParaRPr>
          </a:p>
        </p:txBody>
      </p:sp>
      <p:sp>
        <p:nvSpPr>
          <p:cNvPr id="706" name="Google Shape;706;g3fa37cb035d_0_60">
            <a:extLst xmlns:a="http://schemas.openxmlformats.org/drawingml/2006/main">
              <a:ext uri="{FF2B5EF4-FFF2-40B4-BE49-F238E27FC236}">
                <a16:creationId xmlns:a16="http://schemas.microsoft.com/office/drawing/2014/main" id="{CCD19D52-76EE-4F88-BC7B-2C7A2D766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0" y="1172513"/>
            <a:ext cx="7273500" cy="628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… (&gt;10^3)</a:t>
            </a:r>
            <a:endParaRPr sz="1400" b="0" i="0" u="non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707" name="Google Shape;707;g3fa37cb035d_0_60">
            <a:extLst xmlns:a="http://schemas.openxmlformats.org/drawingml/2006/main">
              <a:ext uri="{FF2B5EF4-FFF2-40B4-BE49-F238E27FC236}">
                <a16:creationId xmlns:a16="http://schemas.microsoft.com/office/drawing/2014/main" id="{AC52EFEB-3AB4-4499-96E0-A905EA056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0" y="1900675"/>
            <a:ext cx="7273500" cy="266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D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</a:rPr>
              <a:t>counts</a:t>
            </a:r>
            <a:endParaRPr sz="1400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</p:txBody>
      </p:sp>
    </p:spTree>
    <p:extLst>
      <p:ext uri="{BB962C8B-B14F-4D97-AF65-F5344CB8AC3E}">
        <p14:creationId xmlns:p14="http://schemas.microsoft.com/office/powerpoint/2010/main" val="63716815"/>
      </p:ext>
    </p:extLst>
  </p:cSld>
</p:sld>
</file>

<file path=ppt/slides/slide5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12" name="Google Shape;712;g3fa37cb035d_0_105">
            <a:extLst xmlns:a="http://schemas.openxmlformats.org/drawingml/2006/main">
              <a:ext uri="{FF2B5EF4-FFF2-40B4-BE49-F238E27FC236}">
                <a16:creationId xmlns:a16="http://schemas.microsoft.com/office/drawing/2014/main" id="{EC95B7C6-5C3F-4023-B94C-2EE0961C25A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5615400" cy="70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1900" b="1"/>
              <a:t>Volume</a:t>
            </a:r>
            <a:r>
              <a:rPr sz="1900"/>
              <a:t> e complexidade de dados</a:t>
            </a:r>
            <a:endParaRPr sz="2700"/>
          </a:p>
        </p:txBody>
      </p:sp>
      <p:sp>
        <p:nvSpPr>
          <p:cNvPr id="713" name="Google Shape;713;g3fa37cb035d_0_105">
            <a:extLst xmlns:a="http://schemas.openxmlformats.org/drawingml/2006/main">
              <a:ext uri="{FF2B5EF4-FFF2-40B4-BE49-F238E27FC236}">
                <a16:creationId xmlns:a16="http://schemas.microsoft.com/office/drawing/2014/main" id="{91511D66-803E-418F-88F4-253A07D00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0" y="1900675"/>
            <a:ext cx="3200700" cy="266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D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</a:rPr>
              <a:t>counts</a:t>
            </a:r>
            <a:endParaRPr sz="1400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714" name="Google Shape;714;g3fa37cb035d_0_105">
            <a:extLst xmlns:a="http://schemas.openxmlformats.org/drawingml/2006/main">
              <a:ext uri="{FF2B5EF4-FFF2-40B4-BE49-F238E27FC236}">
                <a16:creationId xmlns:a16="http://schemas.microsoft.com/office/drawing/2014/main" id="{7B8DC52A-4DDF-4A35-A8D4-D0852A8CA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125" y="1900675"/>
            <a:ext cx="664500" cy="2660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gene1</a:t>
            </a:r>
            <a:endParaRPr sz="1100" b="0" i="0" u="non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gene2</a:t>
            </a:r>
            <a:endParaRPr sz="1100" b="0" i="0" u="non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gene3</a:t>
            </a:r>
            <a:endParaRPr sz="1100" b="0" i="0" u="non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gene4</a:t>
            </a:r>
            <a:endParaRPr sz="1100" b="0" i="0" u="non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gene5</a:t>
            </a:r>
            <a:endParaRPr sz="1100" b="0" i="0" u="non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gene6</a:t>
            </a:r>
            <a:endParaRPr sz="1100" b="0" i="0" u="non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gene7</a:t>
            </a:r>
            <a:endParaRPr sz="1100" b="0" i="0" u="non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gene8</a:t>
            </a:r>
            <a:endParaRPr sz="1100" b="0" i="0" u="non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gene9</a:t>
            </a:r>
            <a:endParaRPr sz="1100" b="0" i="0" u="non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gene10</a:t>
            </a:r>
            <a:endParaRPr sz="1100" b="0" i="0" u="non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gene11</a:t>
            </a:r>
            <a:endParaRPr sz="1100" b="0" i="0" u="non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gene12</a:t>
            </a:r>
            <a:endParaRPr sz="1100" b="0" i="0" u="non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…</a:t>
            </a:r>
            <a:endParaRPr sz="1100" b="0" i="0" u="non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(&gt;10^3)</a:t>
            </a:r>
            <a:endParaRPr sz="1100" b="0" i="0" u="non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715" name="Google Shape;715;g3fa37cb035d_0_105">
            <a:extLst xmlns:a="http://schemas.openxmlformats.org/drawingml/2006/main">
              <a:ext uri="{FF2B5EF4-FFF2-40B4-BE49-F238E27FC236}">
                <a16:creationId xmlns:a16="http://schemas.microsoft.com/office/drawing/2014/main" id="{4254F1A2-021F-4C70-A332-905825561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0" y="1900675"/>
            <a:ext cx="3200700" cy="266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D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</a:rPr>
              <a:t>counts</a:t>
            </a:r>
            <a:endParaRPr sz="1400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716" name="Google Shape;716;g3fa37cb035d_0_105">
            <a:extLst xmlns:a="http://schemas.openxmlformats.org/drawingml/2006/main">
              <a:ext uri="{FF2B5EF4-FFF2-40B4-BE49-F238E27FC236}">
                <a16:creationId xmlns:a16="http://schemas.microsoft.com/office/drawing/2014/main" id="{E4BDE213-72A1-4023-AC84-68150612B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9325" y="830025"/>
            <a:ext cx="1578375" cy="242825"/>
          </a:xfrm>
          <a:custGeom xmlns:a="http://schemas.openxmlformats.org/drawingml/2006/main">
            <a:rect l="l" t="t" r="r" b="b"/>
            <a:pathLst>
              <a:path w="63135" h="9713">
                <a:moveTo>
                  <a:pt x="0" y="9713"/>
                </a:moveTo>
                <a:cubicBezTo>
                  <a:pt x="9522" y="-9332"/>
                  <a:pt x="48079" y="15056"/>
                  <a:pt x="63135" y="0"/>
                </a:cubicBezTo>
              </a:path>
            </a:pathLst>
          </a:custGeom>
          <a:noFill xmlns:a="http://schemas.openxmlformats.org/drawingml/2006/main"/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7" name="Google Shape;717;g3fa37cb035d_0_105">
            <a:extLst xmlns:a="http://schemas.openxmlformats.org/drawingml/2006/main">
              <a:ext uri="{FF2B5EF4-FFF2-40B4-BE49-F238E27FC236}">
                <a16:creationId xmlns:a16="http://schemas.microsoft.com/office/drawing/2014/main" id="{EE3567CE-472E-4A16-9373-6BB802BC1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7700" y="445025"/>
            <a:ext cx="2494500" cy="77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chemeClr val="lt1"/>
                </a:solidFill>
                <a:highlight>
                  <a:schemeClr val="dk2"/>
                </a:highlight>
                <a:latin typeface="Proxima Nova"/>
                <a:ea typeface="Proxima Nova"/>
                <a:cs typeface="Proxima Nova"/>
              </a:rPr>
              <a:t>Amostra = barcode</a:t>
            </a:r>
            <a:endParaRPr sz="1600" b="0" i="0" u="none" cap="none">
              <a:solidFill>
                <a:schemeClr val="lt1"/>
              </a:solidFill>
              <a:highlight>
                <a:schemeClr val="dk2"/>
              </a:highlight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                    </a:t>
            </a:r>
            <a:r>
              <a:rPr sz="1600" b="0" i="0" u="none" cap="none">
                <a:solidFill>
                  <a:schemeClr val="lt1"/>
                </a:solidFill>
                <a:highlight>
                  <a:schemeClr val="dk2"/>
                </a:highlight>
                <a:latin typeface="Proxima Nova"/>
                <a:ea typeface="Proxima Nova"/>
                <a:cs typeface="Proxima Nova"/>
              </a:rPr>
              <a:t>(célula/spot)</a:t>
            </a:r>
            <a:endParaRPr sz="1600" b="0" i="0" u="none" cap="none">
              <a:solidFill>
                <a:schemeClr val="lt1"/>
              </a:solidFill>
              <a:highlight>
                <a:schemeClr val="dk2"/>
              </a:highlight>
              <a:latin typeface="Proxima Nova"/>
              <a:ea typeface="Proxima Nova"/>
              <a:cs typeface="Proxima Nova"/>
            </a:endParaRPr>
          </a:p>
        </p:txBody>
      </p:sp>
      <p:sp>
        <p:nvSpPr>
          <p:cNvPr id="718" name="Google Shape;718;g3fa37cb035d_0_105">
            <a:extLst xmlns:a="http://schemas.openxmlformats.org/drawingml/2006/main">
              <a:ext uri="{FF2B5EF4-FFF2-40B4-BE49-F238E27FC236}">
                <a16:creationId xmlns:a16="http://schemas.microsoft.com/office/drawing/2014/main" id="{9D0A4809-C7D7-4D31-AEA4-4D52C7B67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0" y="1172513"/>
            <a:ext cx="7273500" cy="628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… (&gt;10^3)</a:t>
            </a:r>
            <a:endParaRPr sz="1400" b="0" i="0" u="non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719" name="Google Shape;719;g3fa37cb035d_0_105">
            <a:extLst xmlns:a="http://schemas.openxmlformats.org/drawingml/2006/main">
              <a:ext uri="{FF2B5EF4-FFF2-40B4-BE49-F238E27FC236}">
                <a16:creationId xmlns:a16="http://schemas.microsoft.com/office/drawing/2014/main" id="{02AA610E-F8CE-4AB5-A8A9-8BA15D73C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0" y="1900675"/>
            <a:ext cx="7273500" cy="266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9D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</a:rPr>
              <a:t>counts</a:t>
            </a:r>
            <a:endParaRPr sz="1400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720" name="Google Shape;720;g3fa37cb035d_0_105">
            <a:extLst xmlns:a="http://schemas.openxmlformats.org/drawingml/2006/main">
              <a:ext uri="{FF2B5EF4-FFF2-40B4-BE49-F238E27FC236}">
                <a16:creationId xmlns:a16="http://schemas.microsoft.com/office/drawing/2014/main" id="{7C17E3E5-B9EE-4F75-9CBA-D18BB2A57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9451" y="3667025"/>
            <a:ext cx="2679900" cy="43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0" i="0" u="none" cap="none">
                <a:solidFill>
                  <a:schemeClr val="lt1"/>
                </a:solidFill>
                <a:highlight>
                  <a:schemeClr val="accent5"/>
                </a:highlight>
                <a:latin typeface="Proxima Nova"/>
                <a:ea typeface="Proxima Nova"/>
                <a:cs typeface="Proxima Nova"/>
              </a:rPr>
              <a:t>Maior quantidade de dados</a:t>
            </a:r>
            <a:endParaRPr sz="1600" b="0" i="0" u="none" cap="none">
              <a:solidFill>
                <a:schemeClr val="lt1"/>
              </a:solidFill>
              <a:highlight>
                <a:schemeClr val="accent5"/>
              </a:highlight>
              <a:latin typeface="Proxima Nova"/>
              <a:ea typeface="Proxima Nova"/>
              <a:cs typeface="Proxima Nova"/>
            </a:endParaRPr>
          </a:p>
        </p:txBody>
      </p:sp>
      <p:sp>
        <p:nvSpPr>
          <p:cNvPr id="721" name="Google Shape;721;g3fa37cb035d_0_105">
            <a:extLst xmlns:a="http://schemas.openxmlformats.org/drawingml/2006/main">
              <a:ext uri="{FF2B5EF4-FFF2-40B4-BE49-F238E27FC236}">
                <a16:creationId xmlns:a16="http://schemas.microsoft.com/office/drawing/2014/main" id="{DA43A804-360B-4238-8B04-D1E58BCE8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3751" y="4005700"/>
            <a:ext cx="2835600" cy="29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275" tIns="34125" rIns="68275" bIns="341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93"/>
              <a:buFont typeface="Arial"/>
              <a:buNone/>
            </a:pPr>
            <a:r>
              <a:rPr sz="1493" b="1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single-cell ou RNAseq espacial</a:t>
            </a:r>
            <a:endParaRPr sz="1493" b="1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</p:spTree>
    <p:extLst>
      <p:ext uri="{BB962C8B-B14F-4D97-AF65-F5344CB8AC3E}">
        <p14:creationId xmlns:p14="http://schemas.microsoft.com/office/powerpoint/2010/main" val="1603427653"/>
      </p:ext>
    </p:extLst>
  </p:cSld>
</p:sld>
</file>

<file path=ppt/slides/slide5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6" name="Google Shape;726;p45">
            <a:extLst xmlns:a="http://schemas.openxmlformats.org/drawingml/2006/main">
              <a:ext uri="{FF2B5EF4-FFF2-40B4-BE49-F238E27FC236}">
                <a16:creationId xmlns:a16="http://schemas.microsoft.com/office/drawing/2014/main" id="{F24C5054-2717-4A40-8689-2A300F0BDC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5615400" cy="70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1900"/>
              <a:t>Volume e </a:t>
            </a:r>
            <a:r>
              <a:rPr sz="1900" b="1"/>
              <a:t>complexidade</a:t>
            </a:r>
            <a:r>
              <a:rPr sz="1900"/>
              <a:t> de dados</a:t>
            </a:r>
            <a:endParaRPr sz="2700"/>
          </a:p>
        </p:txBody>
      </p:sp>
      <p:pic>
        <p:nvPicPr>
          <p:cNvPr id="729" name="Google Shape;727;p4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0b86ca6ae244e0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18000" y="1046525"/>
            <a:ext cx="4602790" cy="3686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432016267"/>
      </p:ext>
    </p:extLst>
  </p:cSld>
</p:sld>
</file>

<file path=ppt/slides/slide5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32" name="Google Shape;732;g3fa37cb035d_0_118">
            <a:extLst xmlns:a="http://schemas.openxmlformats.org/drawingml/2006/main">
              <a:ext uri="{FF2B5EF4-FFF2-40B4-BE49-F238E27FC236}">
                <a16:creationId xmlns:a16="http://schemas.microsoft.com/office/drawing/2014/main" id="{5E762528-3D24-4731-BF28-AD14D829D7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5615400" cy="70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1900"/>
              <a:t>Volume e </a:t>
            </a:r>
            <a:r>
              <a:rPr sz="1900" b="1"/>
              <a:t>complexidade</a:t>
            </a:r>
            <a:r>
              <a:rPr sz="1900"/>
              <a:t> de dados</a:t>
            </a:r>
            <a:endParaRPr sz="2700"/>
          </a:p>
        </p:txBody>
      </p:sp>
      <p:sp>
        <p:nvSpPr>
          <p:cNvPr id="733" name="Google Shape;733;g3fa37cb035d_0_118">
            <a:extLst xmlns:a="http://schemas.openxmlformats.org/drawingml/2006/main">
              <a:ext uri="{FF2B5EF4-FFF2-40B4-BE49-F238E27FC236}">
                <a16:creationId xmlns:a16="http://schemas.microsoft.com/office/drawing/2014/main" id="{DEC7D489-73DD-4922-8E3B-92407DFD0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0275" y="2670963"/>
            <a:ext cx="2622900" cy="43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800" b="0" i="0" u="none" cap="none">
                <a:solidFill>
                  <a:schemeClr val="lt1"/>
                </a:solidFill>
                <a:highlight>
                  <a:schemeClr val="accent5"/>
                </a:highlight>
                <a:latin typeface="Proxima Nova"/>
                <a:ea typeface="Proxima Nova"/>
                <a:cs typeface="Proxima Nova"/>
              </a:rPr>
              <a:t>Matrizes muito esparsas</a:t>
            </a:r>
            <a:endParaRPr sz="1800" b="0" i="0" u="none" cap="none">
              <a:solidFill>
                <a:schemeClr val="lt1"/>
              </a:solidFill>
              <a:highlight>
                <a:schemeClr val="accent5"/>
              </a:highlight>
              <a:latin typeface="Proxima Nova"/>
              <a:ea typeface="Proxima Nova"/>
              <a:cs typeface="Proxima Nova"/>
            </a:endParaRPr>
          </a:p>
        </p:txBody>
      </p:sp>
      <p:pic>
        <p:nvPicPr>
          <p:cNvPr id="737" name="Google Shape;734;g3fa37cb035d_0_1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2abca3da44b4da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18000" y="1046525"/>
            <a:ext cx="4602790" cy="3686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130163721"/>
      </p:ext>
    </p:extLst>
  </p:cSld>
</p:sld>
</file>

<file path=ppt/slides/slide5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39" name="Google Shape;739;p46">
            <a:extLst xmlns:a="http://schemas.openxmlformats.org/drawingml/2006/main">
              <a:ext uri="{FF2B5EF4-FFF2-40B4-BE49-F238E27FC236}">
                <a16:creationId xmlns:a16="http://schemas.microsoft.com/office/drawing/2014/main" id="{1AAB19BE-12C3-4949-A7BF-7D9A79267B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5615400" cy="70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1900"/>
              <a:t>Volume e </a:t>
            </a:r>
            <a:r>
              <a:rPr sz="1900" b="1"/>
              <a:t>complexidade</a:t>
            </a:r>
            <a:r>
              <a:rPr sz="1900"/>
              <a:t> de dados</a:t>
            </a:r>
            <a:endParaRPr sz="2700"/>
          </a:p>
        </p:txBody>
      </p:sp>
      <p:pic>
        <p:nvPicPr>
          <p:cNvPr id="742" name="Google Shape;740;p4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016128e909e421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73625" y="1064150"/>
            <a:ext cx="5162550" cy="3657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319722023"/>
      </p:ext>
    </p:extLst>
  </p:cSld>
</p:sld>
</file>

<file path=ppt/slides/slide5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45" name="Google Shape;745;g3fa37cb035d_0_124">
            <a:extLst xmlns:a="http://schemas.openxmlformats.org/drawingml/2006/main">
              <a:ext uri="{FF2B5EF4-FFF2-40B4-BE49-F238E27FC236}">
                <a16:creationId xmlns:a16="http://schemas.microsoft.com/office/drawing/2014/main" id="{F104A038-1F0D-459C-A65F-1A5ECD16888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5615400" cy="70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1900"/>
              <a:t>Volume e </a:t>
            </a:r>
            <a:r>
              <a:rPr sz="1900" b="1"/>
              <a:t>complexidade</a:t>
            </a:r>
            <a:r>
              <a:rPr sz="1900"/>
              <a:t> de dados</a:t>
            </a:r>
            <a:endParaRPr sz="2700"/>
          </a:p>
        </p:txBody>
      </p:sp>
      <p:pic>
        <p:nvPicPr>
          <p:cNvPr id="750" name="Google Shape;746;g3fa37cb035d_0_12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570f1c00fff4f1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73625" y="1064150"/>
            <a:ext cx="5162550" cy="3657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47" name="Google Shape;747;g3fa37cb035d_0_124">
            <a:extLst xmlns:a="http://schemas.openxmlformats.org/drawingml/2006/main">
              <a:ext uri="{FF2B5EF4-FFF2-40B4-BE49-F238E27FC236}">
                <a16:creationId xmlns:a16="http://schemas.microsoft.com/office/drawing/2014/main" id="{DD10C3F7-9A10-4D9E-99ED-AFE0EAF63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1825" y="3767125"/>
            <a:ext cx="34026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800" b="0" i="0" u="none" cap="none">
                <a:solidFill>
                  <a:schemeClr val="lt1"/>
                </a:solidFill>
                <a:highlight>
                  <a:schemeClr val="accent5"/>
                </a:highlight>
                <a:latin typeface="Proxima Nova"/>
                <a:ea typeface="Proxima Nova"/>
                <a:cs typeface="Proxima Nova"/>
              </a:rPr>
              <a:t>Amostras mais heterogêneas</a:t>
            </a:r>
            <a:endParaRPr sz="1800" b="0" i="0" u="none" cap="none">
              <a:solidFill>
                <a:schemeClr val="lt1"/>
              </a:solidFill>
              <a:highlight>
                <a:schemeClr val="accent5"/>
              </a:highlight>
              <a:latin typeface="Proxima Nova"/>
              <a:ea typeface="Proxima Nova"/>
              <a:cs typeface="Proxima Nova"/>
            </a:endParaRPr>
          </a:p>
        </p:txBody>
      </p:sp>
    </p:spTree>
    <p:extLst>
      <p:ext uri="{BB962C8B-B14F-4D97-AF65-F5344CB8AC3E}">
        <p14:creationId xmlns:p14="http://schemas.microsoft.com/office/powerpoint/2010/main" val="1169392272"/>
      </p:ext>
    </p:extLst>
  </p:cSld>
</p:sld>
</file>

<file path=ppt/slides/slide5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2" name="Google Shape;752;p47">
            <a:extLst xmlns:a="http://schemas.openxmlformats.org/drawingml/2006/main">
              <a:ext uri="{FF2B5EF4-FFF2-40B4-BE49-F238E27FC236}">
                <a16:creationId xmlns:a16="http://schemas.microsoft.com/office/drawing/2014/main" id="{F021AF75-8F34-4342-999C-F70B147E82F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140225"/>
            <a:ext cx="84912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2000"/>
              <a:t>Passos da </a:t>
            </a:r>
            <a:r>
              <a:rPr sz="2000" b="1"/>
              <a:t>análise de dados</a:t>
            </a:r>
            <a:r>
              <a:rPr sz="2000"/>
              <a:t> de transcriptômica de alta resolução</a:t>
            </a:r>
            <a:endParaRPr/>
          </a:p>
        </p:txBody>
      </p:sp>
      <p:sp>
        <p:nvSpPr>
          <p:cNvPr id="754" name="Google Shape;754;p47">
            <a:extLst xmlns:a="http://schemas.openxmlformats.org/drawingml/2006/main">
              <a:ext uri="{FF2B5EF4-FFF2-40B4-BE49-F238E27FC236}">
                <a16:creationId xmlns:a16="http://schemas.microsoft.com/office/drawing/2014/main" id="{41AA963B-C798-4FF5-82DE-B212340D6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604943" y="1714950"/>
            <a:ext cx="2715300" cy="62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1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Pré-processamento</a:t>
            </a:r>
            <a:endParaRPr sz="1600" b="1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755" name="Google Shape;755;p47">
            <a:extLst xmlns:a="http://schemas.openxmlformats.org/drawingml/2006/main">
              <a:ext uri="{FF2B5EF4-FFF2-40B4-BE49-F238E27FC236}">
                <a16:creationId xmlns:a16="http://schemas.microsoft.com/office/drawing/2014/main" id="{F228DDD0-94E9-458E-B4AC-98D2B654B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84825" y="1664750"/>
            <a:ext cx="3642900" cy="7317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756" name="Google Shape;756;p47">
            <a:extLst xmlns:a="http://schemas.openxmlformats.org/drawingml/2006/main">
              <a:ext uri="{FF2B5EF4-FFF2-40B4-BE49-F238E27FC236}">
                <a16:creationId xmlns:a16="http://schemas.microsoft.com/office/drawing/2014/main" id="{8FC55438-8D9F-41BF-993F-E71E60E2B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09425" y="1871325"/>
            <a:ext cx="3518400" cy="33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Controle de qualidade, normalização, redução de dimensionalidade</a:t>
            </a:r>
            <a:endParaRPr sz="1400" b="0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758" name="Google Shape;758;p47">
            <a:extLst xmlns:a="http://schemas.openxmlformats.org/drawingml/2006/main">
              <a:ext uri="{FF2B5EF4-FFF2-40B4-BE49-F238E27FC236}">
                <a16:creationId xmlns:a16="http://schemas.microsoft.com/office/drawing/2014/main" id="{905A29BF-643E-4BB7-B80E-0522A990B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0130" y="2546213"/>
            <a:ext cx="1959900" cy="62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1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Separação das populações</a:t>
            </a:r>
            <a:endParaRPr sz="1600" b="1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759" name="Google Shape;759;p47">
            <a:extLst xmlns:a="http://schemas.openxmlformats.org/drawingml/2006/main">
              <a:ext uri="{FF2B5EF4-FFF2-40B4-BE49-F238E27FC236}">
                <a16:creationId xmlns:a16="http://schemas.microsoft.com/office/drawing/2014/main" id="{68DE1AAC-CB4B-4C84-97B7-B029F1720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84800" y="2572213"/>
            <a:ext cx="3642900" cy="5727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760" name="Google Shape;760;p47">
            <a:extLst xmlns:a="http://schemas.openxmlformats.org/drawingml/2006/main">
              <a:ext uri="{FF2B5EF4-FFF2-40B4-BE49-F238E27FC236}">
                <a16:creationId xmlns:a16="http://schemas.microsoft.com/office/drawing/2014/main" id="{DA413543-E9EB-4E5B-91A0-1F4519D9D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09425" y="2702563"/>
            <a:ext cx="3518400" cy="33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Clusterização</a:t>
            </a:r>
            <a:endParaRPr sz="1400" b="0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pic>
        <p:nvPicPr>
          <p:cNvPr id="788" name="Google Shape;761;p4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f79b92ff664475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548775" y="637700"/>
            <a:ext cx="1316575" cy="8069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789" name="Google Shape;762;p4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fc86c79fe724f7e">
            <a:alphaModFix/>
          </a:blip>
          <a:srcRect xmlns:a="http://schemas.openxmlformats.org/drawingml/2006/main" l="0" t="970" r="0" b="0"/>
          <a:stretch xmlns:a="http://schemas.openxmlformats.org/drawingml/2006/main"/>
        </p:blipFill>
        <p:spPr>
          <a:xfrm xmlns:a="http://schemas.openxmlformats.org/drawingml/2006/main">
            <a:off x="6354325" y="2571750"/>
            <a:ext cx="1969025" cy="1472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790" name="Google Shape;763;p4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d45a2540f4343b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891575" y="1444625"/>
            <a:ext cx="1234200" cy="1261800"/>
          </a:xfrm>
          <a:prstGeom xmlns:a="http://schemas.openxmlformats.org/drawingml/2006/main" prst="ellipse">
            <a:avLst/>
          </a:prstGeom>
          <a:ln xmlns:a="http://schemas.openxmlformats.org/drawingml/2006/main">
            <a:noFill/>
          </a:ln>
        </p:spPr>
      </p:pic>
      <p:sp>
        <p:nvSpPr>
          <p:cNvPr id="765" name="Google Shape;765;p47">
            <a:extLst xmlns:a="http://schemas.openxmlformats.org/drawingml/2006/main">
              <a:ext uri="{FF2B5EF4-FFF2-40B4-BE49-F238E27FC236}">
                <a16:creationId xmlns:a16="http://schemas.microsoft.com/office/drawing/2014/main" id="{DC44874E-A7AC-4169-85E1-75A87033F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0130" y="3312500"/>
            <a:ext cx="1959900" cy="62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1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Anotação das populações</a:t>
            </a:r>
            <a:endParaRPr sz="1600" b="1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766" name="Google Shape;766;p47">
            <a:extLst xmlns:a="http://schemas.openxmlformats.org/drawingml/2006/main">
              <a:ext uri="{FF2B5EF4-FFF2-40B4-BE49-F238E27FC236}">
                <a16:creationId xmlns:a16="http://schemas.microsoft.com/office/drawing/2014/main" id="{3B8AE092-AC39-47CD-BA6B-621AFBA6C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84800" y="3338500"/>
            <a:ext cx="3966300" cy="5727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767" name="Google Shape;767;p47">
            <a:extLst xmlns:a="http://schemas.openxmlformats.org/drawingml/2006/main">
              <a:ext uri="{FF2B5EF4-FFF2-40B4-BE49-F238E27FC236}">
                <a16:creationId xmlns:a16="http://schemas.microsoft.com/office/drawing/2014/main" id="{A3D5D1A2-5B31-4813-BB12-647AE5B18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09425" y="3468850"/>
            <a:ext cx="3841800" cy="33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Automatizada ou não, assistida por </a:t>
            </a:r>
            <a:r>
              <a:rPr sz="1400" b="0" i="1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scores</a:t>
            </a:r>
            <a:r>
              <a:rPr sz="14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.</a:t>
            </a:r>
            <a:endParaRPr sz="1400" b="0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769" name="Google Shape;769;p47">
            <a:extLst xmlns:a="http://schemas.openxmlformats.org/drawingml/2006/main">
              <a:ext uri="{FF2B5EF4-FFF2-40B4-BE49-F238E27FC236}">
                <a16:creationId xmlns:a16="http://schemas.microsoft.com/office/drawing/2014/main" id="{99660B52-B1C1-438F-AC38-8AC4155F8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0130" y="4154975"/>
            <a:ext cx="1959900" cy="62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sz="1600" b="1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Análise em si</a:t>
            </a:r>
            <a:endParaRPr sz="1600" b="1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770" name="Google Shape;770;p47">
            <a:extLst xmlns:a="http://schemas.openxmlformats.org/drawingml/2006/main">
              <a:ext uri="{FF2B5EF4-FFF2-40B4-BE49-F238E27FC236}">
                <a16:creationId xmlns:a16="http://schemas.microsoft.com/office/drawing/2014/main" id="{4BBE9EBF-AA14-489A-88A0-8E71FDAAE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84800" y="4104775"/>
            <a:ext cx="4254300" cy="7317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771" name="Google Shape;771;p47">
            <a:extLst xmlns:a="http://schemas.openxmlformats.org/drawingml/2006/main">
              <a:ext uri="{FF2B5EF4-FFF2-40B4-BE49-F238E27FC236}">
                <a16:creationId xmlns:a16="http://schemas.microsoft.com/office/drawing/2014/main" id="{F89DF965-213C-4EAA-876F-56833D161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09425" y="4311325"/>
            <a:ext cx="4197300" cy="33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Expressão diferencial, pseudotime, predição de comunicação celular, enriquecimento funcional</a:t>
            </a:r>
            <a:endParaRPr sz="1400" b="0" i="0" u="non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pic>
        <p:nvPicPr>
          <p:cNvPr id="797" name="Google Shape;772;p4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f75377c2807445e">
            <a:alphaModFix/>
          </a:blip>
          <a:srcRect xmlns:a="http://schemas.openxmlformats.org/drawingml/2006/main" l="0" t="0" r="0" b="35342"/>
          <a:stretch xmlns:a="http://schemas.openxmlformats.org/drawingml/2006/main"/>
        </p:blipFill>
        <p:spPr>
          <a:xfrm xmlns:a="http://schemas.openxmlformats.org/drawingml/2006/main">
            <a:off x="6669525" y="4104776"/>
            <a:ext cx="1496973" cy="10387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73" name="Google Shape;773;p47">
            <a:extLst xmlns:a="http://schemas.openxmlformats.org/drawingml/2006/main">
              <a:ext uri="{FF2B5EF4-FFF2-40B4-BE49-F238E27FC236}">
                <a16:creationId xmlns:a16="http://schemas.microsoft.com/office/drawing/2014/main" id="{06007C83-096D-46A0-91C4-EE3C4C8E9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3000" y="988332"/>
            <a:ext cx="490200" cy="636375"/>
          </a:xfrm>
          <a:custGeom xmlns:a="http://schemas.openxmlformats.org/drawingml/2006/main">
            <a:rect l="l" t="t" r="r" b="b"/>
            <a:pathLst>
              <a:path w="19608" h="25455">
                <a:moveTo>
                  <a:pt x="0" y="1615"/>
                </a:moveTo>
                <a:cubicBezTo>
                  <a:pt x="6244" y="-466"/>
                  <a:pt x="18343" y="-1345"/>
                  <a:pt x="19426" y="5147"/>
                </a:cubicBezTo>
                <a:cubicBezTo>
                  <a:pt x="20887" y="13901"/>
                  <a:pt x="6180" y="17519"/>
                  <a:pt x="2207" y="25456"/>
                </a:cubicBezTo>
              </a:path>
            </a:pathLst>
          </a:custGeom>
          <a:noFill xmlns:a="http://schemas.openxmlformats.org/drawingml/2006/main"/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4" name="Google Shape;774;p47">
            <a:extLst xmlns:a="http://schemas.openxmlformats.org/drawingml/2006/main">
              <a:ext uri="{FF2B5EF4-FFF2-40B4-BE49-F238E27FC236}">
                <a16:creationId xmlns:a16="http://schemas.microsoft.com/office/drawing/2014/main" id="{41238A3A-160F-477B-AD48-12166903E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025" y="2078749"/>
            <a:ext cx="530300" cy="527250"/>
          </a:xfrm>
          <a:custGeom xmlns:a="http://schemas.openxmlformats.org/drawingml/2006/main">
            <a:rect l="l" t="t" r="r" b="b"/>
            <a:pathLst>
              <a:path w="21212" h="21090">
                <a:moveTo>
                  <a:pt x="0" y="3872"/>
                </a:moveTo>
                <a:cubicBezTo>
                  <a:pt x="4841" y="3872"/>
                  <a:pt x="9016" y="7455"/>
                  <a:pt x="13686" y="8728"/>
                </a:cubicBezTo>
                <a:cubicBezTo>
                  <a:pt x="16899" y="9604"/>
                  <a:pt x="22599" y="4435"/>
                  <a:pt x="20751" y="1664"/>
                </a:cubicBezTo>
                <a:cubicBezTo>
                  <a:pt x="16109" y="-5297"/>
                  <a:pt x="4856" y="12723"/>
                  <a:pt x="4856" y="21090"/>
                </a:cubicBezTo>
              </a:path>
            </a:pathLst>
          </a:custGeom>
          <a:noFill xmlns:a="http://schemas.openxmlformats.org/drawingml/2006/main"/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5" name="Google Shape;775;p47">
            <a:extLst xmlns:a="http://schemas.openxmlformats.org/drawingml/2006/main">
              <a:ext uri="{FF2B5EF4-FFF2-40B4-BE49-F238E27FC236}">
                <a16:creationId xmlns:a16="http://schemas.microsoft.com/office/drawing/2014/main" id="{CEB0476D-4719-4D9F-A550-2F0160CC4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9575" y="3411750"/>
            <a:ext cx="419325" cy="993375"/>
          </a:xfrm>
          <a:custGeom xmlns:a="http://schemas.openxmlformats.org/drawingml/2006/main">
            <a:rect l="l" t="t" r="r" b="b"/>
            <a:pathLst>
              <a:path w="16773" h="39735">
                <a:moveTo>
                  <a:pt x="2208" y="0"/>
                </a:moveTo>
                <a:cubicBezTo>
                  <a:pt x="10560" y="1669"/>
                  <a:pt x="10155" y="15766"/>
                  <a:pt x="10155" y="24283"/>
                </a:cubicBezTo>
                <a:cubicBezTo>
                  <a:pt x="10155" y="28427"/>
                  <a:pt x="8548" y="33715"/>
                  <a:pt x="11479" y="36645"/>
                </a:cubicBezTo>
                <a:cubicBezTo>
                  <a:pt x="13173" y="38339"/>
                  <a:pt x="18030" y="33041"/>
                  <a:pt x="16336" y="31347"/>
                </a:cubicBezTo>
                <a:cubicBezTo>
                  <a:pt x="15394" y="30405"/>
                  <a:pt x="13554" y="31192"/>
                  <a:pt x="12362" y="31788"/>
                </a:cubicBezTo>
                <a:cubicBezTo>
                  <a:pt x="7980" y="33979"/>
                  <a:pt x="2193" y="35354"/>
                  <a:pt x="0" y="39735"/>
                </a:cubicBezTo>
              </a:path>
            </a:pathLst>
          </a:custGeom>
          <a:noFill xmlns:a="http://schemas.openxmlformats.org/drawingml/2006/main"/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6" name="Google Shape;776;p47">
            <a:extLst xmlns:a="http://schemas.openxmlformats.org/drawingml/2006/main">
              <a:ext uri="{FF2B5EF4-FFF2-40B4-BE49-F238E27FC236}">
                <a16:creationId xmlns:a16="http://schemas.microsoft.com/office/drawing/2014/main" id="{F1B39744-6130-4E93-9348-9AD99DA4F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725" y="876675"/>
            <a:ext cx="2494500" cy="77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chemeClr val="lt1"/>
                </a:solidFill>
                <a:highlight>
                  <a:schemeClr val="dk2"/>
                </a:highlight>
                <a:latin typeface="Proxima Nova"/>
                <a:ea typeface="Proxima Nova"/>
                <a:cs typeface="Proxima Nova"/>
              </a:rPr>
              <a:t>Enfoque do curso:</a:t>
            </a:r>
            <a:endParaRPr sz="1800" b="0" i="0" u="none" cap="none">
              <a:solidFill>
                <a:schemeClr val="lt1"/>
              </a:solidFill>
              <a:highlight>
                <a:schemeClr val="dk2"/>
              </a:highlight>
              <a:latin typeface="Proxima Nova"/>
              <a:ea typeface="Proxima Nova"/>
              <a:cs typeface="Proxima Nova"/>
            </a:endParaRPr>
          </a:p>
        </p:txBody>
      </p:sp>
    </p:spTree>
    <p:extLst>
      <p:ext uri="{BB962C8B-B14F-4D97-AF65-F5344CB8AC3E}">
        <p14:creationId xmlns:p14="http://schemas.microsoft.com/office/powerpoint/2010/main" val="2057183458"/>
      </p:ext>
    </p:extLst>
  </p:cSld>
</p:sld>
</file>

<file path=ppt/slides/slide5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81" name="Google Shape;781;p48">
            <a:extLst xmlns:a="http://schemas.openxmlformats.org/drawingml/2006/main">
              <a:ext uri="{FF2B5EF4-FFF2-40B4-BE49-F238E27FC236}">
                <a16:creationId xmlns:a16="http://schemas.microsoft.com/office/drawing/2014/main" id="{CFBE59E2-3227-48A8-9BE0-462367ECAE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22825" y="2057400"/>
            <a:ext cx="6010800" cy="77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sz="4600">
                <a:solidFill>
                  <a:schemeClr val="tx1"/>
                </a:solidFill>
              </a:rPr>
              <a:t>Intervalo</a:t>
            </a:r>
            <a:endParaRPr sz="4600">
              <a:solidFill>
                <a:schemeClr val="tx1"/>
              </a:solidFill>
            </a:endParaRPr>
          </a:p>
        </p:txBody>
      </p:sp>
      <p:pic>
        <p:nvPicPr>
          <p:cNvPr id="784" name="Google Shape;782;p4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66f2e471a724096">
            <a:alphaModFix/>
          </a:blip>
          <a:srcRect xmlns:a="http://schemas.openxmlformats.org/drawingml/2006/main" l="3415" t="3930" r="3527" b="2943"/>
          <a:stretch xmlns:a="http://schemas.openxmlformats.org/drawingml/2006/main"/>
        </p:blipFill>
        <p:spPr>
          <a:xfrm xmlns:a="http://schemas.openxmlformats.org/drawingml/2006/main">
            <a:off x="610125" y="2057400"/>
            <a:ext cx="1863600" cy="1865100"/>
          </a:xfrm>
          <a:prstGeom xmlns:a="http://schemas.openxmlformats.org/drawingml/2006/main" prst="ellipse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2102151811"/>
      </p:ext>
    </p:extLst>
  </p:cSld>
</p:sld>
</file>

<file path=ppt/slides/slide5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Google Shape;787;p49">
            <a:extLst xmlns:a="http://schemas.openxmlformats.org/drawingml/2006/main">
              <a:ext uri="{FF2B5EF4-FFF2-40B4-BE49-F238E27FC236}">
                <a16:creationId xmlns:a16="http://schemas.microsoft.com/office/drawing/2014/main" id="{338071DC-6198-8C05-0758-436379A52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450" y="2687988"/>
            <a:ext cx="8123100" cy="21096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roxima Nova"/>
              <a:buNone/>
              <a:defRPr sz="4800" b="0" i="0" u="none" cap="none" spc="0">
                <a:solidFill>
                  <a:schemeClr val="lt1"/>
                </a:solidFill>
                <a:latin typeface="Proxima Nova"/>
                <a:ea typeface="Proxima Nova"/>
                <a:cs typeface="Proxima Nova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roxima Nova"/>
              <a:buNone/>
              <a:defRPr sz="4800" b="0" i="0" u="none" cap="none" spc="0">
                <a:solidFill>
                  <a:schemeClr val="lt1"/>
                </a:solidFill>
                <a:latin typeface="Proxima Nova"/>
                <a:ea typeface="Proxima Nova"/>
                <a:cs typeface="Proxima Nova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roxima Nova"/>
              <a:buNone/>
              <a:defRPr sz="4800" b="0" i="0" u="none" cap="none" spc="0">
                <a:solidFill>
                  <a:schemeClr val="lt1"/>
                </a:solidFill>
                <a:latin typeface="Proxima Nova"/>
                <a:ea typeface="Proxima Nova"/>
                <a:cs typeface="Proxima Nova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roxima Nova"/>
              <a:buNone/>
              <a:defRPr sz="4800" b="0" i="0" u="none" cap="none" spc="0">
                <a:solidFill>
                  <a:schemeClr val="lt1"/>
                </a:solidFill>
                <a:latin typeface="Proxima Nova"/>
                <a:ea typeface="Proxima Nova"/>
                <a:cs typeface="Proxima Nova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roxima Nova"/>
              <a:buNone/>
              <a:defRPr sz="4800" b="0" i="0" u="none" cap="none" spc="0">
                <a:solidFill>
                  <a:schemeClr val="lt1"/>
                </a:solidFill>
                <a:latin typeface="Proxima Nova"/>
                <a:ea typeface="Proxima Nova"/>
                <a:cs typeface="Proxima Nova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roxima Nova"/>
              <a:buNone/>
              <a:defRPr sz="4800" b="0" i="0" u="none" cap="none" spc="0">
                <a:solidFill>
                  <a:schemeClr val="lt1"/>
                </a:solidFill>
                <a:latin typeface="Proxima Nova"/>
                <a:ea typeface="Proxima Nova"/>
                <a:cs typeface="Proxima Nova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roxima Nova"/>
              <a:buNone/>
              <a:defRPr sz="4800" b="0" i="0" u="none" cap="none" spc="0">
                <a:solidFill>
                  <a:schemeClr val="lt1"/>
                </a:solidFill>
                <a:latin typeface="Proxima Nova"/>
                <a:ea typeface="Proxima Nova"/>
                <a:cs typeface="Proxima Nova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roxima Nova"/>
              <a:buNone/>
              <a:defRPr sz="4800" b="0" i="0" u="none" cap="none" spc="0">
                <a:solidFill>
                  <a:schemeClr val="lt1"/>
                </a:solidFill>
                <a:latin typeface="Proxima Nova"/>
                <a:ea typeface="Proxima Nova"/>
                <a:cs typeface="Proxima Nova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roxima Nova"/>
              <a:buNone/>
              <a:defRPr sz="4800" b="0" i="0" u="none" cap="none" spc="0">
                <a:solidFill>
                  <a:schemeClr val="lt1"/>
                </a:solidFill>
                <a:latin typeface="Proxima Nova"/>
                <a:ea typeface="Proxima Nova"/>
                <a:cs typeface="Proxima Nova"/>
              </a:defRPr>
            </a:lvl9pPr>
          </a:lstStyle>
          <a:p xmlns:a="http://schemas.openxmlformats.org/drawingml/2006/main">
            <a:r>
              <a:t>Preparação do</a:t>
            </a:r>
          </a:p>
          <a:p xmlns:a="http://schemas.openxmlformats.org/drawingml/2006/main">
            <a:r>
              <a:t>ambiente para análise</a:t>
            </a:r>
            <a:endParaRPr i="1">
              <a:solidFill>
                <a:schemeClr val="l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885522"/>
      </p:ext>
    </p:extLst>
  </p:cSld>
</p:sld>
</file>

<file path=ppt/slides/slide5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2" name="Google Shape;792;p50">
            <a:extLst xmlns:a="http://schemas.openxmlformats.org/drawingml/2006/main">
              <a:ext uri="{FF2B5EF4-FFF2-40B4-BE49-F238E27FC236}">
                <a16:creationId xmlns:a16="http://schemas.microsoft.com/office/drawing/2014/main" id="{E67D855E-2CED-44DC-ADA3-11E0ED4BB4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140225"/>
            <a:ext cx="84912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2000"/>
              <a:t>Ambiente do curso</a:t>
            </a:r>
            <a:endParaRPr/>
          </a:p>
        </p:txBody>
      </p:sp>
      <p:sp>
        <p:nvSpPr>
          <p:cNvPr id="793" name="Google Shape;793;p50">
            <a:extLst xmlns:a="http://schemas.openxmlformats.org/drawingml/2006/main">
              <a:ext uri="{FF2B5EF4-FFF2-40B4-BE49-F238E27FC236}">
                <a16:creationId xmlns:a16="http://schemas.microsoft.com/office/drawing/2014/main" id="{BA555CC3-5AA3-4E9A-9A01-6298EC3BE38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67388" y="787725"/>
            <a:ext cx="3750900" cy="344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sz="1400">
                <a:solidFill>
                  <a:schemeClr val="dk1"/>
                </a:solidFill>
              </a:rPr>
              <a:t>Atividades práticas: </a:t>
            </a:r>
            <a:r>
              <a:rPr sz="1400" b="1">
                <a:solidFill>
                  <a:schemeClr val="dk1"/>
                </a:solidFill>
              </a:rPr>
              <a:t>Google Classroom</a:t>
            </a:r>
            <a:endParaRPr sz="1400" b="1">
              <a:solidFill>
                <a:schemeClr val="dk1"/>
              </a:solidFill>
            </a:endParaRP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None/>
            </a:pPr>
            <a:endParaRPr sz="1400">
              <a:solidFill>
                <a:schemeClr val="dk1"/>
              </a:solidFill>
            </a:endParaRP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None/>
            </a:pPr>
            <a:endParaRPr sz="1400">
              <a:solidFill>
                <a:schemeClr val="dk1"/>
              </a:solidFill>
            </a:endParaRP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endParaRPr sz="1400">
              <a:solidFill>
                <a:schemeClr val="dk1"/>
              </a:solidFill>
            </a:endParaRPr>
          </a:p>
        </p:txBody>
      </p:sp>
      <p:pic>
        <p:nvPicPr>
          <p:cNvPr id="798" name="Google Shape;794;p5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d164b68dd344b7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33200" y="1207791"/>
            <a:ext cx="800050" cy="63893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799" name="Google Shape;795;p5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293b384263047c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732525" y="1207800"/>
            <a:ext cx="1820637" cy="6389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083164518"/>
      </p:ext>
    </p:extLst>
  </p:cSld>
</p:sld>
</file>

<file path=ppt/slides/slide5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00" name="Google Shape;800;g3fa37cb035d_0_130">
            <a:extLst xmlns:a="http://schemas.openxmlformats.org/drawingml/2006/main">
              <a:ext uri="{FF2B5EF4-FFF2-40B4-BE49-F238E27FC236}">
                <a16:creationId xmlns:a16="http://schemas.microsoft.com/office/drawing/2014/main" id="{A66A7D1C-BB29-44B7-8905-C9DDD732CB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140225"/>
            <a:ext cx="84912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2000"/>
              <a:t>Ambiente do curso</a:t>
            </a:r>
            <a:endParaRPr/>
          </a:p>
        </p:txBody>
      </p:sp>
      <p:pic>
        <p:nvPicPr>
          <p:cNvPr id="807" name="Google Shape;801;g3fa37cb035d_0_13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01cf8031f174d3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56600" y="1997100"/>
            <a:ext cx="5124700" cy="2918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02" name="Google Shape;802;g3fa37cb035d_0_130">
            <a:extLst xmlns:a="http://schemas.openxmlformats.org/drawingml/2006/main">
              <a:ext uri="{FF2B5EF4-FFF2-40B4-BE49-F238E27FC236}">
                <a16:creationId xmlns:a16="http://schemas.microsoft.com/office/drawing/2014/main" id="{186EE89C-3B74-44AB-BE14-BBEC7238BFF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67388" y="787725"/>
            <a:ext cx="3750900" cy="344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sz="1400">
                <a:solidFill>
                  <a:schemeClr val="dk1"/>
                </a:solidFill>
              </a:rPr>
              <a:t>Atividades práticas: </a:t>
            </a:r>
            <a:r>
              <a:rPr sz="1400" b="1">
                <a:solidFill>
                  <a:schemeClr val="dk1"/>
                </a:solidFill>
              </a:rPr>
              <a:t>Google Classroom</a:t>
            </a:r>
            <a:endParaRPr sz="1400" b="1">
              <a:solidFill>
                <a:schemeClr val="dk1"/>
              </a:solidFill>
            </a:endParaRP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None/>
            </a:pPr>
            <a:endParaRPr sz="1400">
              <a:solidFill>
                <a:schemeClr val="dk1"/>
              </a:solidFill>
            </a:endParaRP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None/>
            </a:pPr>
            <a:endParaRPr sz="1400">
              <a:solidFill>
                <a:schemeClr val="dk1"/>
              </a:solidFill>
            </a:endParaRP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endParaRPr sz="1400">
              <a:solidFill>
                <a:schemeClr val="dk1"/>
              </a:solidFill>
            </a:endParaRPr>
          </a:p>
        </p:txBody>
      </p:sp>
      <p:pic>
        <p:nvPicPr>
          <p:cNvPr id="809" name="Google Shape;803;g3fa37cb035d_0_13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1babd63e09e42a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33200" y="1207791"/>
            <a:ext cx="800050" cy="63893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810" name="Google Shape;804;g3fa37cb035d_0_13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3fa9d41958d4d8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732525" y="1207800"/>
            <a:ext cx="1820637" cy="6389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908621552"/>
      </p:ext>
    </p:extLst>
  </p:cSld>
</p:sld>
</file>

<file path=ppt/slides/slide6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09" name="Google Shape;809;g3fa37cb035d_0_140">
            <a:extLst xmlns:a="http://schemas.openxmlformats.org/drawingml/2006/main">
              <a:ext uri="{FF2B5EF4-FFF2-40B4-BE49-F238E27FC236}">
                <a16:creationId xmlns:a16="http://schemas.microsoft.com/office/drawing/2014/main" id="{2DF4F75D-1400-4FFD-B639-5465885790B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140225"/>
            <a:ext cx="84912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2000"/>
              <a:t>Ambiente do curso</a:t>
            </a:r>
            <a:endParaRPr/>
          </a:p>
        </p:txBody>
      </p:sp>
      <p:pic>
        <p:nvPicPr>
          <p:cNvPr id="819" name="Google Shape;810;g3fa37cb035d_0_14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aef5b1c3fbf467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56600" y="1997100"/>
            <a:ext cx="5124700" cy="2918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820" name="Google Shape;811;g3fa37cb035d_0_14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9132fb2aab24db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907300" y="1997100"/>
            <a:ext cx="3044550" cy="2527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12" name="Google Shape;812;g3fa37cb035d_0_140">
            <a:extLst xmlns:a="http://schemas.openxmlformats.org/drawingml/2006/main">
              <a:ext uri="{FF2B5EF4-FFF2-40B4-BE49-F238E27FC236}">
                <a16:creationId xmlns:a16="http://schemas.microsoft.com/office/drawing/2014/main" id="{99D4946F-2472-43E5-AF0B-D5ED85C25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5650" y="4478450"/>
            <a:ext cx="1996200" cy="43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400" b="0" i="0" u="none" cap="none">
                <a:solidFill>
                  <a:schemeClr val="lt1"/>
                </a:solidFill>
                <a:highlight>
                  <a:schemeClr val="accent5"/>
                </a:highlight>
                <a:latin typeface="Proxima Nova"/>
                <a:ea typeface="Proxima Nova"/>
                <a:cs typeface="Proxima Nova"/>
              </a:rPr>
              <a:t>Janelas do RStudio</a:t>
            </a:r>
            <a:endParaRPr sz="1400" b="0" i="0" u="none" cap="none">
              <a:solidFill>
                <a:schemeClr val="lt1"/>
              </a:solidFill>
              <a:highlight>
                <a:schemeClr val="accent5"/>
              </a:highlight>
              <a:latin typeface="Proxima Nova"/>
              <a:ea typeface="Proxima Nova"/>
              <a:cs typeface="Proxima Nova"/>
            </a:endParaRPr>
          </a:p>
        </p:txBody>
      </p:sp>
      <p:sp>
        <p:nvSpPr>
          <p:cNvPr id="813" name="Google Shape;813;g3fa37cb035d_0_140">
            <a:extLst xmlns:a="http://schemas.openxmlformats.org/drawingml/2006/main">
              <a:ext uri="{FF2B5EF4-FFF2-40B4-BE49-F238E27FC236}">
                <a16:creationId xmlns:a16="http://schemas.microsoft.com/office/drawing/2014/main" id="{1D7F7CD0-0207-4528-B848-C85B58D345E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67388" y="787725"/>
            <a:ext cx="3750900" cy="344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sz="1400">
                <a:solidFill>
                  <a:schemeClr val="dk1"/>
                </a:solidFill>
              </a:rPr>
              <a:t>Atividades práticas: </a:t>
            </a:r>
            <a:r>
              <a:rPr sz="1400" b="1">
                <a:solidFill>
                  <a:schemeClr val="dk1"/>
                </a:solidFill>
              </a:rPr>
              <a:t>Google Classroom</a:t>
            </a:r>
            <a:endParaRPr sz="1400" b="1">
              <a:solidFill>
                <a:schemeClr val="dk1"/>
              </a:solidFill>
            </a:endParaRP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None/>
            </a:pPr>
            <a:endParaRPr sz="1400">
              <a:solidFill>
                <a:schemeClr val="dk1"/>
              </a:solidFill>
            </a:endParaRP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None/>
            </a:pPr>
            <a:endParaRPr sz="1400">
              <a:solidFill>
                <a:schemeClr val="dk1"/>
              </a:solidFill>
            </a:endParaRP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endParaRPr sz="1400">
              <a:solidFill>
                <a:schemeClr val="dk1"/>
              </a:solidFill>
            </a:endParaRPr>
          </a:p>
        </p:txBody>
      </p:sp>
      <p:pic>
        <p:nvPicPr>
          <p:cNvPr id="823" name="Google Shape;814;g3fa37cb035d_0_14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4a2b08c6e6f4cc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33200" y="1207791"/>
            <a:ext cx="800050" cy="63893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824" name="Google Shape;815;g3fa37cb035d_0_14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b92358820664cc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732525" y="1207800"/>
            <a:ext cx="1820637" cy="6389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779916465"/>
      </p:ext>
    </p:extLst>
  </p:cSld>
</p:sld>
</file>

<file path=ppt/slides/slide6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20" name="Google Shape;820;p51">
            <a:extLst xmlns:a="http://schemas.openxmlformats.org/drawingml/2006/main">
              <a:ext uri="{FF2B5EF4-FFF2-40B4-BE49-F238E27FC236}">
                <a16:creationId xmlns:a16="http://schemas.microsoft.com/office/drawing/2014/main" id="{C180DAE3-3869-4E4C-B5E8-725928F1C1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140225"/>
            <a:ext cx="84912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2000"/>
              <a:t>Importação dos documentos do curso </a:t>
            </a:r>
            <a:endParaRPr/>
          </a:p>
        </p:txBody>
      </p:sp>
      <p:pic>
        <p:nvPicPr>
          <p:cNvPr id="837" name="Google Shape;821;p5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3e652133dd14848">
            <a:alphaModFix/>
          </a:blip>
          <a:srcRect xmlns:a="http://schemas.openxmlformats.org/drawingml/2006/main" l="0" t="0" r="57667" b="0"/>
          <a:stretch xmlns:a="http://schemas.openxmlformats.org/drawingml/2006/main"/>
        </p:blipFill>
        <p:spPr>
          <a:xfrm xmlns:a="http://schemas.openxmlformats.org/drawingml/2006/main">
            <a:off x="3356657" y="712925"/>
            <a:ext cx="3318999" cy="41257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22" name="Google Shape;822;p51">
            <a:extLst xmlns:a="http://schemas.openxmlformats.org/drawingml/2006/main">
              <a:ext uri="{FF2B5EF4-FFF2-40B4-BE49-F238E27FC236}">
                <a16:creationId xmlns:a16="http://schemas.microsoft.com/office/drawing/2014/main" id="{81D70300-CA2F-48F4-B665-CB378A3739A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67400" y="787725"/>
            <a:ext cx="3750900" cy="90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sz="1400">
                <a:solidFill>
                  <a:schemeClr val="dk1"/>
                </a:solidFill>
              </a:rPr>
              <a:t>Criar novo projeto no RStudio:</a:t>
            </a:r>
            <a:endParaRPr sz="1400">
              <a:solidFill>
                <a:schemeClr val="dk1"/>
              </a:solidFill>
            </a:endParaRP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None/>
            </a:pPr>
            <a:r>
              <a:rPr sz="1400" b="1">
                <a:solidFill>
                  <a:schemeClr val="dk1"/>
                </a:solidFill>
              </a:rPr>
              <a:t>File &gt; New Project</a:t>
            </a:r>
            <a:endParaRPr sz="1400" b="1">
              <a:solidFill>
                <a:schemeClr val="dk1"/>
              </a:solidFill>
            </a:endParaRP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None/>
            </a:pPr>
            <a:endParaRPr sz="1400" b="1">
              <a:solidFill>
                <a:schemeClr val="dk1"/>
              </a:solidFill>
            </a:endParaRP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None/>
            </a:pPr>
            <a:endParaRPr sz="1400">
              <a:solidFill>
                <a:schemeClr val="dk1"/>
              </a:solidFill>
            </a:endParaRP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None/>
            </a:pPr>
            <a:endParaRPr sz="1400">
              <a:solidFill>
                <a:schemeClr val="dk1"/>
              </a:solidFill>
            </a:endParaRP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endParaRPr sz="1400">
              <a:solidFill>
                <a:schemeClr val="dk1"/>
              </a:solidFill>
            </a:endParaRPr>
          </a:p>
        </p:txBody>
      </p:sp>
      <p:pic>
        <p:nvPicPr>
          <p:cNvPr id="839" name="Google Shape;823;p5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a17614407ef46e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74157" y="981675"/>
            <a:ext cx="3917999" cy="2766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840" name="Google Shape;824;p5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11513fb8b41425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313107" y="1323875"/>
            <a:ext cx="4196301" cy="305357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841" name="Google Shape;825;p5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f1a0ef60e39411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313100" y="1736700"/>
            <a:ext cx="4835826" cy="34479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26" name="Google Shape;826;p51">
            <a:extLst xmlns:a="http://schemas.openxmlformats.org/drawingml/2006/main">
              <a:ext uri="{FF2B5EF4-FFF2-40B4-BE49-F238E27FC236}">
                <a16:creationId xmlns:a16="http://schemas.microsoft.com/office/drawing/2014/main" id="{182E6E68-F47A-41AD-86DF-1C65FCD2DE0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67400" y="1770325"/>
            <a:ext cx="37509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sz="1400" b="1">
                <a:solidFill>
                  <a:schemeClr val="dk1"/>
                </a:solidFill>
              </a:rPr>
              <a:t>&gt; New Directory</a:t>
            </a:r>
            <a:endParaRPr sz="1400" b="1">
              <a:solidFill>
                <a:schemeClr val="dk1"/>
              </a:solidFill>
            </a:endParaRP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None/>
            </a:pPr>
            <a:endParaRPr sz="1400" b="1">
              <a:solidFill>
                <a:schemeClr val="dk1"/>
              </a:solidFill>
            </a:endParaRP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endParaRPr sz="1400">
              <a:solidFill>
                <a:schemeClr val="dk1"/>
              </a:solidFill>
            </a:endParaRPr>
          </a:p>
        </p:txBody>
      </p:sp>
      <p:sp>
        <p:nvSpPr>
          <p:cNvPr id="827" name="Google Shape;827;p51">
            <a:extLst xmlns:a="http://schemas.openxmlformats.org/drawingml/2006/main">
              <a:ext uri="{FF2B5EF4-FFF2-40B4-BE49-F238E27FC236}">
                <a16:creationId xmlns:a16="http://schemas.microsoft.com/office/drawing/2014/main" id="{8249862A-3956-4253-A3AF-E950EAE3A5A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67400" y="2196325"/>
            <a:ext cx="37509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sz="1400" b="1">
                <a:solidFill>
                  <a:schemeClr val="dk1"/>
                </a:solidFill>
              </a:rPr>
              <a:t>&gt; New Project</a:t>
            </a:r>
            <a:endParaRPr sz="1400" b="1">
              <a:solidFill>
                <a:schemeClr val="dk1"/>
              </a:solidFill>
            </a:endParaRP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None/>
            </a:pPr>
            <a:endParaRPr sz="1400" b="1">
              <a:solidFill>
                <a:schemeClr val="dk1"/>
              </a:solidFill>
            </a:endParaRP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endParaRPr sz="1400">
              <a:solidFill>
                <a:schemeClr val="dk1"/>
              </a:solidFill>
            </a:endParaRPr>
          </a:p>
        </p:txBody>
      </p:sp>
      <p:sp>
        <p:nvSpPr>
          <p:cNvPr id="828" name="Google Shape;828;p51">
            <a:extLst xmlns:a="http://schemas.openxmlformats.org/drawingml/2006/main">
              <a:ext uri="{FF2B5EF4-FFF2-40B4-BE49-F238E27FC236}">
                <a16:creationId xmlns:a16="http://schemas.microsoft.com/office/drawing/2014/main" id="{F818D38D-8A68-404A-B545-E7EFA3B2326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67400" y="2769025"/>
            <a:ext cx="37509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sz="1400" b="1">
                <a:solidFill>
                  <a:schemeClr val="dk1"/>
                </a:solidFill>
              </a:rPr>
              <a:t>&gt; Escolha nome do  projeto e </a:t>
            </a:r>
            <a:endParaRPr sz="1400" b="1">
              <a:solidFill>
                <a:schemeClr val="dk1"/>
              </a:solidFill>
            </a:endParaRP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None/>
            </a:pPr>
            <a:r>
              <a:rPr sz="1400" b="1">
                <a:solidFill>
                  <a:schemeClr val="dk1"/>
                </a:solidFill>
              </a:rPr>
              <a:t>pasta que ele deve estar no </a:t>
            </a:r>
            <a:endParaRPr sz="1400" b="1">
              <a:solidFill>
                <a:schemeClr val="dk1"/>
              </a:solidFill>
            </a:endParaRP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None/>
            </a:pPr>
            <a:r>
              <a:rPr sz="1400" b="1">
                <a:solidFill>
                  <a:schemeClr val="dk1"/>
                </a:solidFill>
              </a:rPr>
              <a:t>seu computador</a:t>
            </a:r>
            <a:endParaRPr sz="1400" b="1">
              <a:solidFill>
                <a:schemeClr val="dk1"/>
              </a:solidFill>
            </a:endParaRP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None/>
            </a:pPr>
            <a:endParaRPr sz="1400" b="1">
              <a:solidFill>
                <a:schemeClr val="dk1"/>
              </a:solidFill>
            </a:endParaRPr>
          </a:p>
          <a:p xmlns:a="http://schemas.openxmlformats.org/drawingml/2006/main">
            <a:pPr marL="0" lvl="0" indent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endParaRPr sz="1400">
              <a:solidFill>
                <a:schemeClr val="dk1"/>
              </a:solidFill>
            </a:endParaRPr>
          </a:p>
        </p:txBody>
      </p:sp>
      <p:sp>
        <p:nvSpPr>
          <p:cNvPr id="829" name="Google Shape;829;p51">
            <a:extLst xmlns:a="http://schemas.openxmlformats.org/drawingml/2006/main">
              <a:ext uri="{FF2B5EF4-FFF2-40B4-BE49-F238E27FC236}">
                <a16:creationId xmlns:a16="http://schemas.microsoft.com/office/drawing/2014/main" id="{0E2C4A2D-1AB2-4672-8009-77CDEFAA9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51750" y="753475"/>
            <a:ext cx="9247500" cy="4603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85882"/>
            </a:srgbClr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0475" tIns="30225" rIns="60475" bIns="302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90"/>
              <a:buFont typeface="Arial"/>
              <a:buNone/>
            </a:pPr>
            <a:endParaRPr sz="1190" b="0" i="0" u="none" cap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30" name="Google Shape;830;p51">
            <a:extLst xmlns:a="http://schemas.openxmlformats.org/drawingml/2006/main">
              <a:ext uri="{FF2B5EF4-FFF2-40B4-BE49-F238E27FC236}">
                <a16:creationId xmlns:a16="http://schemas.microsoft.com/office/drawing/2014/main" id="{C82F78B4-3C54-4E2A-B409-61C261C66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8400" y="2343025"/>
            <a:ext cx="4350000" cy="1231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rgbClr val="FF00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831" name="Google Shape;831;p51">
            <a:extLst xmlns:a="http://schemas.openxmlformats.org/drawingml/2006/main">
              <a:ext uri="{FF2B5EF4-FFF2-40B4-BE49-F238E27FC236}">
                <a16:creationId xmlns:a16="http://schemas.microsoft.com/office/drawing/2014/main" id="{38893257-1C0C-41D5-8F1A-5580DB16C10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318400" y="2417825"/>
            <a:ext cx="4350000" cy="109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sz="2100" b="1">
                <a:solidFill>
                  <a:schemeClr val="dk1"/>
                </a:solidFill>
              </a:rPr>
              <a:t>Baixe os scripts que forem disponibilizados e mova para o novo projeto (pasta)</a:t>
            </a:r>
            <a:endParaRPr sz="2100" b="1">
              <a:solidFill>
                <a:schemeClr val="dk1"/>
              </a:solidFill>
            </a:endParaRPr>
          </a:p>
          <a:p xmlns:a="http://schemas.openxmlformats.org/drawingml/2006/main">
            <a:pPr marL="0" lvl="0" indent="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None/>
            </a:pPr>
            <a:endParaRPr sz="2100" b="1">
              <a:solidFill>
                <a:schemeClr val="dk1"/>
              </a:solidFill>
            </a:endParaRPr>
          </a:p>
          <a:p xmlns:a="http://schemas.openxmlformats.org/drawingml/2006/main">
            <a:pPr marL="0" lvl="0" indent="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endParaRPr sz="210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683480"/>
      </p:ext>
    </p:extLst>
  </p:cSld>
</p:sld>
</file>

<file path=ppt/slides/slide6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36" name="Google Shape;836;p52">
            <a:extLst xmlns:a="http://schemas.openxmlformats.org/drawingml/2006/main">
              <a:ext uri="{FF2B5EF4-FFF2-40B4-BE49-F238E27FC236}">
                <a16:creationId xmlns:a16="http://schemas.microsoft.com/office/drawing/2014/main" id="{52F996DA-9E53-4E51-9F8E-7D63D4F272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140225"/>
            <a:ext cx="84912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2000"/>
              <a:t>Importação dos documentos do curso </a:t>
            </a:r>
            <a:endParaRPr/>
          </a:p>
        </p:txBody>
      </p:sp>
      <p:sp>
        <p:nvSpPr>
          <p:cNvPr id="837" name="Google Shape;837;p52">
            <a:extLst xmlns:a="http://schemas.openxmlformats.org/drawingml/2006/main">
              <a:ext uri="{FF2B5EF4-FFF2-40B4-BE49-F238E27FC236}">
                <a16:creationId xmlns:a16="http://schemas.microsoft.com/office/drawing/2014/main" id="{FC1DC127-B486-4B48-99C3-C417AC47CF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891300"/>
            <a:ext cx="5820900" cy="344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sz="1400">
                <a:solidFill>
                  <a:schemeClr val="dk1"/>
                </a:solidFill>
              </a:rPr>
              <a:t>O curso terá todas apresentações e vinhetas (passo-a-passo) disponíveis online no GitHub, por favor acessem o link ou QRCode</a:t>
            </a:r>
            <a:endParaRPr sz="1400">
              <a:solidFill>
                <a:schemeClr val="dk1"/>
              </a:solidFill>
            </a:endParaRPr>
          </a:p>
        </p:txBody>
      </p:sp>
      <p:pic>
        <p:nvPicPr>
          <p:cNvPr id="846" name="Google Shape;838;p5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7a64eac8634191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1700" y="1928300"/>
            <a:ext cx="5821001" cy="24109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847" name="Google Shape;839;p5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2c898d4258d402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395475" y="3374175"/>
            <a:ext cx="531525" cy="51082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40" name="Google Shape;840;p52">
            <a:extLst xmlns:a="http://schemas.openxmlformats.org/drawingml/2006/main">
              <a:ext uri="{FF2B5EF4-FFF2-40B4-BE49-F238E27FC236}">
                <a16:creationId xmlns:a16="http://schemas.microsoft.com/office/drawing/2014/main" id="{C85E6C4E-7316-4D2D-9F5A-1ACB5388F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7000" y="3307800"/>
            <a:ext cx="1875900" cy="103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1">
                <a:latin typeface="Proxima Nova"/>
                <a:ea typeface="Proxima Nova"/>
                <a:cs typeface="Proxima Nova"/>
              </a:rPr>
              <a:t>Análise de Dados de Transcriptômica Espacial</a:t>
            </a:r>
            <a:endParaRPr sz="1100" b="1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u="sng">
                <a:solidFill>
                  <a:schemeClr val="hlink"/>
                </a:solidFill>
                <a:latin typeface="Proxima Nova"/>
                <a:ea typeface="Proxima Nova"/>
                <a:cs typeface="Proxima Nova"/>
                <a:hlinkClick xmlns:r="http://schemas.openxmlformats.org/officeDocument/2006/relationships" r:id="R4f60a6e390114683"/>
              </a:rPr>
              <a:t>https://github.com/flaviogckessler/Curso_ST</a:t>
            </a:r>
            <a:endParaRPr sz="1100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</p:txBody>
      </p:sp>
      <p:pic>
        <p:nvPicPr>
          <p:cNvPr id="849" name="Google Shape;841;p5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0e5af637804546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7900" y="891299"/>
            <a:ext cx="1719925" cy="17199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913023887"/>
      </p:ext>
    </p:extLst>
  </p:cSld>
</p:sld>
</file>

<file path=ppt/slides/slide6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46" name="Google Shape;846;p53">
            <a:extLst xmlns:a="http://schemas.openxmlformats.org/drawingml/2006/main">
              <a:ext uri="{FF2B5EF4-FFF2-40B4-BE49-F238E27FC236}">
                <a16:creationId xmlns:a16="http://schemas.microsoft.com/office/drawing/2014/main" id="{C8FCB45F-7AAA-42FF-B0E2-785909A26B1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140225"/>
            <a:ext cx="84912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2000"/>
              <a:t>Script: </a:t>
            </a:r>
            <a:r>
              <a:rPr sz="2000"/>
              <a:t>Configuração do ambiente</a:t>
            </a:r>
            <a:endParaRPr/>
          </a:p>
        </p:txBody>
      </p:sp>
      <p:sp>
        <p:nvSpPr>
          <p:cNvPr id="847" name="Google Shape;847;p53">
            <a:extLst xmlns:a="http://schemas.openxmlformats.org/drawingml/2006/main">
              <a:ext uri="{FF2B5EF4-FFF2-40B4-BE49-F238E27FC236}">
                <a16:creationId xmlns:a16="http://schemas.microsoft.com/office/drawing/2014/main" id="{569F5B93-A169-4708-8526-5F49A8F28B6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891300"/>
            <a:ext cx="8150100" cy="344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sz="1400">
                <a:solidFill>
                  <a:schemeClr val="dk1"/>
                </a:solidFill>
              </a:rPr>
              <a:t>Vinheta: </a:t>
            </a:r>
            <a:endParaRPr sz="1400">
              <a:solidFill>
                <a:schemeClr val="dk1"/>
              </a:solidFill>
            </a:endParaRPr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sz="1400" b="1" u="sng">
                <a:solidFill>
                  <a:schemeClr val="hlink"/>
                </a:solidFill>
                <a:hlinkClick xmlns:r="http://schemas.openxmlformats.org/officeDocument/2006/relationships" r:id="R1a83b34d42394ae8"/>
              </a:rPr>
              <a:t>Configuração do ambiente do </a:t>
            </a:r>
            <a:r>
              <a:rPr sz="1400" b="1" u="sng">
                <a:solidFill>
                  <a:schemeClr val="hlink"/>
                </a:solidFill>
                <a:hlinkClick xmlns:r="http://schemas.openxmlformats.org/officeDocument/2006/relationships" r:id="R2c53e4148d724467"/>
              </a:rPr>
              <a:t>RStudio</a:t>
            </a:r>
            <a:r>
              <a:rPr sz="1400" b="1">
                <a:solidFill>
                  <a:schemeClr val="dk1"/>
                </a:solidFill>
              </a:rPr>
              <a:t> </a:t>
            </a:r>
            <a:r>
              <a:rPr sz="1400">
                <a:solidFill>
                  <a:schemeClr val="dk1"/>
                </a:solidFill>
              </a:rPr>
              <a:t>	(abrir link na sua no repositório do curso)</a:t>
            </a:r>
            <a:endParaRPr sz="1400">
              <a:solidFill>
                <a:schemeClr val="dk1"/>
              </a:solidFill>
            </a:endParaRPr>
          </a:p>
        </p:txBody>
      </p:sp>
      <p:pic>
        <p:nvPicPr>
          <p:cNvPr id="851" name="Google Shape;848;p5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40ad13ba6645f9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2675" y="1860800"/>
            <a:ext cx="7809249" cy="2953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039817911"/>
      </p:ext>
    </p:extLst>
  </p:cSld>
</p:sld>
</file>

<file path=ppt/slides/slide6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53" name="Google Shape;853;p54">
            <a:extLst xmlns:a="http://schemas.openxmlformats.org/drawingml/2006/main">
              <a:ext uri="{FF2B5EF4-FFF2-40B4-BE49-F238E27FC236}">
                <a16:creationId xmlns:a16="http://schemas.microsoft.com/office/drawing/2014/main" id="{D45DEEBA-B6D8-4310-AD5D-524CB63A21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140225"/>
            <a:ext cx="84912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2000"/>
              <a:t>Diretório de trabalho</a:t>
            </a:r>
            <a:endParaRPr/>
          </a:p>
        </p:txBody>
      </p:sp>
      <p:sp>
        <p:nvSpPr>
          <p:cNvPr id="855" name="Google Shape;855;p54">
            <a:extLst xmlns:a="http://schemas.openxmlformats.org/drawingml/2006/main">
              <a:ext uri="{FF2B5EF4-FFF2-40B4-BE49-F238E27FC236}">
                <a16:creationId xmlns:a16="http://schemas.microsoft.com/office/drawing/2014/main" id="{467967EB-0AC6-4B4F-B03A-24954B18AEA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891300"/>
            <a:ext cx="2778900" cy="344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sz="1400">
                <a:solidFill>
                  <a:schemeClr val="dk1"/>
                </a:solidFill>
              </a:rPr>
              <a:t>Interação com o diretório de trabalho do usuário dentro do servidor</a:t>
            </a:r>
            <a:endParaRPr sz="1400">
              <a:solidFill>
                <a:schemeClr val="dk1"/>
              </a:solidFill>
            </a:endParaRPr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sz="1400">
                <a:solidFill>
                  <a:schemeClr val="dk1"/>
                </a:solidFill>
              </a:rPr>
              <a:t>(</a:t>
            </a:r>
            <a:r>
              <a:rPr sz="1400" i="1">
                <a:solidFill>
                  <a:schemeClr val="dk1"/>
                </a:solidFill>
              </a:rPr>
              <a:t>working</a:t>
            </a:r>
            <a:r>
              <a:rPr sz="1400" i="1">
                <a:solidFill>
                  <a:schemeClr val="dk1"/>
                </a:solidFill>
              </a:rPr>
              <a:t> </a:t>
            </a:r>
            <a:r>
              <a:rPr sz="1400" i="1">
                <a:solidFill>
                  <a:schemeClr val="dk1"/>
                </a:solidFill>
              </a:rPr>
              <a:t>directory</a:t>
            </a:r>
            <a:r>
              <a:rPr sz="1400">
                <a:solidFill>
                  <a:schemeClr val="dk1"/>
                </a:solidFill>
              </a:rPr>
              <a:t>).</a:t>
            </a:r>
            <a:endParaRPr sz="1400">
              <a:solidFill>
                <a:schemeClr val="dk1"/>
              </a:solidFill>
            </a:endParaRPr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>
              <a:solidFill>
                <a:schemeClr val="dk1"/>
              </a:solidFill>
            </a:endParaRPr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sz="1400">
                <a:solidFill>
                  <a:schemeClr val="dk1"/>
                </a:solidFill>
              </a:rPr>
              <a:t>Interação com pasta onde estão armazenados os pacotes instalados.</a:t>
            </a:r>
            <a:endParaRPr sz="1400">
              <a:solidFill>
                <a:schemeClr val="dk1"/>
              </a:solidFill>
            </a:endParaRPr>
          </a:p>
        </p:txBody>
      </p:sp>
      <p:pic>
        <p:nvPicPr>
          <p:cNvPr id="859" name="Pictur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cfa39986c544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31945" y="712925"/>
            <a:ext cx="5423785" cy="403071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5399420"/>
      </p:ext>
    </p:extLst>
  </p:cSld>
</p:sld>
</file>

<file path=ppt/slides/slide6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60" name="Google Shape;860;p55">
            <a:extLst xmlns:a="http://schemas.openxmlformats.org/drawingml/2006/main">
              <a:ext uri="{FF2B5EF4-FFF2-40B4-BE49-F238E27FC236}">
                <a16:creationId xmlns:a16="http://schemas.microsoft.com/office/drawing/2014/main" id="{FA9F93F3-4CDC-47F9-AA75-4FDF291CAD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140225"/>
            <a:ext cx="84912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2000"/>
              <a:t>Pacotes para análises</a:t>
            </a:r>
            <a:endParaRPr/>
          </a:p>
        </p:txBody>
      </p:sp>
      <p:sp>
        <p:nvSpPr>
          <p:cNvPr id="862" name="Google Shape;862;p55">
            <a:extLst xmlns:a="http://schemas.openxmlformats.org/drawingml/2006/main">
              <a:ext uri="{FF2B5EF4-FFF2-40B4-BE49-F238E27FC236}">
                <a16:creationId xmlns:a16="http://schemas.microsoft.com/office/drawing/2014/main" id="{1D0D2AC9-2D37-4D45-9ABA-4E37716EDB1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891300"/>
            <a:ext cx="2778900" cy="344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sz="1400">
                <a:solidFill>
                  <a:schemeClr val="dk1"/>
                </a:solidFill>
              </a:rPr>
              <a:t>Instalação de pacotes com as funções necessárias para todos os passos das análises.</a:t>
            </a:r>
            <a:endParaRPr sz="1400">
              <a:solidFill>
                <a:schemeClr val="dk1"/>
              </a:solidFill>
            </a:endParaRPr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>
              <a:solidFill>
                <a:schemeClr val="dk1"/>
              </a:solidFill>
            </a:endParaRPr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sz="1400">
                <a:solidFill>
                  <a:schemeClr val="dk1"/>
                </a:solidFill>
              </a:rPr>
              <a:t>Repositórios:</a:t>
            </a:r>
            <a:endParaRPr sz="1400">
              <a:solidFill>
                <a:schemeClr val="dk1"/>
              </a:solidFill>
            </a:endParaRPr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>
              <a:solidFill>
                <a:schemeClr val="dk1"/>
              </a:solidFill>
            </a:endParaRPr>
          </a:p>
          <a:p xmlns:a="http://schemas.openxmlformats.org/drawingml/2006/main">
            <a:pPr marL="457200" lvl="0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sz="1400">
                <a:solidFill>
                  <a:schemeClr val="dk1"/>
                </a:solidFill>
              </a:rPr>
              <a:t>CRAN</a:t>
            </a:r>
            <a:endParaRPr sz="1400">
              <a:solidFill>
                <a:schemeClr val="dk1"/>
              </a:solidFill>
            </a:endParaRPr>
          </a:p>
          <a:p xmlns:a="http://schemas.openxmlformats.org/drawingml/2006/main">
            <a:pPr marL="45720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>
              <a:solidFill>
                <a:schemeClr val="dk1"/>
              </a:solidFill>
            </a:endParaRPr>
          </a:p>
          <a:p xmlns:a="http://schemas.openxmlformats.org/drawingml/2006/main">
            <a:pPr marL="45720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>
              <a:solidFill>
                <a:schemeClr val="dk1"/>
              </a:solidFill>
            </a:endParaRPr>
          </a:p>
          <a:p xmlns:a="http://schemas.openxmlformats.org/drawingml/2006/main">
            <a:pPr marL="45720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>
              <a:solidFill>
                <a:schemeClr val="dk1"/>
              </a:solidFill>
            </a:endParaRPr>
          </a:p>
          <a:p xmlns:a="http://schemas.openxmlformats.org/drawingml/2006/main">
            <a:pPr marL="45720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>
              <a:solidFill>
                <a:schemeClr val="dk1"/>
              </a:solidFill>
            </a:endParaRPr>
          </a:p>
          <a:p xmlns:a="http://schemas.openxmlformats.org/drawingml/2006/main">
            <a:pPr marL="45720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>
              <a:solidFill>
                <a:schemeClr val="dk1"/>
              </a:solidFill>
            </a:endParaRPr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>
              <a:solidFill>
                <a:schemeClr val="dk1"/>
              </a:solidFill>
            </a:endParaRPr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>
              <a:solidFill>
                <a:schemeClr val="dk1"/>
              </a:solidFill>
            </a:endParaRPr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>
              <a:solidFill>
                <a:schemeClr val="dk1"/>
              </a:solidFill>
            </a:endParaRPr>
          </a:p>
        </p:txBody>
      </p:sp>
      <p:pic>
        <p:nvPicPr>
          <p:cNvPr id="868" name="Google Shape;863;p5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cba8bd8c3634c6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75786" y="3099725"/>
            <a:ext cx="2257180" cy="1805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869" name="Google Shape;864;p5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78aab8e36fc4bc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75775" y="2532250"/>
            <a:ext cx="717100" cy="572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870" name="Pictur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6d3b2e7c574ba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15929" y="915581"/>
            <a:ext cx="5292661" cy="367919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9115101"/>
      </p:ext>
    </p:extLst>
  </p:cSld>
</p:sld>
</file>

<file path=ppt/slides/slide6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70" name="Google Shape;870;p56">
            <a:extLst xmlns:a="http://schemas.openxmlformats.org/drawingml/2006/main">
              <a:ext uri="{FF2B5EF4-FFF2-40B4-BE49-F238E27FC236}">
                <a16:creationId xmlns:a16="http://schemas.microsoft.com/office/drawing/2014/main" id="{6BC582D7-824A-4139-8553-09A59486DE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140225"/>
            <a:ext cx="84912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2000"/>
              <a:t>Pacotes para análises</a:t>
            </a:r>
            <a:endParaRPr/>
          </a:p>
        </p:txBody>
      </p:sp>
      <p:sp>
        <p:nvSpPr>
          <p:cNvPr id="872" name="Google Shape;872;p56">
            <a:extLst xmlns:a="http://schemas.openxmlformats.org/drawingml/2006/main">
              <a:ext uri="{FF2B5EF4-FFF2-40B4-BE49-F238E27FC236}">
                <a16:creationId xmlns:a16="http://schemas.microsoft.com/office/drawing/2014/main" id="{5FE3F317-B2E2-4270-BFFF-88CF3335C18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891300"/>
            <a:ext cx="2778900" cy="344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sz="1400">
                <a:solidFill>
                  <a:schemeClr val="dk1"/>
                </a:solidFill>
              </a:rPr>
              <a:t>Instalação de pacotes com as funções necessárias para todos os passos das análises.</a:t>
            </a:r>
            <a:endParaRPr sz="1400">
              <a:solidFill>
                <a:schemeClr val="dk1"/>
              </a:solidFill>
            </a:endParaRPr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>
              <a:solidFill>
                <a:schemeClr val="dk1"/>
              </a:solidFill>
            </a:endParaRPr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sz="1400">
                <a:solidFill>
                  <a:schemeClr val="dk1"/>
                </a:solidFill>
              </a:rPr>
              <a:t>Repositórios:</a:t>
            </a:r>
            <a:endParaRPr sz="1400">
              <a:solidFill>
                <a:schemeClr val="dk1"/>
              </a:solidFill>
            </a:endParaRPr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>
              <a:solidFill>
                <a:schemeClr val="dk1"/>
              </a:solidFill>
            </a:endParaRPr>
          </a:p>
          <a:p xmlns:a="http://schemas.openxmlformats.org/drawingml/2006/main">
            <a:pPr marL="457200" lvl="0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sz="1400">
                <a:solidFill>
                  <a:schemeClr val="dk1"/>
                </a:solidFill>
              </a:rPr>
              <a:t>Bioconductor</a:t>
            </a:r>
            <a:endParaRPr sz="1400">
              <a:solidFill>
                <a:schemeClr val="dk1"/>
              </a:solidFill>
            </a:endParaRPr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>
              <a:solidFill>
                <a:schemeClr val="dk1"/>
              </a:solidFill>
            </a:endParaRPr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>
              <a:solidFill>
                <a:schemeClr val="dk1"/>
              </a:solidFill>
            </a:endParaRPr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>
              <a:solidFill>
                <a:schemeClr val="dk1"/>
              </a:solidFill>
            </a:endParaRPr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>
              <a:solidFill>
                <a:schemeClr val="dk1"/>
              </a:solidFill>
            </a:endParaRPr>
          </a:p>
          <a:p xmlns:a="http://schemas.openxmlformats.org/drawingml/2006/main">
            <a:pPr marL="457200" lvl="0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sz="1400">
                <a:solidFill>
                  <a:schemeClr val="dk1"/>
                </a:solidFill>
              </a:rPr>
              <a:t>GitHub</a:t>
            </a:r>
            <a:endParaRPr sz="1400">
              <a:solidFill>
                <a:schemeClr val="dk1"/>
              </a:solidFill>
            </a:endParaRPr>
          </a:p>
          <a:p xmlns:a="http://schemas.openxmlformats.org/drawingml/2006/main">
            <a:pPr marL="45720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>
              <a:solidFill>
                <a:schemeClr val="dk1"/>
              </a:solidFill>
            </a:endParaRPr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>
              <a:solidFill>
                <a:schemeClr val="dk1"/>
              </a:solidFill>
            </a:endParaRPr>
          </a:p>
        </p:txBody>
      </p:sp>
      <p:pic>
        <p:nvPicPr>
          <p:cNvPr id="879" name="Google Shape;873;p5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c3274036525454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58025" y="2504250"/>
            <a:ext cx="1605079" cy="572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880" name="Google Shape;875;p5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ca389fa0bd14012">
            <a:alphaModFix/>
          </a:blip>
          <a:srcRect xmlns:a="http://schemas.openxmlformats.org/drawingml/2006/main" l="0" t="14973" r="0" b="21121"/>
          <a:stretch xmlns:a="http://schemas.openxmlformats.org/drawingml/2006/main"/>
        </p:blipFill>
        <p:spPr>
          <a:xfrm xmlns:a="http://schemas.openxmlformats.org/drawingml/2006/main">
            <a:off x="696164" y="3584219"/>
            <a:ext cx="1605075" cy="37803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881" name="Pictur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9e8a927f3c46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758339" y="561770"/>
            <a:ext cx="4824467" cy="2403789"/>
          </a:xfrm>
          <a:prstGeom xmlns:a="http://schemas.openxmlformats.org/drawingml/2006/main" prst="rect">
            <a:avLst/>
          </a:prstGeom>
        </p:spPr>
      </p:pic>
      <p:pic>
        <p:nvPicPr>
          <p:cNvPr id="882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ce46f8ac7b4a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758339" y="3072379"/>
            <a:ext cx="4824467" cy="177974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544626"/>
      </p:ext>
    </p:extLst>
  </p:cSld>
</p:sld>
</file>

<file path=ppt/slides/slide6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81" name="Google Shape;881;p57">
            <a:extLst xmlns:a="http://schemas.openxmlformats.org/drawingml/2006/main">
              <a:ext uri="{FF2B5EF4-FFF2-40B4-BE49-F238E27FC236}">
                <a16:creationId xmlns:a16="http://schemas.microsoft.com/office/drawing/2014/main" id="{D507A88F-DF4E-4DFF-9F70-32E6E67F6B8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140225"/>
            <a:ext cx="84912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sz="2000"/>
              <a:t>Instalação de R e RStudio </a:t>
            </a:r>
            <a:endParaRPr/>
          </a:p>
        </p:txBody>
      </p:sp>
      <p:sp>
        <p:nvSpPr>
          <p:cNvPr id="882" name="Google Shape;882;p57">
            <a:extLst xmlns:a="http://schemas.openxmlformats.org/drawingml/2006/main">
              <a:ext uri="{FF2B5EF4-FFF2-40B4-BE49-F238E27FC236}">
                <a16:creationId xmlns:a16="http://schemas.microsoft.com/office/drawing/2014/main" id="{4C856AE2-811D-4ADE-AEAD-0E90A014213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35400" y="1015125"/>
            <a:ext cx="3136500" cy="344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sz="1400">
                <a:solidFill>
                  <a:schemeClr val="dk1"/>
                </a:solidFill>
              </a:rPr>
              <a:t>Diversos tutoriais disponíveis para a </a:t>
            </a:r>
            <a:r>
              <a:rPr sz="1400" b="1">
                <a:solidFill>
                  <a:schemeClr val="dk1"/>
                </a:solidFill>
              </a:rPr>
              <a:t>primeiros passos com R e RStudio</a:t>
            </a:r>
            <a:r>
              <a:rPr sz="1400">
                <a:solidFill>
                  <a:schemeClr val="dk1"/>
                </a:solidFill>
              </a:rPr>
              <a:t>.</a:t>
            </a:r>
            <a:endParaRPr sz="1400">
              <a:solidFill>
                <a:schemeClr val="dk1"/>
              </a:solidFill>
            </a:endParaRPr>
          </a:p>
          <a:p xmlns:a="http://schemas.openxmlformats.org/drawingml/2006/main">
            <a:pPr marL="45720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>
              <a:solidFill>
                <a:schemeClr val="dk1"/>
              </a:solidFill>
            </a:endParaRPr>
          </a:p>
        </p:txBody>
      </p:sp>
      <p:sp>
        <p:nvSpPr>
          <p:cNvPr id="883" name="Google Shape;883;p57">
            <a:extLst xmlns:a="http://schemas.openxmlformats.org/drawingml/2006/main">
              <a:ext uri="{FF2B5EF4-FFF2-40B4-BE49-F238E27FC236}">
                <a16:creationId xmlns:a16="http://schemas.microsoft.com/office/drawing/2014/main" id="{ECD2CDC0-407A-450C-BC41-CF663BF74EF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0" y="1015125"/>
            <a:ext cx="3467100" cy="344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sz="1400">
                <a:solidFill>
                  <a:schemeClr val="dk1"/>
                </a:solidFill>
              </a:rPr>
              <a:t>Recomendação: </a:t>
            </a:r>
            <a:endParaRPr sz="1400">
              <a:solidFill>
                <a:schemeClr val="dk1"/>
              </a:solidFill>
            </a:endParaRPr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sz="1400">
                <a:solidFill>
                  <a:schemeClr val="dk1"/>
                </a:solidFill>
              </a:rPr>
              <a:t>Isolar análises em projetos específicos, cada um com o seu conjunto de pacotes.</a:t>
            </a:r>
            <a:endParaRPr sz="1400">
              <a:solidFill>
                <a:schemeClr val="dk1"/>
              </a:solidFill>
            </a:endParaRPr>
          </a:p>
          <a:p xmlns:a="http://schemas.openxmlformats.org/drawingml/2006/main">
            <a:pPr marL="457200" lvl="0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sz="1400">
                <a:solidFill>
                  <a:schemeClr val="dk1"/>
                </a:solidFill>
              </a:rPr>
              <a:t>Evita </a:t>
            </a:r>
            <a:r>
              <a:rPr sz="1400" b="1">
                <a:solidFill>
                  <a:schemeClr val="dk1"/>
                </a:solidFill>
              </a:rPr>
              <a:t>incompatibilidade entre versões</a:t>
            </a:r>
            <a:r>
              <a:rPr sz="1400">
                <a:solidFill>
                  <a:schemeClr val="dk1"/>
                </a:solidFill>
              </a:rPr>
              <a:t> de pacotes</a:t>
            </a:r>
            <a:endParaRPr sz="1400">
              <a:solidFill>
                <a:schemeClr val="dk1"/>
              </a:solidFill>
            </a:endParaRPr>
          </a:p>
          <a:p xmlns:a="http://schemas.openxmlformats.org/drawingml/2006/main">
            <a:pPr marL="457200" lvl="0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sz="1400">
                <a:solidFill>
                  <a:schemeClr val="dk1"/>
                </a:solidFill>
              </a:rPr>
              <a:t>Garante </a:t>
            </a:r>
            <a:r>
              <a:rPr sz="1400" b="1">
                <a:solidFill>
                  <a:schemeClr val="dk1"/>
                </a:solidFill>
              </a:rPr>
              <a:t>reprodutibilidade</a:t>
            </a:r>
            <a:r>
              <a:rPr sz="1400">
                <a:solidFill>
                  <a:schemeClr val="dk1"/>
                </a:solidFill>
              </a:rPr>
              <a:t> dos resultados.</a:t>
            </a:r>
            <a:endParaRPr sz="1400">
              <a:solidFill>
                <a:schemeClr val="dk1"/>
              </a:solidFill>
            </a:endParaRPr>
          </a:p>
          <a:p xmlns:a="http://schemas.openxmlformats.org/drawingml/2006/main">
            <a:pPr marL="45720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>
              <a:solidFill>
                <a:schemeClr val="dk1"/>
              </a:solidFill>
            </a:endParaRPr>
          </a:p>
        </p:txBody>
      </p:sp>
      <p:pic>
        <p:nvPicPr>
          <p:cNvPr id="894" name="Google Shape;884;p5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2c363988c504ce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35400" y="2155650"/>
            <a:ext cx="681025" cy="654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895" name="Google Shape;885;p5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2c363988c504ce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572000" y="2984325"/>
            <a:ext cx="681025" cy="654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86" name="Google Shape;886;p57">
            <a:extLst xmlns:a="http://schemas.openxmlformats.org/drawingml/2006/main">
              <a:ext uri="{FF2B5EF4-FFF2-40B4-BE49-F238E27FC236}">
                <a16:creationId xmlns:a16="http://schemas.microsoft.com/office/drawing/2014/main" id="{4348F522-9897-4E15-A33A-2445F336F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6425" y="2079400"/>
            <a:ext cx="2531700" cy="120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</a:rPr>
              <a:t>Dataquest</a:t>
            </a:r>
            <a:r>
              <a:rPr sz="1100" b="1" i="0" u="non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</a:rPr>
              <a:t> 2020. </a:t>
            </a:r>
            <a:endParaRPr sz="1100" b="1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</a:rPr>
              <a:t>Tutorial: </a:t>
            </a:r>
            <a:r>
              <a:rPr sz="1100" b="1" i="0" u="non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</a:rPr>
              <a:t>Getting</a:t>
            </a:r>
            <a:r>
              <a:rPr sz="1100" b="1" i="0" u="non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</a:rPr>
              <a:t> </a:t>
            </a:r>
            <a:r>
              <a:rPr sz="1100" b="1" i="0" u="non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</a:rPr>
              <a:t>Started</a:t>
            </a:r>
            <a:r>
              <a:rPr sz="1100" b="1" i="0" u="non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</a:rPr>
              <a:t> </a:t>
            </a:r>
            <a:r>
              <a:rPr sz="1100" b="1" i="0" u="non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</a:rPr>
              <a:t>with</a:t>
            </a:r>
            <a:r>
              <a:rPr sz="1100" b="1" i="0" u="non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</a:rPr>
              <a:t> R </a:t>
            </a:r>
            <a:r>
              <a:rPr sz="1100" b="1" i="0" u="non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</a:rPr>
              <a:t>and</a:t>
            </a:r>
            <a:r>
              <a:rPr sz="1100" b="1" i="0" u="non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</a:rPr>
              <a:t> </a:t>
            </a:r>
            <a:r>
              <a:rPr sz="1100" b="1" i="0" u="non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</a:rPr>
              <a:t>RStudio</a:t>
            </a:r>
            <a:r>
              <a:rPr sz="1100" b="1" i="0" u="non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</a:rPr>
              <a:t> </a:t>
            </a:r>
            <a:endParaRPr sz="1100" b="1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</a:rPr>
              <a:t>https://www.dataquest.io/blog/tutorial-getting-started-with-r-and-rstudio/</a:t>
            </a:r>
            <a:endParaRPr sz="1100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887" name="Google Shape;887;p57">
            <a:extLst xmlns:a="http://schemas.openxmlformats.org/drawingml/2006/main">
              <a:ext uri="{FF2B5EF4-FFF2-40B4-BE49-F238E27FC236}">
                <a16:creationId xmlns:a16="http://schemas.microsoft.com/office/drawing/2014/main" id="{A776C6ED-8A4A-42EC-8A92-A34DFCA21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025" y="2927175"/>
            <a:ext cx="2414700" cy="861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</a:rPr>
              <a:t>Introduction to renv v1.1.4</a:t>
            </a:r>
            <a:endParaRPr sz="1100" b="1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</a:rPr>
              <a:t>https://rstudio.github.io/renv/articles/renv.html</a:t>
            </a:r>
            <a:endParaRPr sz="1100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888" name="Google Shape;888;p57">
            <a:extLst xmlns:a="http://schemas.openxmlformats.org/drawingml/2006/main">
              <a:ext uri="{FF2B5EF4-FFF2-40B4-BE49-F238E27FC236}">
                <a16:creationId xmlns:a16="http://schemas.microsoft.com/office/drawing/2014/main" id="{EBB96E06-5A13-4842-93F8-FE3FD2897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6413" y="3146200"/>
            <a:ext cx="2531700" cy="103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</a:rPr>
              <a:t>Datacamp 2025. </a:t>
            </a:r>
            <a:endParaRPr sz="1100" b="1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</a:rPr>
              <a:t>RStudio Tutorial</a:t>
            </a:r>
            <a:endParaRPr sz="1100" b="1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sz="1100" b="0" i="0" u="non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</a:rPr>
              <a:t>https://www.datacamp.com/tutorial/r-studio-tutorial</a:t>
            </a:r>
            <a:endParaRPr sz="1100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cap="none">
              <a:solidFill>
                <a:srgbClr val="000000"/>
              </a:solidFill>
              <a:latin typeface="Proxima Nova"/>
              <a:ea typeface="Proxima Nova"/>
              <a:cs typeface="Proxima Nova"/>
            </a:endParaRPr>
          </a:p>
        </p:txBody>
      </p:sp>
    </p:spTree>
    <p:extLst>
      <p:ext uri="{BB962C8B-B14F-4D97-AF65-F5344CB8AC3E}">
        <p14:creationId xmlns:p14="http://schemas.microsoft.com/office/powerpoint/2010/main" val="2043477282"/>
      </p:ext>
    </p:extLst>
  </p:cSld>
</p:sld>
</file>

<file path=ppt/slides/slide6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93" name="Google Shape;893;p58">
            <a:extLst xmlns:a="http://schemas.openxmlformats.org/drawingml/2006/main">
              <a:ext uri="{FF2B5EF4-FFF2-40B4-BE49-F238E27FC236}">
                <a16:creationId xmlns:a16="http://schemas.microsoft.com/office/drawing/2014/main" id="{24F69391-1CE4-43C6-8D0A-0556B3F1EF9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0250" y="526350"/>
            <a:ext cx="5797500" cy="40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t>Até a próxima aula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20514940"/>
      </p:ext>
    </p:extLst>
  </p:cSld>
</p:sld>
</file>

<file path=ppt/theme/theme1.xml><?xml version="1.0" encoding="utf-8"?>
<a:theme xmlns:a="http://schemas.openxmlformats.org/drawingml/2006/main" name="Spearmint">
  <a:themeElements>
    <a:clrScheme name="Spearmint">
      <a:dk1>
        <a:srgbClr val="202729"/>
      </a:dk1>
      <a:lt1>
        <a:srgbClr val="FFFFFF"/>
      </a:lt1>
      <a:dk2>
        <a:srgbClr val="4BA173"/>
      </a:dk2>
      <a:lt2>
        <a:srgbClr val="63D297"/>
      </a:lt2>
      <a:accent1>
        <a:srgbClr val="353744"/>
      </a:accent1>
      <a:accent2>
        <a:srgbClr val="424242"/>
      </a:accent2>
      <a:accent3>
        <a:srgbClr val="616161"/>
      </a:accent3>
      <a:accent4>
        <a:srgbClr val="999999"/>
      </a:accent4>
      <a:accent5>
        <a:srgbClr val="FF5252"/>
      </a:accent5>
      <a:accent6>
        <a:srgbClr val="FFF176"/>
      </a:accent6>
      <a:hlink>
        <a:srgbClr val="FF5252"/>
      </a:hlink>
      <a:folHlink>
        <a:srgbClr val="FF525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pearmin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2026-09-07T20:23:44.1590000Z</dcterms:created>
  <dcterms:modified xsi:type="dcterms:W3CDTF">2026-09-07T20:23:44.1590000Z</dcterms:modified>
</coreProperties>
</file>